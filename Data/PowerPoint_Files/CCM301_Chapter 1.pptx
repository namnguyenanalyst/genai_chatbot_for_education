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7" r:id="rId1"/>
  </p:sldMasterIdLst>
  <p:notesMasterIdLst>
    <p:notesMasterId r:id="rId59"/>
  </p:notesMasterIdLst>
  <p:handoutMasterIdLst>
    <p:handoutMasterId r:id="rId60"/>
  </p:handoutMasterIdLst>
  <p:sldIdLst>
    <p:sldId id="333" r:id="rId2"/>
    <p:sldId id="334" r:id="rId3"/>
    <p:sldId id="335" r:id="rId4"/>
    <p:sldId id="336" r:id="rId5"/>
    <p:sldId id="256" r:id="rId6"/>
    <p:sldId id="376" r:id="rId7"/>
    <p:sldId id="315" r:id="rId8"/>
    <p:sldId id="317" r:id="rId9"/>
    <p:sldId id="318" r:id="rId10"/>
    <p:sldId id="319" r:id="rId11"/>
    <p:sldId id="339" r:id="rId12"/>
    <p:sldId id="340" r:id="rId13"/>
    <p:sldId id="321" r:id="rId14"/>
    <p:sldId id="341" r:id="rId15"/>
    <p:sldId id="342" r:id="rId16"/>
    <p:sldId id="343" r:id="rId17"/>
    <p:sldId id="344" r:id="rId18"/>
    <p:sldId id="372" r:id="rId19"/>
    <p:sldId id="325" r:id="rId20"/>
    <p:sldId id="345" r:id="rId21"/>
    <p:sldId id="346" r:id="rId22"/>
    <p:sldId id="347" r:id="rId23"/>
    <p:sldId id="348" r:id="rId24"/>
    <p:sldId id="349" r:id="rId25"/>
    <p:sldId id="350" r:id="rId26"/>
    <p:sldId id="273" r:id="rId27"/>
    <p:sldId id="351" r:id="rId28"/>
    <p:sldId id="353" r:id="rId29"/>
    <p:sldId id="354" r:id="rId30"/>
    <p:sldId id="355" r:id="rId31"/>
    <p:sldId id="356" r:id="rId32"/>
    <p:sldId id="357" r:id="rId33"/>
    <p:sldId id="358" r:id="rId34"/>
    <p:sldId id="359" r:id="rId35"/>
    <p:sldId id="279" r:id="rId36"/>
    <p:sldId id="371" r:id="rId37"/>
    <p:sldId id="293" r:id="rId38"/>
    <p:sldId id="360" r:id="rId39"/>
    <p:sldId id="361" r:id="rId40"/>
    <p:sldId id="362" r:id="rId41"/>
    <p:sldId id="363" r:id="rId42"/>
    <p:sldId id="364" r:id="rId43"/>
    <p:sldId id="365" r:id="rId44"/>
    <p:sldId id="366" r:id="rId45"/>
    <p:sldId id="367" r:id="rId46"/>
    <p:sldId id="368" r:id="rId47"/>
    <p:sldId id="369" r:id="rId48"/>
    <p:sldId id="370" r:id="rId49"/>
    <p:sldId id="308" r:id="rId50"/>
    <p:sldId id="373" r:id="rId51"/>
    <p:sldId id="313" r:id="rId52"/>
    <p:sldId id="374" r:id="rId53"/>
    <p:sldId id="310" r:id="rId54"/>
    <p:sldId id="377" r:id="rId55"/>
    <p:sldId id="378" r:id="rId56"/>
    <p:sldId id="311" r:id="rId57"/>
    <p:sldId id="375"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9" autoAdjust="0"/>
    <p:restoredTop sz="83805" autoAdjust="0"/>
  </p:normalViewPr>
  <p:slideViewPr>
    <p:cSldViewPr snapToGrid="0">
      <p:cViewPr varScale="1">
        <p:scale>
          <a:sx n="70" d="100"/>
          <a:sy n="70" d="100"/>
        </p:scale>
        <p:origin x="1003" y="38"/>
      </p:cViewPr>
      <p:guideLst/>
    </p:cSldViewPr>
  </p:slideViewPr>
  <p:notesTextViewPr>
    <p:cViewPr>
      <p:scale>
        <a:sx n="1" d="1"/>
        <a:sy n="1" d="1"/>
      </p:scale>
      <p:origin x="0" y="0"/>
    </p:cViewPr>
  </p:notesTextViewPr>
  <p:notesViewPr>
    <p:cSldViewPr snapToGrid="0">
      <p:cViewPr varScale="1">
        <p:scale>
          <a:sx n="64" d="100"/>
          <a:sy n="64" d="100"/>
        </p:scale>
        <p:origin x="3115"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8A0EFA-32ED-C44A-91CB-65CC17A39384}" type="doc">
      <dgm:prSet loTypeId="urn:microsoft.com/office/officeart/2005/8/layout/orgChart1" loCatId="hierarchy" qsTypeId="urn:microsoft.com/office/officeart/2005/8/quickstyle/simple1" qsCatId="simple" csTypeId="urn:microsoft.com/office/officeart/2005/8/colors/accent1_1" csCatId="accent1" phldr="1"/>
      <dgm:spPr/>
      <dgm:t>
        <a:bodyPr/>
        <a:lstStyle/>
        <a:p>
          <a:endParaRPr lang="en-US"/>
        </a:p>
      </dgm:t>
    </dgm:pt>
    <dgm:pt modelId="{83AA56B5-8CBA-5F46-B345-8D977A5D14A5}">
      <dgm:prSet custT="1"/>
      <dgm:spPr>
        <a:ln w="38100">
          <a:noFill/>
        </a:ln>
      </dgm:spPr>
      <dgm:t>
        <a:bodyPr/>
        <a:lstStyle/>
        <a:p>
          <a:r>
            <a:rPr lang="en-US" sz="2800" dirty="0" smtClean="0"/>
            <a:t>2 </a:t>
          </a:r>
          <a:r>
            <a:rPr lang="en-US" sz="2800" dirty="0" err="1" smtClean="0"/>
            <a:t>substages</a:t>
          </a:r>
          <a:endParaRPr lang="en-VN" sz="2800" dirty="0"/>
        </a:p>
      </dgm:t>
    </dgm:pt>
    <dgm:pt modelId="{064001A8-FF05-E346-BBA2-BFE5F45B3B0A}" type="parTrans" cxnId="{77E2CC85-8A31-BA48-A6F0-156E2D21999F}">
      <dgm:prSet/>
      <dgm:spPr/>
      <dgm:t>
        <a:bodyPr/>
        <a:lstStyle/>
        <a:p>
          <a:endParaRPr lang="en-US" sz="2800"/>
        </a:p>
      </dgm:t>
    </dgm:pt>
    <dgm:pt modelId="{255081D4-FE89-D742-97B4-641975C550EB}" type="sibTrans" cxnId="{77E2CC85-8A31-BA48-A6F0-156E2D21999F}">
      <dgm:prSet/>
      <dgm:spPr/>
      <dgm:t>
        <a:bodyPr/>
        <a:lstStyle/>
        <a:p>
          <a:endParaRPr lang="en-US" sz="2800"/>
        </a:p>
      </dgm:t>
    </dgm:pt>
    <dgm:pt modelId="{F0B2F7AB-A620-374B-AE05-114ECBCEA627}">
      <dgm:prSet custT="1"/>
      <dgm:spPr>
        <a:ln w="38100">
          <a:solidFill>
            <a:schemeClr val="accent1">
              <a:lumMod val="75000"/>
            </a:schemeClr>
          </a:solidFill>
        </a:ln>
      </dgm:spPr>
      <dgm:t>
        <a:bodyPr/>
        <a:lstStyle/>
        <a:p>
          <a:r>
            <a:rPr lang="en-US" sz="2800" dirty="0"/>
            <a:t>(1) crisis </a:t>
          </a:r>
          <a:r>
            <a:rPr lang="en-US" sz="2800" dirty="0" smtClean="0"/>
            <a:t>recognition</a:t>
          </a:r>
          <a:endParaRPr lang="en-VN" sz="2800" dirty="0"/>
        </a:p>
      </dgm:t>
    </dgm:pt>
    <dgm:pt modelId="{3104FC5A-67D8-D444-A02F-646BF11A417D}" type="parTrans" cxnId="{FC7E2DEF-456B-3947-9B7C-3FE457933CEE}">
      <dgm:prSet/>
      <dgm:spPr/>
      <dgm:t>
        <a:bodyPr/>
        <a:lstStyle/>
        <a:p>
          <a:endParaRPr lang="en-US" sz="2800"/>
        </a:p>
      </dgm:t>
    </dgm:pt>
    <dgm:pt modelId="{1E2B7462-2441-4B41-BCB4-48BD497FAE88}" type="sibTrans" cxnId="{FC7E2DEF-456B-3947-9B7C-3FE457933CEE}">
      <dgm:prSet/>
      <dgm:spPr/>
      <dgm:t>
        <a:bodyPr/>
        <a:lstStyle/>
        <a:p>
          <a:endParaRPr lang="en-US" sz="2800"/>
        </a:p>
      </dgm:t>
    </dgm:pt>
    <dgm:pt modelId="{738CC4DD-E304-9A4D-9AD7-76C3580BF034}">
      <dgm:prSet custT="1"/>
      <dgm:spPr>
        <a:ln w="38100">
          <a:solidFill>
            <a:schemeClr val="accent1">
              <a:lumMod val="75000"/>
            </a:schemeClr>
          </a:solidFill>
        </a:ln>
      </dgm:spPr>
      <dgm:t>
        <a:bodyPr/>
        <a:lstStyle/>
        <a:p>
          <a:r>
            <a:rPr lang="en-US" sz="2800" dirty="0"/>
            <a:t>(2) crisis </a:t>
          </a:r>
          <a:r>
            <a:rPr lang="en-US" sz="2800" dirty="0" smtClean="0"/>
            <a:t>containment</a:t>
          </a:r>
          <a:endParaRPr lang="en-VN" sz="2800" dirty="0"/>
        </a:p>
      </dgm:t>
    </dgm:pt>
    <dgm:pt modelId="{103E4873-EC99-A54F-822B-2595B3AAE1D2}" type="parTrans" cxnId="{9DC01E56-1699-7143-8AF2-E948B59060AB}">
      <dgm:prSet/>
      <dgm:spPr/>
      <dgm:t>
        <a:bodyPr/>
        <a:lstStyle/>
        <a:p>
          <a:endParaRPr lang="en-US" sz="2800"/>
        </a:p>
      </dgm:t>
    </dgm:pt>
    <dgm:pt modelId="{8407A907-D01F-034E-B567-6B296A2107E2}" type="sibTrans" cxnId="{9DC01E56-1699-7143-8AF2-E948B59060AB}">
      <dgm:prSet/>
      <dgm:spPr/>
      <dgm:t>
        <a:bodyPr/>
        <a:lstStyle/>
        <a:p>
          <a:endParaRPr lang="en-US" sz="2800"/>
        </a:p>
      </dgm:t>
    </dgm:pt>
    <dgm:pt modelId="{76F2354E-0BF2-E849-A637-626DE9FBEA25}" type="pres">
      <dgm:prSet presAssocID="{658A0EFA-32ED-C44A-91CB-65CC17A39384}" presName="hierChild1" presStyleCnt="0">
        <dgm:presLayoutVars>
          <dgm:orgChart val="1"/>
          <dgm:chPref val="1"/>
          <dgm:dir/>
          <dgm:animOne val="branch"/>
          <dgm:animLvl val="lvl"/>
          <dgm:resizeHandles/>
        </dgm:presLayoutVars>
      </dgm:prSet>
      <dgm:spPr/>
      <dgm:t>
        <a:bodyPr/>
        <a:lstStyle/>
        <a:p>
          <a:endParaRPr lang="en-US"/>
        </a:p>
      </dgm:t>
    </dgm:pt>
    <dgm:pt modelId="{5AB28DB1-580A-DE4F-B9C0-EC3AA82C3EB9}" type="pres">
      <dgm:prSet presAssocID="{83AA56B5-8CBA-5F46-B345-8D977A5D14A5}" presName="hierRoot1" presStyleCnt="0">
        <dgm:presLayoutVars>
          <dgm:hierBranch val="init"/>
        </dgm:presLayoutVars>
      </dgm:prSet>
      <dgm:spPr/>
      <dgm:t>
        <a:bodyPr/>
        <a:lstStyle/>
        <a:p>
          <a:endParaRPr lang="en-US"/>
        </a:p>
      </dgm:t>
    </dgm:pt>
    <dgm:pt modelId="{631ABC4B-3D8D-2A41-88F6-F39E0B999BDD}" type="pres">
      <dgm:prSet presAssocID="{83AA56B5-8CBA-5F46-B345-8D977A5D14A5}" presName="rootComposite1" presStyleCnt="0"/>
      <dgm:spPr/>
      <dgm:t>
        <a:bodyPr/>
        <a:lstStyle/>
        <a:p>
          <a:endParaRPr lang="en-US"/>
        </a:p>
      </dgm:t>
    </dgm:pt>
    <dgm:pt modelId="{C67D5246-99A3-704A-A132-B7CD97F4A6AE}" type="pres">
      <dgm:prSet presAssocID="{83AA56B5-8CBA-5F46-B345-8D977A5D14A5}" presName="rootText1" presStyleLbl="node0" presStyleIdx="0" presStyleCnt="1" custScaleX="123584">
        <dgm:presLayoutVars>
          <dgm:chPref val="3"/>
        </dgm:presLayoutVars>
      </dgm:prSet>
      <dgm:spPr/>
      <dgm:t>
        <a:bodyPr/>
        <a:lstStyle/>
        <a:p>
          <a:endParaRPr lang="en-US"/>
        </a:p>
      </dgm:t>
    </dgm:pt>
    <dgm:pt modelId="{94980B3A-F50A-554C-BFD6-BEB24383B098}" type="pres">
      <dgm:prSet presAssocID="{83AA56B5-8CBA-5F46-B345-8D977A5D14A5}" presName="rootConnector1" presStyleLbl="node1" presStyleIdx="0" presStyleCnt="0"/>
      <dgm:spPr/>
      <dgm:t>
        <a:bodyPr/>
        <a:lstStyle/>
        <a:p>
          <a:endParaRPr lang="en-US"/>
        </a:p>
      </dgm:t>
    </dgm:pt>
    <dgm:pt modelId="{4D318C08-4E09-1146-9AFA-4FC6DD4C9566}" type="pres">
      <dgm:prSet presAssocID="{83AA56B5-8CBA-5F46-B345-8D977A5D14A5}" presName="hierChild2" presStyleCnt="0"/>
      <dgm:spPr/>
      <dgm:t>
        <a:bodyPr/>
        <a:lstStyle/>
        <a:p>
          <a:endParaRPr lang="en-US"/>
        </a:p>
      </dgm:t>
    </dgm:pt>
    <dgm:pt modelId="{34B37752-7E79-EC43-810D-389E9D590675}" type="pres">
      <dgm:prSet presAssocID="{3104FC5A-67D8-D444-A02F-646BF11A417D}" presName="Name37" presStyleLbl="parChTrans1D2" presStyleIdx="0" presStyleCnt="2"/>
      <dgm:spPr/>
      <dgm:t>
        <a:bodyPr/>
        <a:lstStyle/>
        <a:p>
          <a:endParaRPr lang="en-US"/>
        </a:p>
      </dgm:t>
    </dgm:pt>
    <dgm:pt modelId="{4B0AC289-81D0-B547-AFDC-8FB598F11D52}" type="pres">
      <dgm:prSet presAssocID="{F0B2F7AB-A620-374B-AE05-114ECBCEA627}" presName="hierRoot2" presStyleCnt="0">
        <dgm:presLayoutVars>
          <dgm:hierBranch val="init"/>
        </dgm:presLayoutVars>
      </dgm:prSet>
      <dgm:spPr/>
      <dgm:t>
        <a:bodyPr/>
        <a:lstStyle/>
        <a:p>
          <a:endParaRPr lang="en-US"/>
        </a:p>
      </dgm:t>
    </dgm:pt>
    <dgm:pt modelId="{E559F7D6-6860-514D-9CED-2C4B21E312C2}" type="pres">
      <dgm:prSet presAssocID="{F0B2F7AB-A620-374B-AE05-114ECBCEA627}" presName="rootComposite" presStyleCnt="0"/>
      <dgm:spPr/>
      <dgm:t>
        <a:bodyPr/>
        <a:lstStyle/>
        <a:p>
          <a:endParaRPr lang="en-US"/>
        </a:p>
      </dgm:t>
    </dgm:pt>
    <dgm:pt modelId="{3DBA7B19-2080-9A44-8B2C-D6634C71E54E}" type="pres">
      <dgm:prSet presAssocID="{F0B2F7AB-A620-374B-AE05-114ECBCEA627}" presName="rootText" presStyleLbl="node2" presStyleIdx="0" presStyleCnt="2" custScaleX="219830">
        <dgm:presLayoutVars>
          <dgm:chPref val="3"/>
        </dgm:presLayoutVars>
      </dgm:prSet>
      <dgm:spPr/>
      <dgm:t>
        <a:bodyPr/>
        <a:lstStyle/>
        <a:p>
          <a:endParaRPr lang="en-US"/>
        </a:p>
      </dgm:t>
    </dgm:pt>
    <dgm:pt modelId="{87A086C4-28F6-3246-826A-B2AE5D6D2463}" type="pres">
      <dgm:prSet presAssocID="{F0B2F7AB-A620-374B-AE05-114ECBCEA627}" presName="rootConnector" presStyleLbl="node2" presStyleIdx="0" presStyleCnt="2"/>
      <dgm:spPr/>
      <dgm:t>
        <a:bodyPr/>
        <a:lstStyle/>
        <a:p>
          <a:endParaRPr lang="en-US"/>
        </a:p>
      </dgm:t>
    </dgm:pt>
    <dgm:pt modelId="{AE3115AE-F419-5643-B48D-8BA57411545E}" type="pres">
      <dgm:prSet presAssocID="{F0B2F7AB-A620-374B-AE05-114ECBCEA627}" presName="hierChild4" presStyleCnt="0"/>
      <dgm:spPr/>
      <dgm:t>
        <a:bodyPr/>
        <a:lstStyle/>
        <a:p>
          <a:endParaRPr lang="en-US"/>
        </a:p>
      </dgm:t>
    </dgm:pt>
    <dgm:pt modelId="{8AE04C1E-AB69-A349-A9A0-68BB8903CCD2}" type="pres">
      <dgm:prSet presAssocID="{F0B2F7AB-A620-374B-AE05-114ECBCEA627}" presName="hierChild5" presStyleCnt="0"/>
      <dgm:spPr/>
      <dgm:t>
        <a:bodyPr/>
        <a:lstStyle/>
        <a:p>
          <a:endParaRPr lang="en-US"/>
        </a:p>
      </dgm:t>
    </dgm:pt>
    <dgm:pt modelId="{5F8786B5-2097-4E46-B51B-0C03FFE83A9C}" type="pres">
      <dgm:prSet presAssocID="{103E4873-EC99-A54F-822B-2595B3AAE1D2}" presName="Name37" presStyleLbl="parChTrans1D2" presStyleIdx="1" presStyleCnt="2"/>
      <dgm:spPr/>
      <dgm:t>
        <a:bodyPr/>
        <a:lstStyle/>
        <a:p>
          <a:endParaRPr lang="en-US"/>
        </a:p>
      </dgm:t>
    </dgm:pt>
    <dgm:pt modelId="{AA0FD937-2828-1C40-8F85-F5E298396038}" type="pres">
      <dgm:prSet presAssocID="{738CC4DD-E304-9A4D-9AD7-76C3580BF034}" presName="hierRoot2" presStyleCnt="0">
        <dgm:presLayoutVars>
          <dgm:hierBranch val="init"/>
        </dgm:presLayoutVars>
      </dgm:prSet>
      <dgm:spPr/>
      <dgm:t>
        <a:bodyPr/>
        <a:lstStyle/>
        <a:p>
          <a:endParaRPr lang="en-US"/>
        </a:p>
      </dgm:t>
    </dgm:pt>
    <dgm:pt modelId="{7FF642DC-C000-184D-B6BB-B15CC271879D}" type="pres">
      <dgm:prSet presAssocID="{738CC4DD-E304-9A4D-9AD7-76C3580BF034}" presName="rootComposite" presStyleCnt="0"/>
      <dgm:spPr/>
      <dgm:t>
        <a:bodyPr/>
        <a:lstStyle/>
        <a:p>
          <a:endParaRPr lang="en-US"/>
        </a:p>
      </dgm:t>
    </dgm:pt>
    <dgm:pt modelId="{2A35C4B1-889D-2B49-B400-3F7F371CB55F}" type="pres">
      <dgm:prSet presAssocID="{738CC4DD-E304-9A4D-9AD7-76C3580BF034}" presName="rootText" presStyleLbl="node2" presStyleIdx="1" presStyleCnt="2" custScaleX="228053">
        <dgm:presLayoutVars>
          <dgm:chPref val="3"/>
        </dgm:presLayoutVars>
      </dgm:prSet>
      <dgm:spPr/>
      <dgm:t>
        <a:bodyPr/>
        <a:lstStyle/>
        <a:p>
          <a:endParaRPr lang="en-US"/>
        </a:p>
      </dgm:t>
    </dgm:pt>
    <dgm:pt modelId="{BC486CD9-D51A-4E46-AA1D-390E5382941C}" type="pres">
      <dgm:prSet presAssocID="{738CC4DD-E304-9A4D-9AD7-76C3580BF034}" presName="rootConnector" presStyleLbl="node2" presStyleIdx="1" presStyleCnt="2"/>
      <dgm:spPr/>
      <dgm:t>
        <a:bodyPr/>
        <a:lstStyle/>
        <a:p>
          <a:endParaRPr lang="en-US"/>
        </a:p>
      </dgm:t>
    </dgm:pt>
    <dgm:pt modelId="{C682E821-047F-234F-8EA7-111E29D337CF}" type="pres">
      <dgm:prSet presAssocID="{738CC4DD-E304-9A4D-9AD7-76C3580BF034}" presName="hierChild4" presStyleCnt="0"/>
      <dgm:spPr/>
      <dgm:t>
        <a:bodyPr/>
        <a:lstStyle/>
        <a:p>
          <a:endParaRPr lang="en-US"/>
        </a:p>
      </dgm:t>
    </dgm:pt>
    <dgm:pt modelId="{233C6B67-AF6C-D443-8979-7295FE32A26A}" type="pres">
      <dgm:prSet presAssocID="{738CC4DD-E304-9A4D-9AD7-76C3580BF034}" presName="hierChild5" presStyleCnt="0"/>
      <dgm:spPr/>
      <dgm:t>
        <a:bodyPr/>
        <a:lstStyle/>
        <a:p>
          <a:endParaRPr lang="en-US"/>
        </a:p>
      </dgm:t>
    </dgm:pt>
    <dgm:pt modelId="{2AE226C6-58A7-A746-A3AC-478F7BD47846}" type="pres">
      <dgm:prSet presAssocID="{83AA56B5-8CBA-5F46-B345-8D977A5D14A5}" presName="hierChild3" presStyleCnt="0"/>
      <dgm:spPr/>
      <dgm:t>
        <a:bodyPr/>
        <a:lstStyle/>
        <a:p>
          <a:endParaRPr lang="en-US"/>
        </a:p>
      </dgm:t>
    </dgm:pt>
  </dgm:ptLst>
  <dgm:cxnLst>
    <dgm:cxn modelId="{A22B7BFE-549F-414C-9CAF-12C3F061B038}" type="presOf" srcId="{3104FC5A-67D8-D444-A02F-646BF11A417D}" destId="{34B37752-7E79-EC43-810D-389E9D590675}" srcOrd="0" destOrd="0" presId="urn:microsoft.com/office/officeart/2005/8/layout/orgChart1"/>
    <dgm:cxn modelId="{9DC01E56-1699-7143-8AF2-E948B59060AB}" srcId="{83AA56B5-8CBA-5F46-B345-8D977A5D14A5}" destId="{738CC4DD-E304-9A4D-9AD7-76C3580BF034}" srcOrd="1" destOrd="0" parTransId="{103E4873-EC99-A54F-822B-2595B3AAE1D2}" sibTransId="{8407A907-D01F-034E-B567-6B296A2107E2}"/>
    <dgm:cxn modelId="{8A748FA5-8DEA-A246-B92C-CC981A0DDB98}" type="presOf" srcId="{F0B2F7AB-A620-374B-AE05-114ECBCEA627}" destId="{87A086C4-28F6-3246-826A-B2AE5D6D2463}" srcOrd="1" destOrd="0" presId="urn:microsoft.com/office/officeart/2005/8/layout/orgChart1"/>
    <dgm:cxn modelId="{FC7E2DEF-456B-3947-9B7C-3FE457933CEE}" srcId="{83AA56B5-8CBA-5F46-B345-8D977A5D14A5}" destId="{F0B2F7AB-A620-374B-AE05-114ECBCEA627}" srcOrd="0" destOrd="0" parTransId="{3104FC5A-67D8-D444-A02F-646BF11A417D}" sibTransId="{1E2B7462-2441-4B41-BCB4-48BD497FAE88}"/>
    <dgm:cxn modelId="{7BFDCCDD-BC32-A64B-B8C7-3F0C8B6EB8FF}" type="presOf" srcId="{83AA56B5-8CBA-5F46-B345-8D977A5D14A5}" destId="{94980B3A-F50A-554C-BFD6-BEB24383B098}" srcOrd="1" destOrd="0" presId="urn:microsoft.com/office/officeart/2005/8/layout/orgChart1"/>
    <dgm:cxn modelId="{77E2CC85-8A31-BA48-A6F0-156E2D21999F}" srcId="{658A0EFA-32ED-C44A-91CB-65CC17A39384}" destId="{83AA56B5-8CBA-5F46-B345-8D977A5D14A5}" srcOrd="0" destOrd="0" parTransId="{064001A8-FF05-E346-BBA2-BFE5F45B3B0A}" sibTransId="{255081D4-FE89-D742-97B4-641975C550EB}"/>
    <dgm:cxn modelId="{7F2F399E-9F7F-3640-A670-D44C93B22888}" type="presOf" srcId="{738CC4DD-E304-9A4D-9AD7-76C3580BF034}" destId="{BC486CD9-D51A-4E46-AA1D-390E5382941C}" srcOrd="1" destOrd="0" presId="urn:microsoft.com/office/officeart/2005/8/layout/orgChart1"/>
    <dgm:cxn modelId="{F117DBC9-4F25-074D-AA5A-D887B01E18F5}" type="presOf" srcId="{103E4873-EC99-A54F-822B-2595B3AAE1D2}" destId="{5F8786B5-2097-4E46-B51B-0C03FFE83A9C}" srcOrd="0" destOrd="0" presId="urn:microsoft.com/office/officeart/2005/8/layout/orgChart1"/>
    <dgm:cxn modelId="{8A1B9883-E059-2444-BEE3-7CBF5FBD7B4D}" type="presOf" srcId="{738CC4DD-E304-9A4D-9AD7-76C3580BF034}" destId="{2A35C4B1-889D-2B49-B400-3F7F371CB55F}" srcOrd="0" destOrd="0" presId="urn:microsoft.com/office/officeart/2005/8/layout/orgChart1"/>
    <dgm:cxn modelId="{A23A2F4C-EA80-2941-8E6A-B98EE295E1C6}" type="presOf" srcId="{83AA56B5-8CBA-5F46-B345-8D977A5D14A5}" destId="{C67D5246-99A3-704A-A132-B7CD97F4A6AE}" srcOrd="0" destOrd="0" presId="urn:microsoft.com/office/officeart/2005/8/layout/orgChart1"/>
    <dgm:cxn modelId="{03763B08-6419-5C44-AFBF-E51731F2719E}" type="presOf" srcId="{658A0EFA-32ED-C44A-91CB-65CC17A39384}" destId="{76F2354E-0BF2-E849-A637-626DE9FBEA25}" srcOrd="0" destOrd="0" presId="urn:microsoft.com/office/officeart/2005/8/layout/orgChart1"/>
    <dgm:cxn modelId="{9195D020-B339-014E-BEBE-7DDE645FFAA2}" type="presOf" srcId="{F0B2F7AB-A620-374B-AE05-114ECBCEA627}" destId="{3DBA7B19-2080-9A44-8B2C-D6634C71E54E}" srcOrd="0" destOrd="0" presId="urn:microsoft.com/office/officeart/2005/8/layout/orgChart1"/>
    <dgm:cxn modelId="{6DB45452-37C2-7646-BC7F-034DCB9FB2FC}" type="presParOf" srcId="{76F2354E-0BF2-E849-A637-626DE9FBEA25}" destId="{5AB28DB1-580A-DE4F-B9C0-EC3AA82C3EB9}" srcOrd="0" destOrd="0" presId="urn:microsoft.com/office/officeart/2005/8/layout/orgChart1"/>
    <dgm:cxn modelId="{51495B67-3A18-364D-9B15-A0F2DF569775}" type="presParOf" srcId="{5AB28DB1-580A-DE4F-B9C0-EC3AA82C3EB9}" destId="{631ABC4B-3D8D-2A41-88F6-F39E0B999BDD}" srcOrd="0" destOrd="0" presId="urn:microsoft.com/office/officeart/2005/8/layout/orgChart1"/>
    <dgm:cxn modelId="{5617E18F-59E4-D348-859E-603A345CBCE0}" type="presParOf" srcId="{631ABC4B-3D8D-2A41-88F6-F39E0B999BDD}" destId="{C67D5246-99A3-704A-A132-B7CD97F4A6AE}" srcOrd="0" destOrd="0" presId="urn:microsoft.com/office/officeart/2005/8/layout/orgChart1"/>
    <dgm:cxn modelId="{21709B9A-9CA9-6E4E-BFE5-773632640EDD}" type="presParOf" srcId="{631ABC4B-3D8D-2A41-88F6-F39E0B999BDD}" destId="{94980B3A-F50A-554C-BFD6-BEB24383B098}" srcOrd="1" destOrd="0" presId="urn:microsoft.com/office/officeart/2005/8/layout/orgChart1"/>
    <dgm:cxn modelId="{3E5BDC78-6FE0-E746-B872-3618B55E7763}" type="presParOf" srcId="{5AB28DB1-580A-DE4F-B9C0-EC3AA82C3EB9}" destId="{4D318C08-4E09-1146-9AFA-4FC6DD4C9566}" srcOrd="1" destOrd="0" presId="urn:microsoft.com/office/officeart/2005/8/layout/orgChart1"/>
    <dgm:cxn modelId="{1D2E7223-0498-C346-A7B4-FE6543D5E681}" type="presParOf" srcId="{4D318C08-4E09-1146-9AFA-4FC6DD4C9566}" destId="{34B37752-7E79-EC43-810D-389E9D590675}" srcOrd="0" destOrd="0" presId="urn:microsoft.com/office/officeart/2005/8/layout/orgChart1"/>
    <dgm:cxn modelId="{1AD8B73F-565E-D743-B4E4-2BEBD199714B}" type="presParOf" srcId="{4D318C08-4E09-1146-9AFA-4FC6DD4C9566}" destId="{4B0AC289-81D0-B547-AFDC-8FB598F11D52}" srcOrd="1" destOrd="0" presId="urn:microsoft.com/office/officeart/2005/8/layout/orgChart1"/>
    <dgm:cxn modelId="{E325F9DC-E402-814F-AA2D-133D25A4668B}" type="presParOf" srcId="{4B0AC289-81D0-B547-AFDC-8FB598F11D52}" destId="{E559F7D6-6860-514D-9CED-2C4B21E312C2}" srcOrd="0" destOrd="0" presId="urn:microsoft.com/office/officeart/2005/8/layout/orgChart1"/>
    <dgm:cxn modelId="{4D1E2604-72FD-924C-90FB-FDEE7D6FA9FF}" type="presParOf" srcId="{E559F7D6-6860-514D-9CED-2C4B21E312C2}" destId="{3DBA7B19-2080-9A44-8B2C-D6634C71E54E}" srcOrd="0" destOrd="0" presId="urn:microsoft.com/office/officeart/2005/8/layout/orgChart1"/>
    <dgm:cxn modelId="{5077FC8A-2AA7-8F4D-9640-C237C85EE4C5}" type="presParOf" srcId="{E559F7D6-6860-514D-9CED-2C4B21E312C2}" destId="{87A086C4-28F6-3246-826A-B2AE5D6D2463}" srcOrd="1" destOrd="0" presId="urn:microsoft.com/office/officeart/2005/8/layout/orgChart1"/>
    <dgm:cxn modelId="{3C00CC9D-C3FE-604F-8955-9873C8AC4F35}" type="presParOf" srcId="{4B0AC289-81D0-B547-AFDC-8FB598F11D52}" destId="{AE3115AE-F419-5643-B48D-8BA57411545E}" srcOrd="1" destOrd="0" presId="urn:microsoft.com/office/officeart/2005/8/layout/orgChart1"/>
    <dgm:cxn modelId="{163CCB51-E985-4C45-968F-0BE17ADCA0D5}" type="presParOf" srcId="{4B0AC289-81D0-B547-AFDC-8FB598F11D52}" destId="{8AE04C1E-AB69-A349-A9A0-68BB8903CCD2}" srcOrd="2" destOrd="0" presId="urn:microsoft.com/office/officeart/2005/8/layout/orgChart1"/>
    <dgm:cxn modelId="{A441F218-8443-A846-BAB3-7FB459CC44F7}" type="presParOf" srcId="{4D318C08-4E09-1146-9AFA-4FC6DD4C9566}" destId="{5F8786B5-2097-4E46-B51B-0C03FFE83A9C}" srcOrd="2" destOrd="0" presId="urn:microsoft.com/office/officeart/2005/8/layout/orgChart1"/>
    <dgm:cxn modelId="{4444AD30-3B81-FE4E-A024-EB15A8FA524F}" type="presParOf" srcId="{4D318C08-4E09-1146-9AFA-4FC6DD4C9566}" destId="{AA0FD937-2828-1C40-8F85-F5E298396038}" srcOrd="3" destOrd="0" presId="urn:microsoft.com/office/officeart/2005/8/layout/orgChart1"/>
    <dgm:cxn modelId="{FD54C3CD-69B1-7743-BFFA-FFEFCCD5F58C}" type="presParOf" srcId="{AA0FD937-2828-1C40-8F85-F5E298396038}" destId="{7FF642DC-C000-184D-B6BB-B15CC271879D}" srcOrd="0" destOrd="0" presId="urn:microsoft.com/office/officeart/2005/8/layout/orgChart1"/>
    <dgm:cxn modelId="{E9A4B6FF-96C5-DB48-ADDB-49E92D486316}" type="presParOf" srcId="{7FF642DC-C000-184D-B6BB-B15CC271879D}" destId="{2A35C4B1-889D-2B49-B400-3F7F371CB55F}" srcOrd="0" destOrd="0" presId="urn:microsoft.com/office/officeart/2005/8/layout/orgChart1"/>
    <dgm:cxn modelId="{9F4FF5DE-8986-3E4E-8D00-DC7806D61EAE}" type="presParOf" srcId="{7FF642DC-C000-184D-B6BB-B15CC271879D}" destId="{BC486CD9-D51A-4E46-AA1D-390E5382941C}" srcOrd="1" destOrd="0" presId="urn:microsoft.com/office/officeart/2005/8/layout/orgChart1"/>
    <dgm:cxn modelId="{EBBE34AE-800E-9148-A932-9CE0B0EE7A9D}" type="presParOf" srcId="{AA0FD937-2828-1C40-8F85-F5E298396038}" destId="{C682E821-047F-234F-8EA7-111E29D337CF}" srcOrd="1" destOrd="0" presId="urn:microsoft.com/office/officeart/2005/8/layout/orgChart1"/>
    <dgm:cxn modelId="{E4F4B959-5D4A-614B-8385-91100C702F0E}" type="presParOf" srcId="{AA0FD937-2828-1C40-8F85-F5E298396038}" destId="{233C6B67-AF6C-D443-8979-7295FE32A26A}" srcOrd="2" destOrd="0" presId="urn:microsoft.com/office/officeart/2005/8/layout/orgChart1"/>
    <dgm:cxn modelId="{B7155B71-6DE2-8440-B7EB-4A67A750BB60}" type="presParOf" srcId="{5AB28DB1-580A-DE4F-B9C0-EC3AA82C3EB9}" destId="{2AE226C6-58A7-A746-A3AC-478F7BD47846}" srcOrd="2" destOrd="0" presId="urn:microsoft.com/office/officeart/2005/8/layout/orgChart1"/>
  </dgm:cxnLst>
  <dgm:bg/>
  <dgm:whole>
    <a:ln w="76200"/>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8786B5-2097-4E46-B51B-0C03FFE83A9C}">
      <dsp:nvSpPr>
        <dsp:cNvPr id="0" name=""/>
        <dsp:cNvSpPr/>
      </dsp:nvSpPr>
      <dsp:spPr>
        <a:xfrm>
          <a:off x="3441560" y="1191272"/>
          <a:ext cx="1765515" cy="307900"/>
        </a:xfrm>
        <a:custGeom>
          <a:avLst/>
          <a:gdLst/>
          <a:ahLst/>
          <a:cxnLst/>
          <a:rect l="0" t="0" r="0" b="0"/>
          <a:pathLst>
            <a:path>
              <a:moveTo>
                <a:pt x="0" y="0"/>
              </a:moveTo>
              <a:lnTo>
                <a:pt x="0" y="153950"/>
              </a:lnTo>
              <a:lnTo>
                <a:pt x="1765515" y="153950"/>
              </a:lnTo>
              <a:lnTo>
                <a:pt x="1765515" y="30790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B37752-7E79-EC43-810D-389E9D590675}">
      <dsp:nvSpPr>
        <dsp:cNvPr id="0" name=""/>
        <dsp:cNvSpPr/>
      </dsp:nvSpPr>
      <dsp:spPr>
        <a:xfrm>
          <a:off x="1615762" y="1191272"/>
          <a:ext cx="1825797" cy="307900"/>
        </a:xfrm>
        <a:custGeom>
          <a:avLst/>
          <a:gdLst/>
          <a:ahLst/>
          <a:cxnLst/>
          <a:rect l="0" t="0" r="0" b="0"/>
          <a:pathLst>
            <a:path>
              <a:moveTo>
                <a:pt x="1825797" y="0"/>
              </a:moveTo>
              <a:lnTo>
                <a:pt x="1825797" y="153950"/>
              </a:lnTo>
              <a:lnTo>
                <a:pt x="0" y="153950"/>
              </a:lnTo>
              <a:lnTo>
                <a:pt x="0" y="30790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7D5246-99A3-704A-A132-B7CD97F4A6AE}">
      <dsp:nvSpPr>
        <dsp:cNvPr id="0" name=""/>
        <dsp:cNvSpPr/>
      </dsp:nvSpPr>
      <dsp:spPr>
        <a:xfrm>
          <a:off x="2535571" y="458176"/>
          <a:ext cx="1811978" cy="733096"/>
        </a:xfrm>
        <a:prstGeom prst="rect">
          <a:avLst/>
        </a:prstGeom>
        <a:solidFill>
          <a:schemeClr val="lt1">
            <a:hueOff val="0"/>
            <a:satOff val="0"/>
            <a:lumOff val="0"/>
            <a:alphaOff val="0"/>
          </a:schemeClr>
        </a:solidFill>
        <a:ln w="381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smtClean="0"/>
            <a:t>2 </a:t>
          </a:r>
          <a:r>
            <a:rPr lang="en-US" sz="2800" kern="1200" dirty="0" err="1" smtClean="0"/>
            <a:t>substages</a:t>
          </a:r>
          <a:endParaRPr lang="en-VN" sz="2800" kern="1200" dirty="0"/>
        </a:p>
      </dsp:txBody>
      <dsp:txXfrm>
        <a:off x="2535571" y="458176"/>
        <a:ext cx="1811978" cy="733096"/>
      </dsp:txXfrm>
    </dsp:sp>
    <dsp:sp modelId="{3DBA7B19-2080-9A44-8B2C-D6634C71E54E}">
      <dsp:nvSpPr>
        <dsp:cNvPr id="0" name=""/>
        <dsp:cNvSpPr/>
      </dsp:nvSpPr>
      <dsp:spPr>
        <a:xfrm>
          <a:off x="4197" y="1499173"/>
          <a:ext cx="3223130" cy="733096"/>
        </a:xfrm>
        <a:prstGeom prst="rect">
          <a:avLst/>
        </a:prstGeom>
        <a:solidFill>
          <a:schemeClr val="lt1">
            <a:hueOff val="0"/>
            <a:satOff val="0"/>
            <a:lumOff val="0"/>
            <a:alphaOff val="0"/>
          </a:schemeClr>
        </a:solidFill>
        <a:ln w="38100" cap="flat" cmpd="sng" algn="ctr">
          <a:solidFill>
            <a:schemeClr val="accent1">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a:t>(1) crisis </a:t>
          </a:r>
          <a:r>
            <a:rPr lang="en-US" sz="2800" kern="1200" dirty="0" smtClean="0"/>
            <a:t>recognition</a:t>
          </a:r>
          <a:endParaRPr lang="en-VN" sz="2800" kern="1200" dirty="0"/>
        </a:p>
      </dsp:txBody>
      <dsp:txXfrm>
        <a:off x="4197" y="1499173"/>
        <a:ext cx="3223130" cy="733096"/>
      </dsp:txXfrm>
    </dsp:sp>
    <dsp:sp modelId="{2A35C4B1-889D-2B49-B400-3F7F371CB55F}">
      <dsp:nvSpPr>
        <dsp:cNvPr id="0" name=""/>
        <dsp:cNvSpPr/>
      </dsp:nvSpPr>
      <dsp:spPr>
        <a:xfrm>
          <a:off x="3535228" y="1499173"/>
          <a:ext cx="3343695" cy="733096"/>
        </a:xfrm>
        <a:prstGeom prst="rect">
          <a:avLst/>
        </a:prstGeom>
        <a:solidFill>
          <a:schemeClr val="lt1">
            <a:hueOff val="0"/>
            <a:satOff val="0"/>
            <a:lumOff val="0"/>
            <a:alphaOff val="0"/>
          </a:schemeClr>
        </a:solidFill>
        <a:ln w="38100" cap="flat" cmpd="sng" algn="ctr">
          <a:solidFill>
            <a:schemeClr val="accent1">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a:t>(2) crisis </a:t>
          </a:r>
          <a:r>
            <a:rPr lang="en-US" sz="2800" kern="1200" dirty="0" smtClean="0"/>
            <a:t>containment</a:t>
          </a:r>
          <a:endParaRPr lang="en-VN" sz="2800" kern="1200" dirty="0"/>
        </a:p>
      </dsp:txBody>
      <dsp:txXfrm>
        <a:off x="3535228" y="1499173"/>
        <a:ext cx="3343695" cy="733096"/>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6EA22C-5C58-4EB5-8792-92CE49FCAFE3}" type="datetimeFigureOut">
              <a:rPr lang="en-US" smtClean="0"/>
              <a:t>11/14/2024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6998CCC-BCBF-478E-B994-CDC24F6093AE}" type="slidenum">
              <a:rPr lang="en-US" smtClean="0"/>
              <a:t>‹#›</a:t>
            </a:fld>
            <a:endParaRPr lang="en-US"/>
          </a:p>
        </p:txBody>
      </p:sp>
    </p:spTree>
    <p:extLst>
      <p:ext uri="{BB962C8B-B14F-4D97-AF65-F5344CB8AC3E}">
        <p14:creationId xmlns:p14="http://schemas.microsoft.com/office/powerpoint/2010/main" val="29098245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B984DE-ABC4-413F-9D1C-533677D1E1EB}" type="datetimeFigureOut">
              <a:rPr lang="en-US" smtClean="0"/>
              <a:t>11/14/2024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68FFD5-9301-472E-B081-127C8A88FCED}" type="slidenum">
              <a:rPr lang="en-US" smtClean="0"/>
              <a:t>‹#›</a:t>
            </a:fld>
            <a:endParaRPr lang="en-US"/>
          </a:p>
        </p:txBody>
      </p:sp>
    </p:spTree>
    <p:extLst>
      <p:ext uri="{BB962C8B-B14F-4D97-AF65-F5344CB8AC3E}">
        <p14:creationId xmlns:p14="http://schemas.microsoft.com/office/powerpoint/2010/main" val="1442937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4ECAE2-BB11-4FEE-931F-DF5C844C1958}" type="slidenum">
              <a:rPr lang="en-US" smtClean="0"/>
              <a:t>3</a:t>
            </a:fld>
            <a:endParaRPr lang="en-US"/>
          </a:p>
        </p:txBody>
      </p:sp>
    </p:spTree>
    <p:extLst>
      <p:ext uri="{BB962C8B-B14F-4D97-AF65-F5344CB8AC3E}">
        <p14:creationId xmlns:p14="http://schemas.microsoft.com/office/powerpoint/2010/main" val="41586538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4ECAE2-BB11-4FEE-931F-DF5C844C1958}" type="slidenum">
              <a:rPr lang="en-US" smtClean="0"/>
              <a:t>4</a:t>
            </a:fld>
            <a:endParaRPr lang="en-US"/>
          </a:p>
        </p:txBody>
      </p:sp>
    </p:spTree>
    <p:extLst>
      <p:ext uri="{BB962C8B-B14F-4D97-AF65-F5344CB8AC3E}">
        <p14:creationId xmlns:p14="http://schemas.microsoft.com/office/powerpoint/2010/main" val="30071674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No organization is immune to crises. If no organization is immune, then all organizations should be prepared. The bottom line is that all organizations should learn as much as they can about</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crisis management.</a:t>
            </a:r>
            <a:endParaRPr lang="en-US" dirty="0" smtClean="0"/>
          </a:p>
          <a:p>
            <a:r>
              <a:rPr lang="en-US" sz="1200" b="0" i="0" kern="1200" dirty="0" smtClean="0">
                <a:solidFill>
                  <a:schemeClr val="tx1"/>
                </a:solidFill>
                <a:effectLst/>
                <a:latin typeface="+mn-lt"/>
                <a:ea typeface="+mn-ea"/>
                <a:cs typeface="+mn-cs"/>
              </a:rPr>
              <a:t>The crisis management process is varied and requires the integration of knowledge from such diverse areas as small-group decision-making, media relations, environmental scanning,</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risk assessment, crisis communication, crisis plan development, evaluation methods, disaster sociology, and reputation management. </a:t>
            </a:r>
            <a:r>
              <a:rPr lang="en-US" dirty="0" smtClean="0"/>
              <a:t/>
            </a:r>
            <a:br>
              <a:rPr lang="en-US" dirty="0" smtClean="0"/>
            </a:br>
            <a:endParaRPr lang="en-US" dirty="0" smtClean="0"/>
          </a:p>
          <a:p>
            <a:endParaRPr lang="en-US" dirty="0"/>
          </a:p>
        </p:txBody>
      </p:sp>
      <p:sp>
        <p:nvSpPr>
          <p:cNvPr id="4" name="Slide Number Placeholder 3"/>
          <p:cNvSpPr>
            <a:spLocks noGrp="1"/>
          </p:cNvSpPr>
          <p:nvPr>
            <p:ph type="sldNum" sz="quarter" idx="10"/>
          </p:nvPr>
        </p:nvSpPr>
        <p:spPr/>
        <p:txBody>
          <a:bodyPr/>
          <a:lstStyle/>
          <a:p>
            <a:fld id="{5F68FFD5-9301-472E-B081-127C8A88FCED}" type="slidenum">
              <a:rPr lang="en-US" smtClean="0"/>
              <a:t>5</a:t>
            </a:fld>
            <a:endParaRPr lang="en-US"/>
          </a:p>
        </p:txBody>
      </p:sp>
    </p:spTree>
    <p:extLst>
      <p:ext uri="{BB962C8B-B14F-4D97-AF65-F5344CB8AC3E}">
        <p14:creationId xmlns:p14="http://schemas.microsoft.com/office/powerpoint/2010/main" val="11329169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There is no one accepted definition of a crisis.</a:t>
            </a:r>
            <a:r>
              <a:rPr lang="en-US" dirty="0" smtClean="0"/>
              <a:t> </a:t>
            </a:r>
            <a:r>
              <a:rPr lang="en-US" sz="1200" b="0" i="0" kern="1200" dirty="0" smtClean="0">
                <a:solidFill>
                  <a:schemeClr val="tx1"/>
                </a:solidFill>
                <a:effectLst/>
                <a:latin typeface="+mn-lt"/>
                <a:ea typeface="+mn-ea"/>
                <a:cs typeface="+mn-cs"/>
              </a:rPr>
              <a:t>Crisis is a very broad term that is used frequently by practitioners and academics.</a:t>
            </a:r>
            <a:r>
              <a:rPr lang="en-US" dirty="0" smtClean="0"/>
              <a:t> </a:t>
            </a:r>
            <a:br>
              <a:rPr lang="en-US" dirty="0" smtClean="0"/>
            </a:br>
            <a:endParaRPr lang="en-US" dirty="0" smtClean="0"/>
          </a:p>
          <a:p>
            <a:r>
              <a:rPr lang="en-US" sz="1200" b="0" i="0" kern="1200" dirty="0" smtClean="0">
                <a:solidFill>
                  <a:schemeClr val="tx1"/>
                </a:solidFill>
                <a:effectLst/>
                <a:latin typeface="+mn-lt"/>
                <a:ea typeface="+mn-ea"/>
                <a:cs typeface="+mn-cs"/>
              </a:rPr>
              <a:t>Figure 1.1 is a visual representation of how I conceptualize crisis. We can take the general notion of crisis as the starting point, beneath which we have disaster and organizational crisis.</a:t>
            </a:r>
            <a:r>
              <a:rPr lang="en-US" dirty="0" smtClean="0"/>
              <a:t> </a:t>
            </a:r>
            <a:br>
              <a:rPr lang="en-US" dirty="0" smtClean="0"/>
            </a:br>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5F68FFD5-9301-472E-B081-127C8A88FCED}" type="slidenum">
              <a:rPr lang="en-US" smtClean="0"/>
              <a:t>8</a:t>
            </a:fld>
            <a:endParaRPr lang="en-US"/>
          </a:p>
        </p:txBody>
      </p:sp>
    </p:spTree>
    <p:extLst>
      <p:ext uri="{BB962C8B-B14F-4D97-AF65-F5344CB8AC3E}">
        <p14:creationId xmlns:p14="http://schemas.microsoft.com/office/powerpoint/2010/main" val="2008065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Disasters can spawn organizational crises. For instance, an organization may need to cope with the effects of the disaster on its operation. An example would be utilities needing to restore power to customers following a tornado. </a:t>
            </a:r>
          </a:p>
          <a:p>
            <a:r>
              <a:rPr lang="en-US" sz="1200" b="0" i="0" kern="1200" dirty="0" smtClean="0">
                <a:solidFill>
                  <a:schemeClr val="tx1"/>
                </a:solidFill>
                <a:effectLst/>
                <a:latin typeface="+mn-lt"/>
                <a:ea typeface="+mn-ea"/>
                <a:cs typeface="+mn-cs"/>
              </a:rPr>
              <a:t>In rarer circumstances a crisis can trigger a disaster. Examples include the Union Carbide toxic gas release in Bhopal, India, and the crude oil spilled into the Gulf of Mexico when the Deepwater Horizon sank.</a:t>
            </a:r>
            <a:r>
              <a:rPr lang="en-US" dirty="0" smtClean="0"/>
              <a:t> </a:t>
            </a:r>
            <a:br>
              <a:rPr lang="en-US" dirty="0" smtClean="0"/>
            </a:br>
            <a:endParaRPr lang="en-US" dirty="0" smtClean="0"/>
          </a:p>
        </p:txBody>
      </p:sp>
      <p:sp>
        <p:nvSpPr>
          <p:cNvPr id="4" name="Slide Number Placeholder 3"/>
          <p:cNvSpPr>
            <a:spLocks noGrp="1"/>
          </p:cNvSpPr>
          <p:nvPr>
            <p:ph type="sldNum" sz="quarter" idx="10"/>
          </p:nvPr>
        </p:nvSpPr>
        <p:spPr/>
        <p:txBody>
          <a:bodyPr/>
          <a:lstStyle/>
          <a:p>
            <a:fld id="{5F68FFD5-9301-472E-B081-127C8A88FCED}" type="slidenum">
              <a:rPr lang="en-US" smtClean="0"/>
              <a:t>9</a:t>
            </a:fld>
            <a:endParaRPr lang="en-US"/>
          </a:p>
        </p:txBody>
      </p:sp>
    </p:spTree>
    <p:extLst>
      <p:ext uri="{BB962C8B-B14F-4D97-AF65-F5344CB8AC3E}">
        <p14:creationId xmlns:p14="http://schemas.microsoft.com/office/powerpoint/2010/main" val="3799591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Crises can violate salient expectations that stakeholders hold about how organizations should act.</a:t>
            </a:r>
            <a:r>
              <a:rPr lang="en-US" dirty="0" smtClean="0"/>
              <a:t> These expectations are important to the stakeholders and can be related to health, safety, environmental, or economic concerns. Planes should land safely, products should not harm us, management should not steal money, and organizations should reflect societal values. Crises disturb some stakeholder expectations, resulting in people becoming upset and angry, which threatens the relationship between the organization and its stakeholders.</a:t>
            </a:r>
          </a:p>
          <a:p>
            <a:endParaRPr lang="en-US" dirty="0" smtClean="0"/>
          </a:p>
        </p:txBody>
      </p:sp>
      <p:sp>
        <p:nvSpPr>
          <p:cNvPr id="4" name="Slide Number Placeholder 3"/>
          <p:cNvSpPr>
            <a:spLocks noGrp="1"/>
          </p:cNvSpPr>
          <p:nvPr>
            <p:ph type="sldNum" sz="quarter" idx="10"/>
          </p:nvPr>
        </p:nvSpPr>
        <p:spPr/>
        <p:txBody>
          <a:bodyPr/>
          <a:lstStyle/>
          <a:p>
            <a:fld id="{5F68FFD5-9301-472E-B081-127C8A88FCED}" type="slidenum">
              <a:rPr lang="en-US" smtClean="0"/>
              <a:t>10</a:t>
            </a:fld>
            <a:endParaRPr lang="en-US"/>
          </a:p>
        </p:txBody>
      </p:sp>
    </p:spTree>
    <p:extLst>
      <p:ext uri="{BB962C8B-B14F-4D97-AF65-F5344CB8AC3E}">
        <p14:creationId xmlns:p14="http://schemas.microsoft.com/office/powerpoint/2010/main" val="10369135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If stakeholders believe an organization is in crisis, a crisis does exist, and stakeholders will react to the organization as if it is in crisis. Management must be able to</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see the event from the stakeholders’ perspective to properly assess whether a crisis has occurred.</a:t>
            </a:r>
            <a:r>
              <a:rPr lang="en-US" dirty="0" smtClean="0"/>
              <a:t> </a:t>
            </a:r>
          </a:p>
          <a:p>
            <a:endParaRPr lang="en-US" dirty="0" smtClean="0"/>
          </a:p>
          <a:p>
            <a:r>
              <a:rPr lang="en-US" sz="1200" b="0" i="0" kern="1200" dirty="0" smtClean="0">
                <a:solidFill>
                  <a:schemeClr val="tx1"/>
                </a:solidFill>
                <a:effectLst/>
                <a:latin typeface="+mn-lt"/>
                <a:ea typeface="+mn-ea"/>
                <a:cs typeface="+mn-cs"/>
              </a:rPr>
              <a:t>Crises can be anticipated, but their often sudden nature can give them an element of surprise or unpredictability (Barton, 2001; National Research</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Council, 1996). </a:t>
            </a:r>
            <a:r>
              <a:rPr lang="en-US" dirty="0" smtClean="0"/>
              <a:t/>
            </a:r>
            <a:br>
              <a:rPr lang="en-US" dirty="0" smtClean="0"/>
            </a:br>
            <a:endParaRPr lang="en-US" dirty="0" smtClean="0"/>
          </a:p>
          <a:p>
            <a:r>
              <a:rPr lang="en-US" dirty="0" smtClean="0"/>
              <a:t> </a:t>
            </a:r>
          </a:p>
          <a:p>
            <a:endParaRPr lang="en-US" dirty="0" smtClean="0"/>
          </a:p>
          <a:p>
            <a:endParaRPr lang="en-US" dirty="0" smtClean="0"/>
          </a:p>
          <a:p>
            <a:endParaRPr lang="en-US" dirty="0" smtClean="0"/>
          </a:p>
          <a:p>
            <a:r>
              <a:rPr lang="en-US" dirty="0" smtClean="0"/>
              <a:t/>
            </a:r>
            <a:br>
              <a:rPr lang="en-US" dirty="0" smtClean="0"/>
            </a:br>
            <a:r>
              <a:rPr lang="en-US" sz="1200" b="0" i="0" kern="1200" dirty="0" smtClean="0">
                <a:solidFill>
                  <a:schemeClr val="tx1"/>
                </a:solidFill>
                <a:effectLst/>
                <a:latin typeface="+mn-lt"/>
                <a:ea typeface="+mn-ea"/>
                <a:cs typeface="+mn-cs"/>
              </a:rPr>
              <a:t> </a:t>
            </a:r>
          </a:p>
          <a:p>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F68FFD5-9301-472E-B081-127C8A88FCED}" type="slidenum">
              <a:rPr lang="en-US" smtClean="0"/>
              <a:t>11</a:t>
            </a:fld>
            <a:endParaRPr lang="en-US"/>
          </a:p>
        </p:txBody>
      </p:sp>
    </p:spTree>
    <p:extLst>
      <p:ext uri="{BB962C8B-B14F-4D97-AF65-F5344CB8AC3E}">
        <p14:creationId xmlns:p14="http://schemas.microsoft.com/office/powerpoint/2010/main" val="30112591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smtClean="0"/>
          </a:p>
          <a:p>
            <a:r>
              <a:rPr lang="en-US" dirty="0" smtClean="0"/>
              <a:t/>
            </a:r>
            <a:br>
              <a:rPr lang="en-US" dirty="0" smtClean="0"/>
            </a:br>
            <a:r>
              <a:rPr lang="en-US" sz="1200" b="0" i="0" kern="1200" dirty="0" smtClean="0">
                <a:solidFill>
                  <a:schemeClr val="tx1"/>
                </a:solidFill>
                <a:effectLst/>
                <a:latin typeface="+mn-lt"/>
                <a:ea typeface="+mn-ea"/>
                <a:cs typeface="+mn-cs"/>
              </a:rPr>
              <a:t> </a:t>
            </a:r>
          </a:p>
          <a:p>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F68FFD5-9301-472E-B081-127C8A88FCED}" type="slidenum">
              <a:rPr lang="en-US" smtClean="0"/>
              <a:t>12</a:t>
            </a:fld>
            <a:endParaRPr lang="en-US"/>
          </a:p>
        </p:txBody>
      </p:sp>
    </p:spTree>
    <p:extLst>
      <p:ext uri="{BB962C8B-B14F-4D97-AF65-F5344CB8AC3E}">
        <p14:creationId xmlns:p14="http://schemas.microsoft.com/office/powerpoint/2010/main" val="950945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68FFD5-9301-472E-B081-127C8A88FCED}" type="slidenum">
              <a:rPr lang="en-US" smtClean="0"/>
              <a:t>13</a:t>
            </a:fld>
            <a:endParaRPr lang="en-US"/>
          </a:p>
        </p:txBody>
      </p:sp>
    </p:spTree>
    <p:extLst>
      <p:ext uri="{BB962C8B-B14F-4D97-AF65-F5344CB8AC3E}">
        <p14:creationId xmlns:p14="http://schemas.microsoft.com/office/powerpoint/2010/main" val="2629132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smtClean="0"/>
          </a:p>
          <a:p>
            <a:r>
              <a:rPr lang="en-US" dirty="0" smtClean="0"/>
              <a:t/>
            </a:r>
            <a:br>
              <a:rPr lang="en-US" dirty="0" smtClean="0"/>
            </a:br>
            <a:r>
              <a:rPr lang="en-US" sz="1200" b="0" i="0" kern="1200" dirty="0" smtClean="0">
                <a:solidFill>
                  <a:schemeClr val="tx1"/>
                </a:solidFill>
                <a:effectLst/>
                <a:latin typeface="+mn-lt"/>
                <a:ea typeface="+mn-ea"/>
                <a:cs typeface="+mn-cs"/>
              </a:rPr>
              <a:t> </a:t>
            </a:r>
          </a:p>
          <a:p>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F68FFD5-9301-472E-B081-127C8A88FCED}" type="slidenum">
              <a:rPr lang="en-US" smtClean="0"/>
              <a:t>14</a:t>
            </a:fld>
            <a:endParaRPr lang="en-US"/>
          </a:p>
        </p:txBody>
      </p:sp>
    </p:spTree>
    <p:extLst>
      <p:ext uri="{BB962C8B-B14F-4D97-AF65-F5344CB8AC3E}">
        <p14:creationId xmlns:p14="http://schemas.microsoft.com/office/powerpoint/2010/main" val="11086539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Operational crises reflect the roots of crisis management itself. One potential effect from a crisis is to disrupt operations either completely or partially. Many early definitions of crisis include disruption of operations (e.g., Barton, 2001). </a:t>
            </a:r>
          </a:p>
          <a:p>
            <a:r>
              <a:rPr lang="en-US" sz="1200" b="0" i="0" kern="1200" dirty="0" smtClean="0">
                <a:solidFill>
                  <a:schemeClr val="tx1"/>
                </a:solidFill>
                <a:effectLst/>
                <a:latin typeface="+mn-lt"/>
                <a:ea typeface="+mn-ea"/>
                <a:cs typeface="+mn-cs"/>
              </a:rPr>
              <a:t>Facility fires, natural disasters, and product harm situations are all examples of operational crises. </a:t>
            </a:r>
            <a:r>
              <a:rPr lang="en-US" dirty="0" smtClean="0"/>
              <a:t/>
            </a:r>
            <a:br>
              <a:rPr lang="en-US" dirty="0" smtClean="0"/>
            </a:br>
            <a:r>
              <a:rPr lang="en-US" dirty="0" smtClean="0"/>
              <a:t/>
            </a:r>
            <a:br>
              <a:rPr lang="en-US" dirty="0" smtClean="0"/>
            </a:br>
            <a:endParaRPr lang="en-US" dirty="0" smtClean="0"/>
          </a:p>
          <a:p>
            <a:endParaRPr lang="en-US" dirty="0" smtClean="0"/>
          </a:p>
          <a:p>
            <a:r>
              <a:rPr lang="en-US" dirty="0" smtClean="0"/>
              <a:t/>
            </a:r>
            <a:br>
              <a:rPr lang="en-US" dirty="0" smtClean="0"/>
            </a:br>
            <a:r>
              <a:rPr lang="en-US" sz="1200" b="0" i="0" kern="1200" dirty="0" smtClean="0">
                <a:solidFill>
                  <a:schemeClr val="tx1"/>
                </a:solidFill>
                <a:effectLst/>
                <a:latin typeface="+mn-lt"/>
                <a:ea typeface="+mn-ea"/>
                <a:cs typeface="+mn-cs"/>
              </a:rPr>
              <a:t> </a:t>
            </a:r>
          </a:p>
          <a:p>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F68FFD5-9301-472E-B081-127C8A88FCED}" type="slidenum">
              <a:rPr lang="en-US" smtClean="0"/>
              <a:t>15</a:t>
            </a:fld>
            <a:endParaRPr lang="en-US"/>
          </a:p>
        </p:txBody>
      </p:sp>
    </p:spTree>
    <p:extLst>
      <p:ext uri="{BB962C8B-B14F-4D97-AF65-F5344CB8AC3E}">
        <p14:creationId xmlns:p14="http://schemas.microsoft.com/office/powerpoint/2010/main" val="28568521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All crises will inflict some reputational damage on an organization. However, certain situations are primarily reputational and have limited effects on operations. </a:t>
            </a:r>
          </a:p>
          <a:p>
            <a:r>
              <a:rPr lang="en-US" sz="1200" b="0" i="0" kern="1200" dirty="0" smtClean="0">
                <a:solidFill>
                  <a:schemeClr val="tx1"/>
                </a:solidFill>
                <a:effectLst/>
                <a:latin typeface="+mn-lt"/>
                <a:ea typeface="+mn-ea"/>
                <a:cs typeface="+mn-cs"/>
              </a:rPr>
              <a:t>The term “para” means resembling or protection from something.</a:t>
            </a:r>
            <a:r>
              <a:rPr lang="en-US" dirty="0" smtClean="0"/>
              <a:t> </a:t>
            </a:r>
            <a:br>
              <a:rPr lang="en-US" dirty="0" smtClean="0"/>
            </a:br>
            <a:endParaRPr lang="en-US" dirty="0" smtClean="0"/>
          </a:p>
          <a:p>
            <a:r>
              <a:rPr lang="en-US" dirty="0" smtClean="0"/>
              <a:t>Example (</a:t>
            </a:r>
            <a:r>
              <a:rPr lang="en-US" baseline="0" dirty="0" err="1" smtClean="0"/>
              <a:t>ebook</a:t>
            </a:r>
            <a:r>
              <a:rPr lang="en-US" baseline="0" dirty="0" smtClean="0"/>
              <a:t>, p.21):</a:t>
            </a:r>
          </a:p>
          <a:p>
            <a:r>
              <a:rPr lang="en-US" sz="1200" b="0" i="0" kern="1200" dirty="0" smtClean="0">
                <a:solidFill>
                  <a:schemeClr val="tx1"/>
                </a:solidFill>
                <a:effectLst/>
                <a:latin typeface="+mn-lt"/>
                <a:ea typeface="+mn-ea"/>
                <a:cs typeface="+mn-cs"/>
              </a:rPr>
              <a:t>In 2008, Motrin created an</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edgy ad that noted how mothers have back pain from using sling-type baby carriers. The ad was in print and Online in video form. Many mothers were offended by it and took to social media to express their outrage. Twitter was a popular location for mothers to attack Motrin. There was even a nine-minute YouTube video featuring the Twitter complaints. The ad appeared online on a Saturday morning. The social media criticism stormed Twitter by Saturday evening. On the following Monday, McNeil Consumer Healthcare, the maker of Motrin, removed the ad from the Internet and replaced it with an apology (</a:t>
            </a:r>
            <a:r>
              <a:rPr lang="en-US" sz="1200" b="0" i="0" kern="1200" dirty="0" err="1" smtClean="0">
                <a:solidFill>
                  <a:schemeClr val="tx1"/>
                </a:solidFill>
                <a:effectLst/>
                <a:latin typeface="+mn-lt"/>
                <a:ea typeface="+mn-ea"/>
                <a:cs typeface="+mn-cs"/>
              </a:rPr>
              <a:t>Tsouderos</a:t>
            </a:r>
            <a:r>
              <a:rPr lang="en-US" sz="1200" b="0" i="0" kern="1200" dirty="0" smtClean="0">
                <a:solidFill>
                  <a:schemeClr val="tx1"/>
                </a:solidFill>
                <a:effectLst/>
                <a:latin typeface="+mn-lt"/>
                <a:ea typeface="+mn-ea"/>
                <a:cs typeface="+mn-cs"/>
              </a:rPr>
              <a:t>, 2008). </a:t>
            </a:r>
          </a:p>
          <a:p>
            <a:r>
              <a:rPr lang="en-US" sz="1200" b="0" i="0" kern="1200" dirty="0" smtClean="0">
                <a:solidFill>
                  <a:schemeClr val="tx1"/>
                </a:solidFill>
                <a:effectLst/>
                <a:latin typeface="+mn-lt"/>
                <a:ea typeface="+mn-ea"/>
                <a:cs typeface="+mn-cs"/>
              </a:rPr>
              <a:t>McNeil Consumer Healthcare did not see any disruption in the production or sale of Motrin. There was minor damage to the corporate and product reputation</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that had the potential to escalate if the </a:t>
            </a:r>
            <a:r>
              <a:rPr lang="en-US" sz="1200" b="0" i="0" kern="1200" dirty="0" err="1" smtClean="0">
                <a:solidFill>
                  <a:schemeClr val="tx1"/>
                </a:solidFill>
                <a:effectLst/>
                <a:latin typeface="+mn-lt"/>
                <a:ea typeface="+mn-ea"/>
                <a:cs typeface="+mn-cs"/>
              </a:rPr>
              <a:t>paracrisis</a:t>
            </a:r>
            <a:r>
              <a:rPr lang="en-US" sz="1200" b="0" i="0" kern="1200" dirty="0" smtClean="0">
                <a:solidFill>
                  <a:schemeClr val="tx1"/>
                </a:solidFill>
                <a:effectLst/>
                <a:latin typeface="+mn-lt"/>
                <a:ea typeface="+mn-ea"/>
                <a:cs typeface="+mn-cs"/>
              </a:rPr>
              <a:t> was not handled swiftly and effectively. By removing the ad and apologizing, McNeil Consumer Healthcare managed the </a:t>
            </a:r>
            <a:r>
              <a:rPr lang="en-US" sz="1200" b="0" i="0" kern="1200" dirty="0" err="1" smtClean="0">
                <a:solidFill>
                  <a:schemeClr val="tx1"/>
                </a:solidFill>
                <a:effectLst/>
                <a:latin typeface="+mn-lt"/>
                <a:ea typeface="+mn-ea"/>
                <a:cs typeface="+mn-cs"/>
              </a:rPr>
              <a:t>paracrisis</a:t>
            </a:r>
            <a:r>
              <a:rPr lang="en-US" sz="1200" b="0" i="0" kern="1200" dirty="0" smtClean="0">
                <a:solidFill>
                  <a:schemeClr val="tx1"/>
                </a:solidFill>
                <a:effectLst/>
                <a:latin typeface="+mn-lt"/>
                <a:ea typeface="+mn-ea"/>
                <a:cs typeface="+mn-cs"/>
              </a:rPr>
              <a:t>, thereby defusing a potential crisis.</a:t>
            </a:r>
            <a:r>
              <a:rPr lang="en-US" dirty="0" smtClean="0"/>
              <a:t> </a:t>
            </a:r>
            <a:br>
              <a:rPr lang="en-US" dirty="0" smtClean="0"/>
            </a:br>
            <a:endParaRPr lang="en-US" dirty="0"/>
          </a:p>
        </p:txBody>
      </p:sp>
      <p:sp>
        <p:nvSpPr>
          <p:cNvPr id="4" name="Slide Number Placeholder 3"/>
          <p:cNvSpPr>
            <a:spLocks noGrp="1"/>
          </p:cNvSpPr>
          <p:nvPr>
            <p:ph type="sldNum" sz="quarter" idx="10"/>
          </p:nvPr>
        </p:nvSpPr>
        <p:spPr/>
        <p:txBody>
          <a:bodyPr/>
          <a:lstStyle/>
          <a:p>
            <a:fld id="{5F68FFD5-9301-472E-B081-127C8A88FCED}" type="slidenum">
              <a:rPr lang="en-US" smtClean="0"/>
              <a:t>16</a:t>
            </a:fld>
            <a:endParaRPr lang="en-US"/>
          </a:p>
        </p:txBody>
      </p:sp>
    </p:spTree>
    <p:extLst>
      <p:ext uri="{BB962C8B-B14F-4D97-AF65-F5344CB8AC3E}">
        <p14:creationId xmlns:p14="http://schemas.microsoft.com/office/powerpoint/2010/main" val="38775445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https://nld.com.vn/van-nghe/coca-cola-bi-bo-vh-tt-dl-tuyt-coi-vi-quang-cao-thieu-tham-my-20190628220220977.htm</a:t>
            </a:r>
          </a:p>
          <a:p>
            <a:r>
              <a:rPr lang="en-US" dirty="0" smtClean="0"/>
              <a:t>https://nld.com.vn/kinh-te/coca-cola-dung-quang-cao-dong-chu-mo-lon-viet-nam-20190629142203035.htm</a:t>
            </a:r>
            <a:br>
              <a:rPr lang="en-US" dirty="0" smtClean="0"/>
            </a:br>
            <a:endParaRPr lang="en-US" sz="1200" b="0" i="0" kern="1200" dirty="0" smtClean="0">
              <a:solidFill>
                <a:schemeClr val="tx1"/>
              </a:solidFill>
              <a:effectLst/>
              <a:latin typeface="+mn-lt"/>
              <a:ea typeface="+mn-ea"/>
              <a:cs typeface="+mn-cs"/>
            </a:endParaRPr>
          </a:p>
          <a:p>
            <a:r>
              <a:rPr lang="en-US" sz="1200" b="0" i="0" kern="1200" dirty="0" err="1" smtClean="0">
                <a:solidFill>
                  <a:schemeClr val="tx1"/>
                </a:solidFill>
                <a:effectLst/>
                <a:latin typeface="+mn-lt"/>
                <a:ea typeface="+mn-ea"/>
                <a:cs typeface="+mn-cs"/>
              </a:rPr>
              <a:t>Paracrises</a:t>
            </a:r>
            <a:r>
              <a:rPr lang="en-US" sz="1200" b="0" i="0" kern="1200" dirty="0" smtClean="0">
                <a:solidFill>
                  <a:schemeClr val="tx1"/>
                </a:solidFill>
                <a:effectLst/>
                <a:latin typeface="+mn-lt"/>
                <a:ea typeface="+mn-ea"/>
                <a:cs typeface="+mn-cs"/>
              </a:rPr>
              <a:t> that emerge in digital communication channels and platforms such as social media are unique crisis</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warning signs because they appear in full view of stakeholders. Typically, crisis prevention efforts are invisible to stakeholders =&gt; Visibility is what gives a </a:t>
            </a:r>
            <a:r>
              <a:rPr lang="en-US" sz="1200" b="0" i="0" kern="1200" dirty="0" err="1" smtClean="0">
                <a:solidFill>
                  <a:schemeClr val="tx1"/>
                </a:solidFill>
                <a:effectLst/>
                <a:latin typeface="+mn-lt"/>
                <a:ea typeface="+mn-ea"/>
                <a:cs typeface="+mn-cs"/>
              </a:rPr>
              <a:t>paracrisis</a:t>
            </a:r>
            <a:r>
              <a:rPr lang="en-US" sz="1200" b="0" i="0" kern="1200" dirty="0" smtClean="0">
                <a:solidFill>
                  <a:schemeClr val="tx1"/>
                </a:solidFill>
                <a:effectLst/>
                <a:latin typeface="+mn-lt"/>
                <a:ea typeface="+mn-ea"/>
                <a:cs typeface="+mn-cs"/>
              </a:rPr>
              <a:t> its impact. </a:t>
            </a:r>
          </a:p>
          <a:p>
            <a:r>
              <a:rPr lang="en-US" sz="1200" b="0" i="0" kern="1200" dirty="0" smtClean="0">
                <a:solidFill>
                  <a:schemeClr val="tx1"/>
                </a:solidFill>
                <a:effectLst/>
                <a:latin typeface="+mn-lt"/>
                <a:ea typeface="+mn-ea"/>
                <a:cs typeface="+mn-cs"/>
              </a:rPr>
              <a:t>The public appearance of the </a:t>
            </a:r>
            <a:r>
              <a:rPr lang="en-US" sz="1200" b="0" i="0" kern="1200" dirty="0" err="1" smtClean="0">
                <a:solidFill>
                  <a:schemeClr val="tx1"/>
                </a:solidFill>
                <a:effectLst/>
                <a:latin typeface="+mn-lt"/>
                <a:ea typeface="+mn-ea"/>
                <a:cs typeface="+mn-cs"/>
              </a:rPr>
              <a:t>paracrisis</a:t>
            </a:r>
            <a:r>
              <a:rPr lang="en-US" sz="1200" b="0" i="0" kern="1200" dirty="0" smtClean="0">
                <a:solidFill>
                  <a:schemeClr val="tx1"/>
                </a:solidFill>
                <a:effectLst/>
                <a:latin typeface="+mn-lt"/>
                <a:ea typeface="+mn-ea"/>
                <a:cs typeface="+mn-cs"/>
              </a:rPr>
              <a:t> demands public management. Managers must explain to all stakeholders what is being done to address the concern or why they are choosing to ignore it. </a:t>
            </a: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paracrisis</a:t>
            </a:r>
            <a:r>
              <a:rPr lang="en-US" sz="1200" b="0" i="0" kern="1200" dirty="0" smtClean="0">
                <a:solidFill>
                  <a:schemeClr val="tx1"/>
                </a:solidFill>
                <a:effectLst/>
                <a:latin typeface="+mn-lt"/>
                <a:ea typeface="+mn-ea"/>
                <a:cs typeface="+mn-cs"/>
              </a:rPr>
              <a:t> blurs the line between </a:t>
            </a:r>
            <a:r>
              <a:rPr lang="en-US" sz="1200" b="0" i="0" kern="1200" dirty="0" err="1" smtClean="0">
                <a:solidFill>
                  <a:schemeClr val="tx1"/>
                </a:solidFill>
                <a:effectLst/>
                <a:latin typeface="+mn-lt"/>
                <a:ea typeface="+mn-ea"/>
                <a:cs typeface="+mn-cs"/>
              </a:rPr>
              <a:t>precrisis</a:t>
            </a:r>
            <a:r>
              <a:rPr lang="en-US" sz="1200" b="0" i="0" kern="1200" dirty="0" smtClean="0">
                <a:solidFill>
                  <a:schemeClr val="tx1"/>
                </a:solidFill>
                <a:effectLst/>
                <a:latin typeface="+mn-lt"/>
                <a:ea typeface="+mn-ea"/>
                <a:cs typeface="+mn-cs"/>
              </a:rPr>
              <a:t> and crisis response because addressing the </a:t>
            </a:r>
            <a:r>
              <a:rPr lang="en-US" sz="1200" b="0" i="0" kern="1200" dirty="0" err="1" smtClean="0">
                <a:solidFill>
                  <a:schemeClr val="tx1"/>
                </a:solidFill>
                <a:effectLst/>
                <a:latin typeface="+mn-lt"/>
                <a:ea typeface="+mn-ea"/>
                <a:cs typeface="+mn-cs"/>
              </a:rPr>
              <a:t>paracrisis</a:t>
            </a:r>
            <a:r>
              <a:rPr lang="en-US" sz="1200" b="0" i="0" kern="1200" dirty="0" smtClean="0">
                <a:solidFill>
                  <a:schemeClr val="tx1"/>
                </a:solidFill>
                <a:effectLst/>
                <a:latin typeface="+mn-lt"/>
                <a:ea typeface="+mn-ea"/>
                <a:cs typeface="+mn-cs"/>
              </a:rPr>
              <a:t> can appear to be a crisis response rather than preventative action.</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The key point here is that the digital communication channels and platforms increase the visibility and number of </a:t>
            </a:r>
            <a:r>
              <a:rPr lang="en-US" sz="1200" b="0" i="0" kern="1200" dirty="0" err="1" smtClean="0">
                <a:solidFill>
                  <a:schemeClr val="tx1"/>
                </a:solidFill>
                <a:effectLst/>
                <a:latin typeface="+mn-lt"/>
                <a:ea typeface="+mn-ea"/>
                <a:cs typeface="+mn-cs"/>
              </a:rPr>
              <a:t>paracrises</a:t>
            </a:r>
            <a:r>
              <a:rPr lang="en-US" sz="1200" b="0" i="0" kern="1200" dirty="0" smtClean="0">
                <a:solidFill>
                  <a:schemeClr val="tx1"/>
                </a:solidFill>
                <a:effectLst/>
                <a:latin typeface="+mn-lt"/>
                <a:ea typeface="+mn-ea"/>
                <a:cs typeface="+mn-cs"/>
              </a:rPr>
              <a:t> because the Internet can highlight the stakeholder concerns that drive </a:t>
            </a:r>
            <a:r>
              <a:rPr lang="en-US" sz="1200" b="0" i="0" kern="1200" dirty="0" err="1" smtClean="0">
                <a:solidFill>
                  <a:schemeClr val="tx1"/>
                </a:solidFill>
                <a:effectLst/>
                <a:latin typeface="+mn-lt"/>
                <a:ea typeface="+mn-ea"/>
                <a:cs typeface="+mn-cs"/>
              </a:rPr>
              <a:t>paracrises</a:t>
            </a:r>
            <a:r>
              <a:rPr lang="en-US" sz="1200" b="0" i="0" kern="1200" dirty="0" smtClean="0">
                <a:solidFill>
                  <a:schemeClr val="tx1"/>
                </a:solidFill>
                <a:effectLst/>
                <a:latin typeface="+mn-lt"/>
                <a:ea typeface="+mn-ea"/>
                <a:cs typeface="+mn-cs"/>
              </a:rPr>
              <a:t>.</a:t>
            </a:r>
            <a:r>
              <a:rPr lang="en-US" dirty="0" smtClean="0"/>
              <a:t> </a:t>
            </a:r>
            <a:br>
              <a:rPr lang="en-US" dirty="0" smtClean="0"/>
            </a:br>
            <a:r>
              <a:rPr lang="en-US" dirty="0" smtClean="0"/>
              <a:t/>
            </a:r>
            <a:br>
              <a:rPr lang="en-US" dirty="0" smtClean="0"/>
            </a:br>
            <a:r>
              <a:rPr lang="en-US" dirty="0" smtClean="0"/>
              <a:t/>
            </a:r>
            <a:br>
              <a:rPr lang="en-US" dirty="0" smtClean="0"/>
            </a:br>
            <a:endParaRPr lang="en-US" dirty="0" smtClean="0"/>
          </a:p>
          <a:p>
            <a:endParaRPr lang="en-US" dirty="0" smtClean="0"/>
          </a:p>
          <a:p>
            <a:r>
              <a:rPr lang="en-US" dirty="0" smtClean="0"/>
              <a:t/>
            </a:r>
            <a:br>
              <a:rPr lang="en-US" dirty="0" smtClean="0"/>
            </a:br>
            <a:r>
              <a:rPr lang="en-US" sz="1200" b="0" i="0" kern="1200" dirty="0" smtClean="0">
                <a:solidFill>
                  <a:schemeClr val="tx1"/>
                </a:solidFill>
                <a:effectLst/>
                <a:latin typeface="+mn-lt"/>
                <a:ea typeface="+mn-ea"/>
                <a:cs typeface="+mn-cs"/>
              </a:rPr>
              <a:t> </a:t>
            </a:r>
          </a:p>
          <a:p>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F68FFD5-9301-472E-B081-127C8A88FCED}" type="slidenum">
              <a:rPr lang="en-US" smtClean="0"/>
              <a:t>17</a:t>
            </a:fld>
            <a:endParaRPr lang="en-US"/>
          </a:p>
        </p:txBody>
      </p:sp>
    </p:spTree>
    <p:extLst>
      <p:ext uri="{BB962C8B-B14F-4D97-AF65-F5344CB8AC3E}">
        <p14:creationId xmlns:p14="http://schemas.microsoft.com/office/powerpoint/2010/main" val="2425260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68FFD5-9301-472E-B081-127C8A88FCED}" type="slidenum">
              <a:rPr lang="en-US" smtClean="0"/>
              <a:t>19</a:t>
            </a:fld>
            <a:endParaRPr lang="en-US"/>
          </a:p>
        </p:txBody>
      </p:sp>
    </p:spTree>
    <p:extLst>
      <p:ext uri="{BB962C8B-B14F-4D97-AF65-F5344CB8AC3E}">
        <p14:creationId xmlns:p14="http://schemas.microsoft.com/office/powerpoint/2010/main" val="18548436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68FFD5-9301-472E-B081-127C8A88FCED}" type="slidenum">
              <a:rPr lang="en-US" smtClean="0"/>
              <a:t>20</a:t>
            </a:fld>
            <a:endParaRPr lang="en-US"/>
          </a:p>
        </p:txBody>
      </p:sp>
    </p:spTree>
    <p:extLst>
      <p:ext uri="{BB962C8B-B14F-4D97-AF65-F5344CB8AC3E}">
        <p14:creationId xmlns:p14="http://schemas.microsoft.com/office/powerpoint/2010/main" val="268271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68FFD5-9301-472E-B081-127C8A88FCED}" type="slidenum">
              <a:rPr lang="en-US" smtClean="0"/>
              <a:t>21</a:t>
            </a:fld>
            <a:endParaRPr lang="en-US"/>
          </a:p>
        </p:txBody>
      </p:sp>
    </p:spTree>
    <p:extLst>
      <p:ext uri="{BB962C8B-B14F-4D97-AF65-F5344CB8AC3E}">
        <p14:creationId xmlns:p14="http://schemas.microsoft.com/office/powerpoint/2010/main" val="32495794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Preparation is the best-known factor in crisis management because it includes the crisis communication plan (CCP). If people know nothing else about crisis management, they know an organization should have a CCP. The CCP is the tip of the crisis management iceberg. Although people think the CCP is the crisis management process, in actuality, most of the process is unseen. </a:t>
            </a:r>
          </a:p>
        </p:txBody>
      </p:sp>
      <p:sp>
        <p:nvSpPr>
          <p:cNvPr id="4" name="Slide Number Placeholder 3"/>
          <p:cNvSpPr>
            <a:spLocks noGrp="1"/>
          </p:cNvSpPr>
          <p:nvPr>
            <p:ph type="sldNum" sz="quarter" idx="10"/>
          </p:nvPr>
        </p:nvSpPr>
        <p:spPr/>
        <p:txBody>
          <a:bodyPr/>
          <a:lstStyle/>
          <a:p>
            <a:fld id="{5F68FFD5-9301-472E-B081-127C8A88FCED}" type="slidenum">
              <a:rPr lang="en-US" smtClean="0"/>
              <a:t>22</a:t>
            </a:fld>
            <a:endParaRPr lang="en-US"/>
          </a:p>
        </p:txBody>
      </p:sp>
    </p:spTree>
    <p:extLst>
      <p:ext uri="{BB962C8B-B14F-4D97-AF65-F5344CB8AC3E}">
        <p14:creationId xmlns:p14="http://schemas.microsoft.com/office/powerpoint/2010/main" val="21566859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68FFD5-9301-472E-B081-127C8A88FCED}" type="slidenum">
              <a:rPr lang="en-US" smtClean="0"/>
              <a:t>23</a:t>
            </a:fld>
            <a:endParaRPr lang="en-US"/>
          </a:p>
        </p:txBody>
      </p:sp>
    </p:spTree>
    <p:extLst>
      <p:ext uri="{BB962C8B-B14F-4D97-AF65-F5344CB8AC3E}">
        <p14:creationId xmlns:p14="http://schemas.microsoft.com/office/powerpoint/2010/main" val="41328459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Crises make for good news stories.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Organizations try to limit the threat to public safety, reputational erosion, brand damage, and loss of sales, to name but a few of the common crisis communication objectives. </a:t>
            </a:r>
          </a:p>
          <a:p>
            <a:r>
              <a:rPr lang="en-US" sz="1200" b="0" i="0" kern="1200" dirty="0" smtClean="0">
                <a:solidFill>
                  <a:schemeClr val="tx1"/>
                </a:solidFill>
                <a:effectLst/>
                <a:latin typeface="+mn-lt"/>
                <a:ea typeface="+mn-ea"/>
                <a:cs typeface="+mn-cs"/>
              </a:rPr>
              <a:t>There is even a chance that the response leads to an improved organization. Improvements can include a stronger reputation, a more powerful brand, and changes to the organization that make it a safer place to work.</a:t>
            </a:r>
            <a:r>
              <a:rPr lang="en-US" dirty="0" smtClean="0"/>
              <a:t> </a:t>
            </a:r>
            <a:br>
              <a:rPr lang="en-US" dirty="0" smtClean="0"/>
            </a:br>
            <a:r>
              <a:rPr lang="en-US" dirty="0" smtClean="0"/>
              <a:t/>
            </a:r>
            <a:br>
              <a:rPr lang="en-US" dirty="0" smtClean="0"/>
            </a:br>
            <a:r>
              <a:rPr lang="en-US" sz="1200" b="0" i="0" kern="1200" dirty="0" smtClean="0">
                <a:solidFill>
                  <a:schemeClr val="tx1"/>
                </a:solidFill>
                <a:effectLst/>
                <a:latin typeface="+mn-lt"/>
                <a:ea typeface="+mn-ea"/>
                <a:cs typeface="+mn-cs"/>
              </a:rPr>
              <a:t>Part of the response is </a:t>
            </a:r>
            <a:r>
              <a:rPr lang="en-US" sz="1200" b="0" i="1" kern="1200" dirty="0" smtClean="0">
                <a:solidFill>
                  <a:schemeClr val="tx1"/>
                </a:solidFill>
                <a:effectLst/>
                <a:latin typeface="+mn-lt"/>
                <a:ea typeface="+mn-ea"/>
                <a:cs typeface="+mn-cs"/>
              </a:rPr>
              <a:t>recovery</a:t>
            </a:r>
            <a:r>
              <a:rPr lang="en-US" sz="1200" b="0" i="0" kern="1200" dirty="0" smtClean="0">
                <a:solidFill>
                  <a:schemeClr val="tx1"/>
                </a:solidFill>
                <a:effectLst/>
                <a:latin typeface="+mn-lt"/>
                <a:ea typeface="+mn-ea"/>
                <a:cs typeface="+mn-cs"/>
              </a:rPr>
              <a:t>, which denotes the organization’s attempts to return to normal operations as soon</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as possible following a crisis. </a:t>
            </a:r>
            <a:r>
              <a:rPr lang="en-US" sz="1200" b="0" i="1" kern="1200" dirty="0" smtClean="0">
                <a:solidFill>
                  <a:schemeClr val="tx1"/>
                </a:solidFill>
                <a:effectLst/>
                <a:latin typeface="+mn-lt"/>
                <a:ea typeface="+mn-ea"/>
                <a:cs typeface="+mn-cs"/>
              </a:rPr>
              <a:t>Business continuity</a:t>
            </a:r>
            <a:r>
              <a:rPr lang="en-US" sz="1200" b="0" i="0" kern="1200" dirty="0" smtClean="0">
                <a:solidFill>
                  <a:schemeClr val="tx1"/>
                </a:solidFill>
                <a:effectLst/>
                <a:latin typeface="+mn-lt"/>
                <a:ea typeface="+mn-ea"/>
                <a:cs typeface="+mn-cs"/>
              </a:rPr>
              <a:t> is the name used to cover the efforts to restore operations to normal. As noted earlier, downtime from a crisis is a financial drain. The quicker an organization can return to normal operations, the fewer financial losses it will incur.</a:t>
            </a:r>
            <a:r>
              <a:rPr lang="en-US" dirty="0" smtClean="0"/>
              <a:t> </a:t>
            </a:r>
            <a:br>
              <a:rPr lang="en-US" dirty="0" smtClean="0"/>
            </a:br>
            <a:endParaRPr lang="en-US" dirty="0"/>
          </a:p>
        </p:txBody>
      </p:sp>
      <p:sp>
        <p:nvSpPr>
          <p:cNvPr id="4" name="Slide Number Placeholder 3"/>
          <p:cNvSpPr>
            <a:spLocks noGrp="1"/>
          </p:cNvSpPr>
          <p:nvPr>
            <p:ph type="sldNum" sz="quarter" idx="10"/>
          </p:nvPr>
        </p:nvSpPr>
        <p:spPr/>
        <p:txBody>
          <a:bodyPr/>
          <a:lstStyle/>
          <a:p>
            <a:fld id="{5F68FFD5-9301-472E-B081-127C8A88FCED}" type="slidenum">
              <a:rPr lang="en-US" smtClean="0"/>
              <a:t>24</a:t>
            </a:fld>
            <a:endParaRPr lang="en-US"/>
          </a:p>
        </p:txBody>
      </p:sp>
    </p:spTree>
    <p:extLst>
      <p:ext uri="{BB962C8B-B14F-4D97-AF65-F5344CB8AC3E}">
        <p14:creationId xmlns:p14="http://schemas.microsoft.com/office/powerpoint/2010/main" val="32002303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Revision involves evaluation of the organization’s response in simulated and real crises, determining what it did right and what it did wrong during its crisis management performance. </a:t>
            </a:r>
          </a:p>
          <a:p>
            <a:r>
              <a:rPr lang="en-US" sz="1200" b="0" i="0" kern="1200" dirty="0" smtClean="0">
                <a:solidFill>
                  <a:schemeClr val="tx1"/>
                </a:solidFill>
                <a:effectLst/>
                <a:latin typeface="+mn-lt"/>
                <a:ea typeface="+mn-ea"/>
                <a:cs typeface="+mn-cs"/>
              </a:rPr>
              <a:t>The</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organization uses this insight to revise its prevention, preparation, and response efforts. Ideally, in the future, the right moves are replayed while the mistakes are avoided and replaced by more appropriate actions. </a:t>
            </a:r>
          </a:p>
          <a:p>
            <a:r>
              <a:rPr lang="en-US" sz="1200" b="0" i="0" kern="1200" dirty="0" smtClean="0">
                <a:solidFill>
                  <a:schemeClr val="tx1"/>
                </a:solidFill>
                <a:effectLst/>
                <a:latin typeface="+mn-lt"/>
                <a:ea typeface="+mn-ea"/>
                <a:cs typeface="+mn-cs"/>
              </a:rPr>
              <a:t>Revision is</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the development of an institutional or organizational memory, which can improve the effectiveness of crisis management by expanding the organization’s perception of crises and its response capacity. The more and varied the crises an organization experiences through practice sessions, the better it can handle similar situations in reality. </a:t>
            </a:r>
            <a:r>
              <a:rPr lang="en-US" dirty="0" smtClean="0"/>
              <a:t/>
            </a:r>
            <a:br>
              <a:rPr lang="en-US" dirty="0" smtClean="0"/>
            </a:br>
            <a:r>
              <a:rPr lang="en-US" sz="1200" b="0" i="0" kern="1200" dirty="0" smtClean="0">
                <a:solidFill>
                  <a:schemeClr val="tx1"/>
                </a:solidFill>
                <a:effectLst/>
                <a:latin typeface="+mn-lt"/>
                <a:ea typeface="+mn-ea"/>
                <a:cs typeface="+mn-cs"/>
              </a:rPr>
              <a:t> </a:t>
            </a:r>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5F68FFD5-9301-472E-B081-127C8A88FCED}" type="slidenum">
              <a:rPr lang="en-US" smtClean="0"/>
              <a:t>25</a:t>
            </a:fld>
            <a:endParaRPr lang="en-US"/>
          </a:p>
        </p:txBody>
      </p:sp>
    </p:spTree>
    <p:extLst>
      <p:ext uri="{BB962C8B-B14F-4D97-AF65-F5344CB8AC3E}">
        <p14:creationId xmlns:p14="http://schemas.microsoft.com/office/powerpoint/2010/main" val="18248124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Effective crisis management must be integrated into the normal operations of an organization</a:t>
            </a:r>
          </a:p>
          <a:p>
            <a:r>
              <a:rPr lang="en-US" dirty="0" smtClean="0"/>
              <a:t>Crisis management is not merely developing a plan and executing it during a crisis. Instead, it is appropriately viewed as an ongoing process. </a:t>
            </a:r>
            <a:endParaRPr lang="vi-VN" dirty="0"/>
          </a:p>
        </p:txBody>
      </p:sp>
      <p:sp>
        <p:nvSpPr>
          <p:cNvPr id="4" name="Slide Number Placeholder 3"/>
          <p:cNvSpPr>
            <a:spLocks noGrp="1"/>
          </p:cNvSpPr>
          <p:nvPr>
            <p:ph type="sldNum" sz="quarter" idx="10"/>
          </p:nvPr>
        </p:nvSpPr>
        <p:spPr/>
        <p:txBody>
          <a:bodyPr/>
          <a:lstStyle/>
          <a:p>
            <a:fld id="{5F68FFD5-9301-472E-B081-127C8A88FCED}" type="slidenum">
              <a:rPr lang="en-US" smtClean="0"/>
              <a:t>26</a:t>
            </a:fld>
            <a:endParaRPr lang="en-US"/>
          </a:p>
        </p:txBody>
      </p:sp>
    </p:spTree>
    <p:extLst>
      <p:ext uri="{BB962C8B-B14F-4D97-AF65-F5344CB8AC3E}">
        <p14:creationId xmlns:p14="http://schemas.microsoft.com/office/powerpoint/2010/main" val="6712621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5F68FFD5-9301-472E-B081-127C8A88FCED}" type="slidenum">
              <a:rPr lang="en-US" smtClean="0"/>
              <a:t>27</a:t>
            </a:fld>
            <a:endParaRPr lang="en-US"/>
          </a:p>
        </p:txBody>
      </p:sp>
    </p:spTree>
    <p:extLst>
      <p:ext uri="{BB962C8B-B14F-4D97-AF65-F5344CB8AC3E}">
        <p14:creationId xmlns:p14="http://schemas.microsoft.com/office/powerpoint/2010/main" val="13715372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Fink uses a medical illness metaphor to identify four stages in the crisis life cycle: </a:t>
            </a:r>
          </a:p>
          <a:p>
            <a:r>
              <a:rPr lang="en-US" dirty="0" smtClean="0"/>
              <a:t>(1) Prodromal: clues or hints of a potential crisis begin to emerge; </a:t>
            </a:r>
          </a:p>
          <a:p>
            <a:r>
              <a:rPr lang="en-US" dirty="0" smtClean="0"/>
              <a:t>(2) Crisis breakout or acute: a triggering event occurs along with the attendant damage; </a:t>
            </a:r>
          </a:p>
          <a:p>
            <a:r>
              <a:rPr lang="en-US" dirty="0" smtClean="0"/>
              <a:t>(3) Chronic: the effects of the crisis linger as efforts to clean up the crisis progress; </a:t>
            </a:r>
          </a:p>
          <a:p>
            <a:r>
              <a:rPr lang="en-US" dirty="0" smtClean="0"/>
              <a:t>(4) resolution: there is some clear signal that the crisis is no longer a concern to stakeholders—it is over.</a:t>
            </a:r>
          </a:p>
          <a:p>
            <a:endParaRPr lang="en-US" dirty="0" smtClean="0"/>
          </a:p>
          <a:p>
            <a:r>
              <a:rPr lang="en-US" sz="1200" b="0" i="0" kern="1200" dirty="0" err="1" smtClean="0">
                <a:solidFill>
                  <a:schemeClr val="tx1"/>
                </a:solidFill>
                <a:effectLst/>
                <a:latin typeface="+mn-lt"/>
                <a:ea typeface="+mn-ea"/>
                <a:cs typeface="+mn-cs"/>
              </a:rPr>
              <a:t>lan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Mitroff</a:t>
            </a:r>
            <a:r>
              <a:rPr lang="en-US" sz="1200" b="0" i="0" kern="1200" dirty="0" smtClean="0">
                <a:solidFill>
                  <a:schemeClr val="tx1"/>
                </a:solidFill>
                <a:effectLst/>
                <a:latin typeface="+mn-lt"/>
                <a:ea typeface="+mn-ea"/>
                <a:cs typeface="+mn-cs"/>
              </a:rPr>
              <a:t> (1994) divides crisis management into five phases: </a:t>
            </a:r>
          </a:p>
          <a:p>
            <a:pPr marL="228600" indent="-228600">
              <a:buAutoNum type="arabicParenBoth"/>
            </a:pPr>
            <a:r>
              <a:rPr lang="en-US" sz="1200" b="0" i="0" kern="1200" dirty="0" smtClean="0">
                <a:solidFill>
                  <a:schemeClr val="tx1"/>
                </a:solidFill>
                <a:effectLst/>
                <a:latin typeface="+mn-lt"/>
                <a:ea typeface="+mn-ea"/>
                <a:cs typeface="+mn-cs"/>
              </a:rPr>
              <a:t>signal detection: new crisis warning signs should be identified and acted upon</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to prevent a crisis; </a:t>
            </a:r>
          </a:p>
          <a:p>
            <a:pPr marL="228600" indent="-228600">
              <a:buAutoNum type="arabicParenBoth"/>
            </a:pPr>
            <a:r>
              <a:rPr lang="en-US" sz="1200" b="0" i="0" kern="1200" dirty="0" smtClean="0">
                <a:solidFill>
                  <a:schemeClr val="tx1"/>
                </a:solidFill>
                <a:effectLst/>
                <a:latin typeface="+mn-lt"/>
                <a:ea typeface="+mn-ea"/>
                <a:cs typeface="+mn-cs"/>
              </a:rPr>
              <a:t>probing and prevention: organization members search known crisis risk factors and work to</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reduce their potential for harm; </a:t>
            </a:r>
          </a:p>
          <a:p>
            <a:pPr marL="228600" indent="-228600">
              <a:buAutoNum type="arabicParenBoth"/>
            </a:pPr>
            <a:r>
              <a:rPr lang="en-US" sz="1200" b="0" i="0" kern="1200" dirty="0" smtClean="0">
                <a:solidFill>
                  <a:schemeClr val="tx1"/>
                </a:solidFill>
                <a:effectLst/>
                <a:latin typeface="+mn-lt"/>
                <a:ea typeface="+mn-ea"/>
                <a:cs typeface="+mn-cs"/>
              </a:rPr>
              <a:t>damage containment: a crisis hits and organization members try to prevent the damage from spreading into uncontaminated parts of the organization or its environment; </a:t>
            </a:r>
          </a:p>
          <a:p>
            <a:pPr marL="228600" indent="-228600">
              <a:buAutoNum type="arabicParenBoth"/>
            </a:pPr>
            <a:r>
              <a:rPr lang="en-US" sz="1200" b="0" i="0" kern="1200" dirty="0" smtClean="0">
                <a:solidFill>
                  <a:schemeClr val="tx1"/>
                </a:solidFill>
                <a:effectLst/>
                <a:latin typeface="+mn-lt"/>
                <a:ea typeface="+mn-ea"/>
                <a:cs typeface="+mn-cs"/>
              </a:rPr>
              <a:t>recovery: organization members work to return to normal business operations as soon as possible; </a:t>
            </a:r>
          </a:p>
          <a:p>
            <a:pPr marL="228600" indent="-228600">
              <a:buAutoNum type="arabicParenBoth"/>
            </a:pPr>
            <a:r>
              <a:rPr lang="en-US" sz="1200" b="0" i="0" kern="1200" dirty="0" smtClean="0">
                <a:solidFill>
                  <a:schemeClr val="tx1"/>
                </a:solidFill>
                <a:effectLst/>
                <a:latin typeface="+mn-lt"/>
                <a:ea typeface="+mn-ea"/>
                <a:cs typeface="+mn-cs"/>
              </a:rPr>
              <a:t>learning: organization members review and critique their crisis management efforts, thereby adding to the organization’s</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memory.</a:t>
            </a:r>
            <a:r>
              <a:rPr lang="en-US" dirty="0" smtClean="0"/>
              <a:t> </a:t>
            </a:r>
            <a:br>
              <a:rPr lang="en-US" dirty="0" smtClean="0"/>
            </a:br>
            <a:endParaRPr lang="vi-VN" dirty="0"/>
          </a:p>
        </p:txBody>
      </p:sp>
      <p:sp>
        <p:nvSpPr>
          <p:cNvPr id="4" name="Slide Number Placeholder 3"/>
          <p:cNvSpPr>
            <a:spLocks noGrp="1"/>
          </p:cNvSpPr>
          <p:nvPr>
            <p:ph type="sldNum" sz="quarter" idx="10"/>
          </p:nvPr>
        </p:nvSpPr>
        <p:spPr/>
        <p:txBody>
          <a:bodyPr/>
          <a:lstStyle/>
          <a:p>
            <a:fld id="{5F68FFD5-9301-472E-B081-127C8A88FCED}" type="slidenum">
              <a:rPr lang="en-US" smtClean="0"/>
              <a:t>28</a:t>
            </a:fld>
            <a:endParaRPr lang="en-US"/>
          </a:p>
        </p:txBody>
      </p:sp>
    </p:spTree>
    <p:extLst>
      <p:ext uri="{BB962C8B-B14F-4D97-AF65-F5344CB8AC3E}">
        <p14:creationId xmlns:p14="http://schemas.microsoft.com/office/powerpoint/2010/main" val="19785508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three-stage model has no clearly identifiable creator but has been recommended by a variety of crisis</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management experts (e.g., Birch, 1994; </a:t>
            </a:r>
            <a:r>
              <a:rPr lang="en-US" sz="1200" b="0" i="0" kern="1200" dirty="0" err="1" smtClean="0">
                <a:solidFill>
                  <a:schemeClr val="tx1"/>
                </a:solidFill>
                <a:effectLst/>
                <a:latin typeface="+mn-lt"/>
                <a:ea typeface="+mn-ea"/>
                <a:cs typeface="+mn-cs"/>
              </a:rPr>
              <a:t>Guth</a:t>
            </a:r>
            <a:r>
              <a:rPr lang="en-US" sz="1200" b="0" i="0" kern="1200" dirty="0" smtClean="0">
                <a:solidFill>
                  <a:schemeClr val="tx1"/>
                </a:solidFill>
                <a:effectLst/>
                <a:latin typeface="+mn-lt"/>
                <a:ea typeface="+mn-ea"/>
                <a:cs typeface="+mn-cs"/>
              </a:rPr>
              <a:t>, 1995; Mitchell, 1986; Seeger, </a:t>
            </a:r>
            <a:r>
              <a:rPr lang="en-US" sz="1200" b="0" i="0" kern="1200" dirty="0" err="1" smtClean="0">
                <a:solidFill>
                  <a:schemeClr val="tx1"/>
                </a:solidFill>
                <a:effectLst/>
                <a:latin typeface="+mn-lt"/>
                <a:ea typeface="+mn-ea"/>
                <a:cs typeface="+mn-cs"/>
              </a:rPr>
              <a:t>Sellnow</a:t>
            </a:r>
            <a:r>
              <a:rPr lang="en-US" sz="1200" b="0" i="0" kern="1200" dirty="0" smtClean="0">
                <a:solidFill>
                  <a:schemeClr val="tx1"/>
                </a:solidFill>
                <a:effectLst/>
                <a:latin typeface="+mn-lt"/>
                <a:ea typeface="+mn-ea"/>
                <a:cs typeface="+mn-cs"/>
              </a:rPr>
              <a:t>, &amp; Ulmer, 2003). However, Richardson (1994) provides the first detailed discussion of its components: </a:t>
            </a:r>
          </a:p>
          <a:p>
            <a:pPr marL="228600" indent="-228600">
              <a:buAutoNum type="arabicParenBoth"/>
            </a:pPr>
            <a:r>
              <a:rPr lang="en-US" sz="1200" b="0" i="0" kern="1200" dirty="0" err="1" smtClean="0">
                <a:solidFill>
                  <a:schemeClr val="tx1"/>
                </a:solidFill>
                <a:effectLst/>
                <a:latin typeface="+mn-lt"/>
                <a:ea typeface="+mn-ea"/>
                <a:cs typeface="+mn-cs"/>
              </a:rPr>
              <a:t>precrisis</a:t>
            </a:r>
            <a:r>
              <a:rPr lang="en-US" sz="1200" b="0" i="0" kern="1200" dirty="0" smtClean="0">
                <a:solidFill>
                  <a:schemeClr val="tx1"/>
                </a:solidFill>
                <a:effectLst/>
                <a:latin typeface="+mn-lt"/>
                <a:ea typeface="+mn-ea"/>
                <a:cs typeface="+mn-cs"/>
              </a:rPr>
              <a:t> or </a:t>
            </a:r>
            <a:r>
              <a:rPr lang="en-US" sz="1200" b="0" i="0" kern="1200" dirty="0" err="1" smtClean="0">
                <a:solidFill>
                  <a:schemeClr val="tx1"/>
                </a:solidFill>
                <a:effectLst/>
                <a:latin typeface="+mn-lt"/>
                <a:ea typeface="+mn-ea"/>
                <a:cs typeface="+mn-cs"/>
              </a:rPr>
              <a:t>predisaster</a:t>
            </a:r>
            <a:r>
              <a:rPr lang="en-US" sz="1200" b="0" i="0" kern="1200" dirty="0" smtClean="0">
                <a:solidFill>
                  <a:schemeClr val="tx1"/>
                </a:solidFill>
                <a:effectLst/>
                <a:latin typeface="+mn-lt"/>
                <a:ea typeface="+mn-ea"/>
                <a:cs typeface="+mn-cs"/>
              </a:rPr>
              <a:t> phase:</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warning signs appear and people try to eliminate the risk; </a:t>
            </a:r>
          </a:p>
          <a:p>
            <a:pPr marL="228600" indent="-228600">
              <a:buAutoNum type="arabicParenBoth"/>
            </a:pPr>
            <a:r>
              <a:rPr lang="en-US" sz="1200" b="0" i="0" kern="1200" dirty="0" smtClean="0">
                <a:solidFill>
                  <a:schemeClr val="tx1"/>
                </a:solidFill>
                <a:effectLst/>
                <a:latin typeface="+mn-lt"/>
                <a:ea typeface="+mn-ea"/>
                <a:cs typeface="+mn-cs"/>
              </a:rPr>
              <a:t>crisis impact or rescue phase: the crisis hits and support is provided for those involved in it; </a:t>
            </a:r>
          </a:p>
          <a:p>
            <a:pPr marL="228600" indent="-228600">
              <a:buAutoNum type="arabicParenBoth"/>
            </a:pPr>
            <a:r>
              <a:rPr lang="en-US" sz="1200" b="0" i="0" kern="1200" dirty="0" smtClean="0">
                <a:solidFill>
                  <a:schemeClr val="tx1"/>
                </a:solidFill>
                <a:effectLst/>
                <a:latin typeface="+mn-lt"/>
                <a:ea typeface="+mn-ea"/>
                <a:cs typeface="+mn-cs"/>
              </a:rPr>
              <a:t>recovery or demise phase: stakeholder confidence is restored.</a:t>
            </a:r>
            <a:r>
              <a:rPr lang="en-US" dirty="0" smtClean="0"/>
              <a:t> </a:t>
            </a:r>
            <a:br>
              <a:rPr lang="en-US" dirty="0" smtClean="0"/>
            </a:br>
            <a:endParaRPr lang="vi-VN" dirty="0"/>
          </a:p>
        </p:txBody>
      </p:sp>
      <p:sp>
        <p:nvSpPr>
          <p:cNvPr id="4" name="Slide Number Placeholder 3"/>
          <p:cNvSpPr>
            <a:spLocks noGrp="1"/>
          </p:cNvSpPr>
          <p:nvPr>
            <p:ph type="sldNum" sz="quarter" idx="10"/>
          </p:nvPr>
        </p:nvSpPr>
        <p:spPr/>
        <p:txBody>
          <a:bodyPr/>
          <a:lstStyle/>
          <a:p>
            <a:fld id="{5F68FFD5-9301-472E-B081-127C8A88FCED}" type="slidenum">
              <a:rPr lang="en-US" smtClean="0"/>
              <a:t>29</a:t>
            </a:fld>
            <a:endParaRPr lang="en-US"/>
          </a:p>
        </p:txBody>
      </p:sp>
    </p:spTree>
    <p:extLst>
      <p:ext uri="{BB962C8B-B14F-4D97-AF65-F5344CB8AC3E}">
        <p14:creationId xmlns:p14="http://schemas.microsoft.com/office/powerpoint/2010/main" val="6986274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5F68FFD5-9301-472E-B081-127C8A88FCED}" type="slidenum">
              <a:rPr lang="en-US" smtClean="0"/>
              <a:t>30</a:t>
            </a:fld>
            <a:endParaRPr lang="en-US"/>
          </a:p>
        </p:txBody>
      </p:sp>
    </p:spTree>
    <p:extLst>
      <p:ext uri="{BB962C8B-B14F-4D97-AF65-F5344CB8AC3E}">
        <p14:creationId xmlns:p14="http://schemas.microsoft.com/office/powerpoint/2010/main" val="26675368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Signal detection: Most crises do emit early warning signs. If early action is taken, these crises can be avoided (Gonzalez-Herrero &amp; Pratt, 1995). Crisis managers must identify sources for warning signs, collect information related to them, and analyze the information. Crisis managers must develop a system for detecting potential crises and responding to them.</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Crisis prevention: Once the potential is detected, actions must be taken to prevent the</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crisis. Preventative measures fall into three categories: issues management, risk management, and reputation management. Issues management means taking steps to prevent a problem from maturing into a crisis. Risk management eliminates or lowers risk levels. Reputation management seeks to resolve problems in the stakeholder-organization relationship that could escalate and damage the company’s reputation. </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Crisis preparation: Crisis managers must be prepared for a crisis happening. Preparation typically involves identifying crisis vulnerabilities, creating crisis teams, selecting spokespersons, drafting CCPs, developing crisis portfolios (a list of the most likely crises to befall an organization), and structuring the crisis communication system.</a:t>
            </a:r>
            <a:r>
              <a:rPr lang="en-US" dirty="0" smtClean="0"/>
              <a:t> </a:t>
            </a:r>
            <a:br>
              <a:rPr lang="en-US" dirty="0" smtClean="0"/>
            </a:br>
            <a:endParaRPr lang="vi-VN" dirty="0"/>
          </a:p>
        </p:txBody>
      </p:sp>
      <p:sp>
        <p:nvSpPr>
          <p:cNvPr id="4" name="Slide Number Placeholder 3"/>
          <p:cNvSpPr>
            <a:spLocks noGrp="1"/>
          </p:cNvSpPr>
          <p:nvPr>
            <p:ph type="sldNum" sz="quarter" idx="10"/>
          </p:nvPr>
        </p:nvSpPr>
        <p:spPr/>
        <p:txBody>
          <a:bodyPr/>
          <a:lstStyle/>
          <a:p>
            <a:fld id="{5F68FFD5-9301-472E-B081-127C8A88FCED}" type="slidenum">
              <a:rPr lang="en-US" smtClean="0"/>
              <a:t>31</a:t>
            </a:fld>
            <a:endParaRPr lang="en-US"/>
          </a:p>
        </p:txBody>
      </p:sp>
    </p:spTree>
    <p:extLst>
      <p:ext uri="{BB962C8B-B14F-4D97-AF65-F5344CB8AC3E}">
        <p14:creationId xmlns:p14="http://schemas.microsoft.com/office/powerpoint/2010/main" val="295057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5F68FFD5-9301-472E-B081-127C8A88FCED}" type="slidenum">
              <a:rPr lang="en-US" smtClean="0"/>
              <a:t>32</a:t>
            </a:fld>
            <a:endParaRPr lang="en-US"/>
          </a:p>
        </p:txBody>
      </p:sp>
    </p:spTree>
    <p:extLst>
      <p:ext uri="{BB962C8B-B14F-4D97-AF65-F5344CB8AC3E}">
        <p14:creationId xmlns:p14="http://schemas.microsoft.com/office/powerpoint/2010/main" val="11548820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Crisis recognition: People in an organization must realize that a crisis exists and respond to the event as a crisis. Crisis recognition includes an understanding of how events get labeled and accepted as crises—how to sell a crisis to management—and the means for collecting crisis-related information. </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Crisis response: Crisis containment focuses on the organization’s crisis response, including the importance and content of the initial response, communication’s relationship to reputational management, contingency plans, and follow-up concerns.</a:t>
            </a:r>
            <a:r>
              <a:rPr lang="en-US" dirty="0" smtClean="0"/>
              <a:t> </a:t>
            </a:r>
            <a:br>
              <a:rPr lang="en-US" dirty="0" smtClean="0"/>
            </a:br>
            <a:endParaRPr lang="vi-VN" dirty="0"/>
          </a:p>
        </p:txBody>
      </p:sp>
      <p:sp>
        <p:nvSpPr>
          <p:cNvPr id="4" name="Slide Number Placeholder 3"/>
          <p:cNvSpPr>
            <a:spLocks noGrp="1"/>
          </p:cNvSpPr>
          <p:nvPr>
            <p:ph type="sldNum" sz="quarter" idx="10"/>
          </p:nvPr>
        </p:nvSpPr>
        <p:spPr/>
        <p:txBody>
          <a:bodyPr/>
          <a:lstStyle/>
          <a:p>
            <a:fld id="{5F68FFD5-9301-472E-B081-127C8A88FCED}" type="slidenum">
              <a:rPr lang="en-US" smtClean="0"/>
              <a:t>33</a:t>
            </a:fld>
            <a:endParaRPr lang="en-US"/>
          </a:p>
        </p:txBody>
      </p:sp>
    </p:spTree>
    <p:extLst>
      <p:ext uri="{BB962C8B-B14F-4D97-AF65-F5344CB8AC3E}">
        <p14:creationId xmlns:p14="http://schemas.microsoft.com/office/powerpoint/2010/main" val="26805923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When a crisis is resolved and deemed to be over, an organization must consider what to do next. </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Evaluating crisis management, learning from the crisis, and other </a:t>
            </a:r>
            <a:r>
              <a:rPr lang="en-US" sz="1200" b="0" i="0" kern="1200" dirty="0" err="1" smtClean="0">
                <a:solidFill>
                  <a:schemeClr val="tx1"/>
                </a:solidFill>
                <a:effectLst/>
                <a:latin typeface="+mn-lt"/>
                <a:ea typeface="+mn-ea"/>
                <a:cs typeface="+mn-cs"/>
              </a:rPr>
              <a:t>postcrisis</a:t>
            </a:r>
            <a:r>
              <a:rPr lang="en-US" sz="1200" b="0" i="0" kern="1200" dirty="0" smtClean="0">
                <a:solidFill>
                  <a:schemeClr val="tx1"/>
                </a:solidFill>
                <a:effectLst/>
                <a:latin typeface="+mn-lt"/>
                <a:ea typeface="+mn-ea"/>
                <a:cs typeface="+mn-cs"/>
              </a:rPr>
              <a:t> actions, such as follow-up communication with stakeholders and continued monitoring of issues related</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to the crisis.</a:t>
            </a:r>
            <a:r>
              <a:rPr lang="en-US" dirty="0" smtClean="0"/>
              <a:t> </a:t>
            </a:r>
            <a:br>
              <a:rPr lang="en-US" dirty="0" smtClean="0"/>
            </a:br>
            <a:endParaRPr lang="vi-VN" dirty="0"/>
          </a:p>
        </p:txBody>
      </p:sp>
      <p:sp>
        <p:nvSpPr>
          <p:cNvPr id="4" name="Slide Number Placeholder 3"/>
          <p:cNvSpPr>
            <a:spLocks noGrp="1"/>
          </p:cNvSpPr>
          <p:nvPr>
            <p:ph type="sldNum" sz="quarter" idx="10"/>
          </p:nvPr>
        </p:nvSpPr>
        <p:spPr/>
        <p:txBody>
          <a:bodyPr/>
          <a:lstStyle/>
          <a:p>
            <a:fld id="{5F68FFD5-9301-472E-B081-127C8A88FCED}" type="slidenum">
              <a:rPr lang="en-US" smtClean="0"/>
              <a:t>34</a:t>
            </a:fld>
            <a:endParaRPr lang="en-US"/>
          </a:p>
        </p:txBody>
      </p:sp>
    </p:spTree>
    <p:extLst>
      <p:ext uri="{BB962C8B-B14F-4D97-AF65-F5344CB8AC3E}">
        <p14:creationId xmlns:p14="http://schemas.microsoft.com/office/powerpoint/2010/main" val="33072546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fact, today’s environment seems to be placing higher premiums on crisis management; unprepared organizations have more to lose today than ever before. A variety of developments has made all types of organizations more susceptible to crises. </a:t>
            </a:r>
          </a:p>
        </p:txBody>
      </p:sp>
      <p:sp>
        <p:nvSpPr>
          <p:cNvPr id="4" name="Slide Number Placeholder 3"/>
          <p:cNvSpPr>
            <a:spLocks noGrp="1"/>
          </p:cNvSpPr>
          <p:nvPr>
            <p:ph type="sldNum" sz="quarter" idx="10"/>
          </p:nvPr>
        </p:nvSpPr>
        <p:spPr/>
        <p:txBody>
          <a:bodyPr/>
          <a:lstStyle/>
          <a:p>
            <a:fld id="{5F68FFD5-9301-472E-B081-127C8A88FCED}" type="slidenum">
              <a:rPr lang="en-US" smtClean="0"/>
              <a:t>37</a:t>
            </a:fld>
            <a:endParaRPr lang="en-US"/>
          </a:p>
        </p:txBody>
      </p:sp>
    </p:spTree>
    <p:extLst>
      <p:ext uri="{BB962C8B-B14F-4D97-AF65-F5344CB8AC3E}">
        <p14:creationId xmlns:p14="http://schemas.microsoft.com/office/powerpoint/2010/main" val="35979258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smtClean="0"/>
          </a:p>
        </p:txBody>
      </p:sp>
      <p:sp>
        <p:nvSpPr>
          <p:cNvPr id="4" name="Slide Number Placeholder 3"/>
          <p:cNvSpPr>
            <a:spLocks noGrp="1"/>
          </p:cNvSpPr>
          <p:nvPr>
            <p:ph type="sldNum" sz="quarter" idx="10"/>
          </p:nvPr>
        </p:nvSpPr>
        <p:spPr/>
        <p:txBody>
          <a:bodyPr/>
          <a:lstStyle/>
          <a:p>
            <a:fld id="{5F68FFD5-9301-472E-B081-127C8A88FCED}" type="slidenum">
              <a:rPr lang="en-US" smtClean="0"/>
              <a:t>38</a:t>
            </a:fld>
            <a:endParaRPr lang="en-US"/>
          </a:p>
        </p:txBody>
      </p:sp>
    </p:spTree>
    <p:extLst>
      <p:ext uri="{BB962C8B-B14F-4D97-AF65-F5344CB8AC3E}">
        <p14:creationId xmlns:p14="http://schemas.microsoft.com/office/powerpoint/2010/main" val="4815665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smtClean="0"/>
          </a:p>
        </p:txBody>
      </p:sp>
      <p:sp>
        <p:nvSpPr>
          <p:cNvPr id="4" name="Slide Number Placeholder 3"/>
          <p:cNvSpPr>
            <a:spLocks noGrp="1"/>
          </p:cNvSpPr>
          <p:nvPr>
            <p:ph type="sldNum" sz="quarter" idx="10"/>
          </p:nvPr>
        </p:nvSpPr>
        <p:spPr/>
        <p:txBody>
          <a:bodyPr/>
          <a:lstStyle/>
          <a:p>
            <a:fld id="{5F68FFD5-9301-472E-B081-127C8A88FCED}" type="slidenum">
              <a:rPr lang="en-US" smtClean="0"/>
              <a:t>39</a:t>
            </a:fld>
            <a:endParaRPr lang="en-US"/>
          </a:p>
        </p:txBody>
      </p:sp>
    </p:spTree>
    <p:extLst>
      <p:ext uri="{BB962C8B-B14F-4D97-AF65-F5344CB8AC3E}">
        <p14:creationId xmlns:p14="http://schemas.microsoft.com/office/powerpoint/2010/main" val="11879601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smtClean="0"/>
          </a:p>
        </p:txBody>
      </p:sp>
      <p:sp>
        <p:nvSpPr>
          <p:cNvPr id="4" name="Slide Number Placeholder 3"/>
          <p:cNvSpPr>
            <a:spLocks noGrp="1"/>
          </p:cNvSpPr>
          <p:nvPr>
            <p:ph type="sldNum" sz="quarter" idx="10"/>
          </p:nvPr>
        </p:nvSpPr>
        <p:spPr/>
        <p:txBody>
          <a:bodyPr/>
          <a:lstStyle/>
          <a:p>
            <a:fld id="{5F68FFD5-9301-472E-B081-127C8A88FCED}" type="slidenum">
              <a:rPr lang="en-US" smtClean="0"/>
              <a:t>40</a:t>
            </a:fld>
            <a:endParaRPr lang="en-US"/>
          </a:p>
        </p:txBody>
      </p:sp>
    </p:spTree>
    <p:extLst>
      <p:ext uri="{BB962C8B-B14F-4D97-AF65-F5344CB8AC3E}">
        <p14:creationId xmlns:p14="http://schemas.microsoft.com/office/powerpoint/2010/main" val="2168227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As greater emphasis is placed on reputation, a corresponding emphasis must be placed on crisis management as a means of protecting reputational assets (Coombs &amp; Holladay, 2002).</a:t>
            </a:r>
            <a:r>
              <a:rPr lang="en-US" dirty="0" smtClean="0"/>
              <a:t> </a:t>
            </a:r>
            <a:br>
              <a:rPr lang="en-US" dirty="0" smtClean="0"/>
            </a:br>
            <a:endParaRPr lang="vi-VN" dirty="0" smtClean="0"/>
          </a:p>
        </p:txBody>
      </p:sp>
      <p:sp>
        <p:nvSpPr>
          <p:cNvPr id="4" name="Slide Number Placeholder 3"/>
          <p:cNvSpPr>
            <a:spLocks noGrp="1"/>
          </p:cNvSpPr>
          <p:nvPr>
            <p:ph type="sldNum" sz="quarter" idx="10"/>
          </p:nvPr>
        </p:nvSpPr>
        <p:spPr/>
        <p:txBody>
          <a:bodyPr/>
          <a:lstStyle/>
          <a:p>
            <a:fld id="{5F68FFD5-9301-472E-B081-127C8A88FCED}" type="slidenum">
              <a:rPr lang="en-US" smtClean="0"/>
              <a:t>41</a:t>
            </a:fld>
            <a:endParaRPr lang="en-US"/>
          </a:p>
        </p:txBody>
      </p:sp>
    </p:spTree>
    <p:extLst>
      <p:ext uri="{BB962C8B-B14F-4D97-AF65-F5344CB8AC3E}">
        <p14:creationId xmlns:p14="http://schemas.microsoft.com/office/powerpoint/2010/main" val="23693379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Consumers, shareholders, employees, community groups, and activists are becoming increasingly vocal when dealing with organizations and are using the Internet to voice those concerns (Coombs, 2002; Heath, 1998). The Internet provides various means of stakeholder expression, including web pages, discussion boards, blogs, microblogs, social networks, and content-sharing sites. </a:t>
            </a:r>
            <a:r>
              <a:rPr lang="en-US" dirty="0" smtClean="0"/>
              <a:t/>
            </a:r>
            <a:br>
              <a:rPr lang="en-US" dirty="0" smtClean="0"/>
            </a:br>
            <a:endParaRPr lang="vi-VN" dirty="0" smtClean="0"/>
          </a:p>
        </p:txBody>
      </p:sp>
      <p:sp>
        <p:nvSpPr>
          <p:cNvPr id="4" name="Slide Number Placeholder 3"/>
          <p:cNvSpPr>
            <a:spLocks noGrp="1"/>
          </p:cNvSpPr>
          <p:nvPr>
            <p:ph type="sldNum" sz="quarter" idx="10"/>
          </p:nvPr>
        </p:nvSpPr>
        <p:spPr/>
        <p:txBody>
          <a:bodyPr/>
          <a:lstStyle/>
          <a:p>
            <a:fld id="{5F68FFD5-9301-472E-B081-127C8A88FCED}" type="slidenum">
              <a:rPr lang="en-US" smtClean="0"/>
              <a:t>42</a:t>
            </a:fld>
            <a:endParaRPr lang="en-US"/>
          </a:p>
        </p:txBody>
      </p:sp>
    </p:spTree>
    <p:extLst>
      <p:ext uri="{BB962C8B-B14F-4D97-AF65-F5344CB8AC3E}">
        <p14:creationId xmlns:p14="http://schemas.microsoft.com/office/powerpoint/2010/main" val="34181792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vast majority of social media messages never find an audience. However, when disgruntled stakeholders strike a responsive chord and connect with other stakeholders online, a crisis can</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occur. These crises evolve from the value of the organizational reputation.</a:t>
            </a:r>
            <a:r>
              <a:rPr lang="en-US" dirty="0" smtClean="0"/>
              <a:t> </a:t>
            </a:r>
            <a:br>
              <a:rPr lang="en-US" dirty="0" smtClean="0"/>
            </a:br>
            <a:endParaRPr lang="en-US" dirty="0" smtClean="0"/>
          </a:p>
          <a:p>
            <a:r>
              <a:rPr lang="vi-VN" dirty="0" smtClean="0"/>
              <a:t>https://petrotimes.vn/nhung-nhan-hang-tay-chay-ho-ngoc-ha-387511.html</a:t>
            </a:r>
          </a:p>
        </p:txBody>
      </p:sp>
      <p:sp>
        <p:nvSpPr>
          <p:cNvPr id="4" name="Slide Number Placeholder 3"/>
          <p:cNvSpPr>
            <a:spLocks noGrp="1"/>
          </p:cNvSpPr>
          <p:nvPr>
            <p:ph type="sldNum" sz="quarter" idx="10"/>
          </p:nvPr>
        </p:nvSpPr>
        <p:spPr/>
        <p:txBody>
          <a:bodyPr/>
          <a:lstStyle/>
          <a:p>
            <a:fld id="{5F68FFD5-9301-472E-B081-127C8A88FCED}" type="slidenum">
              <a:rPr lang="en-US" smtClean="0"/>
              <a:t>43</a:t>
            </a:fld>
            <a:endParaRPr lang="en-US"/>
          </a:p>
        </p:txBody>
      </p:sp>
    </p:spTree>
    <p:extLst>
      <p:ext uri="{BB962C8B-B14F-4D97-AF65-F5344CB8AC3E}">
        <p14:creationId xmlns:p14="http://schemas.microsoft.com/office/powerpoint/2010/main" val="16808360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Social media is part of a mix of pressure tactics, along with negative publicity campaigns and boycotts.</a:t>
            </a:r>
            <a:r>
              <a:rPr lang="en-US" dirty="0" smtClean="0"/>
              <a:t> </a:t>
            </a:r>
          </a:p>
          <a:p>
            <a:endParaRPr lang="en-US" dirty="0" smtClean="0"/>
          </a:p>
          <a:p>
            <a:r>
              <a:rPr lang="en-US" dirty="0" smtClean="0"/>
              <a:t>Classic </a:t>
            </a:r>
            <a:r>
              <a:rPr lang="en-US" dirty="0" err="1" smtClean="0"/>
              <a:t>Casestudy</a:t>
            </a:r>
            <a:r>
              <a:rPr lang="en-US" dirty="0" smtClean="0"/>
              <a:t>:</a:t>
            </a:r>
            <a:r>
              <a:rPr lang="en-US" baseline="0" dirty="0" smtClean="0"/>
              <a:t> </a:t>
            </a:r>
            <a:r>
              <a:rPr lang="en-US" dirty="0" smtClean="0"/>
              <a:t>http://edition.cnn.com/2010/WORLD/asiapcf/03/19/indonesia.rainforests.orangutan.nestle/index.html</a:t>
            </a:r>
          </a:p>
          <a:p>
            <a:r>
              <a:rPr lang="en-US" dirty="0" smtClean="0"/>
              <a:t>https://www.brandsvietnam.com/congdong/topic/403-Ideas-Rendezvous-14-Dung-chet-vi-thieu-hieu-biet-mang-xa-hoi-Khung-hoang-tu-KitKat</a:t>
            </a:r>
          </a:p>
          <a:p>
            <a:endParaRPr lang="en-US" dirty="0" smtClean="0"/>
          </a:p>
          <a:p>
            <a:r>
              <a:rPr lang="en-US" dirty="0" smtClean="0"/>
              <a:t/>
            </a:r>
            <a:br>
              <a:rPr lang="en-US" dirty="0" smtClean="0"/>
            </a:br>
            <a:endParaRPr lang="vi-VN" dirty="0" smtClean="0"/>
          </a:p>
        </p:txBody>
      </p:sp>
      <p:sp>
        <p:nvSpPr>
          <p:cNvPr id="4" name="Slide Number Placeholder 3"/>
          <p:cNvSpPr>
            <a:spLocks noGrp="1"/>
          </p:cNvSpPr>
          <p:nvPr>
            <p:ph type="sldNum" sz="quarter" idx="10"/>
          </p:nvPr>
        </p:nvSpPr>
        <p:spPr/>
        <p:txBody>
          <a:bodyPr/>
          <a:lstStyle/>
          <a:p>
            <a:fld id="{5F68FFD5-9301-472E-B081-127C8A88FCED}" type="slidenum">
              <a:rPr lang="en-US" smtClean="0"/>
              <a:t>44</a:t>
            </a:fld>
            <a:endParaRPr lang="en-US"/>
          </a:p>
        </p:txBody>
      </p:sp>
    </p:spTree>
    <p:extLst>
      <p:ext uri="{BB962C8B-B14F-4D97-AF65-F5344CB8AC3E}">
        <p14:creationId xmlns:p14="http://schemas.microsoft.com/office/powerpoint/2010/main" val="23692542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In earlier versions of this book, this point was called communication technologies. However, it was a mistake to focus on the technology and not the people using the technology. </a:t>
            </a:r>
          </a:p>
          <a:p>
            <a:r>
              <a:rPr lang="en-US" sz="1200" b="0" i="0" kern="1200" dirty="0" smtClean="0">
                <a:solidFill>
                  <a:schemeClr val="tx1"/>
                </a:solidFill>
                <a:effectLst/>
                <a:latin typeface="+mn-lt"/>
                <a:ea typeface="+mn-ea"/>
                <a:cs typeface="+mn-cs"/>
              </a:rPr>
              <a:t>Young and </a:t>
            </a:r>
            <a:r>
              <a:rPr lang="en-US" sz="1200" b="0" i="0" kern="1200" dirty="0" err="1" smtClean="0">
                <a:solidFill>
                  <a:schemeClr val="tx1"/>
                </a:solidFill>
                <a:effectLst/>
                <a:latin typeface="+mn-lt"/>
                <a:ea typeface="+mn-ea"/>
                <a:cs typeface="+mn-cs"/>
              </a:rPr>
              <a:t>Akerstrém</a:t>
            </a:r>
            <a:r>
              <a:rPr lang="en-US" sz="1200" b="0" i="0" kern="1200" dirty="0" smtClean="0">
                <a:solidFill>
                  <a:schemeClr val="tx1"/>
                </a:solidFill>
                <a:effectLst/>
                <a:latin typeface="+mn-lt"/>
                <a:ea typeface="+mn-ea"/>
                <a:cs typeface="+mn-cs"/>
              </a:rPr>
              <a:t> (2016) define digital naturals as “individuals who are comfortable in the online environment, being equipped through experience and exposure to both its cultural norms and the technological competencies required to operate effectively” (p. 1).</a:t>
            </a:r>
            <a:r>
              <a:rPr lang="en-US" dirty="0" smtClean="0"/>
              <a:t> </a:t>
            </a:r>
          </a:p>
          <a:p>
            <a:r>
              <a:rPr lang="en-US" sz="1200" b="0" i="0" kern="1200" dirty="0" smtClean="0">
                <a:solidFill>
                  <a:schemeClr val="tx1"/>
                </a:solidFill>
                <a:effectLst/>
                <a:latin typeface="+mn-lt"/>
                <a:ea typeface="+mn-ea"/>
                <a:cs typeface="+mn-cs"/>
              </a:rPr>
              <a:t>Digital naturals are instrumental to the earlier notion of stakeholder activism. Most large activist organizations will</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be skilled in the use of digital channels and platforms. Digital naturals use digital channels and platforms to make the world more visible to others. Events that might have gone unnoticed decades ago are now visible to others.</a:t>
            </a:r>
            <a:r>
              <a:rPr lang="en-US" dirty="0" smtClean="0"/>
              <a:t> </a:t>
            </a:r>
          </a:p>
          <a:p>
            <a:endParaRPr lang="en-US" dirty="0" smtClean="0"/>
          </a:p>
          <a:p>
            <a:r>
              <a:rPr lang="en-US" sz="1200" b="0" i="0" kern="1200" dirty="0" smtClean="0">
                <a:solidFill>
                  <a:schemeClr val="tx1"/>
                </a:solidFill>
                <a:effectLst/>
                <a:latin typeface="+mn-lt"/>
                <a:ea typeface="+mn-ea"/>
                <a:cs typeface="+mn-cs"/>
              </a:rPr>
              <a:t>There is potential for any crisis or </a:t>
            </a:r>
            <a:r>
              <a:rPr lang="en-US" sz="1200" b="0" i="0" kern="1200" dirty="0" err="1" smtClean="0">
                <a:solidFill>
                  <a:schemeClr val="tx1"/>
                </a:solidFill>
                <a:effectLst/>
                <a:latin typeface="+mn-lt"/>
                <a:ea typeface="+mn-ea"/>
                <a:cs typeface="+mn-cs"/>
              </a:rPr>
              <a:t>paracrisis</a:t>
            </a:r>
            <a:r>
              <a:rPr lang="en-US" sz="1200" b="0" i="0" kern="1200" dirty="0" smtClean="0">
                <a:solidFill>
                  <a:schemeClr val="tx1"/>
                </a:solidFill>
                <a:effectLst/>
                <a:latin typeface="+mn-lt"/>
                <a:ea typeface="+mn-ea"/>
                <a:cs typeface="+mn-cs"/>
              </a:rPr>
              <a:t> to go global. </a:t>
            </a:r>
            <a:r>
              <a:rPr lang="en-US" sz="1200" b="0" i="1" kern="1200" dirty="0" smtClean="0">
                <a:solidFill>
                  <a:schemeClr val="tx1"/>
                </a:solidFill>
                <a:effectLst/>
                <a:latin typeface="+mn-lt"/>
                <a:ea typeface="+mn-ea"/>
                <a:cs typeface="+mn-cs"/>
              </a:rPr>
              <a:t>Potential</a:t>
            </a:r>
            <a:r>
              <a:rPr lang="en-US" sz="1200" b="0" i="0" kern="1200" dirty="0" smtClean="0">
                <a:solidFill>
                  <a:schemeClr val="tx1"/>
                </a:solidFill>
                <a:effectLst/>
                <a:latin typeface="+mn-lt"/>
                <a:ea typeface="+mn-ea"/>
                <a:cs typeface="+mn-cs"/>
              </a:rPr>
              <a:t> is a keyword. Crises and </a:t>
            </a:r>
            <a:r>
              <a:rPr lang="en-US" sz="1200" b="0" i="0" kern="1200" dirty="0" err="1" smtClean="0">
                <a:solidFill>
                  <a:schemeClr val="tx1"/>
                </a:solidFill>
                <a:effectLst/>
                <a:latin typeface="+mn-lt"/>
                <a:ea typeface="+mn-ea"/>
                <a:cs typeface="+mn-cs"/>
              </a:rPr>
              <a:t>paracrises</a:t>
            </a:r>
            <a:r>
              <a:rPr lang="en-US" sz="1200" b="0" i="0" kern="1200" dirty="0" smtClean="0">
                <a:solidFill>
                  <a:schemeClr val="tx1"/>
                </a:solidFill>
                <a:effectLst/>
                <a:latin typeface="+mn-lt"/>
                <a:ea typeface="+mn-ea"/>
                <a:cs typeface="+mn-cs"/>
              </a:rPr>
              <a:t> are now more likely to be seen by the world thanks to advances in communication technologies. </a:t>
            </a: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endParaRPr lang="vi-VN" dirty="0" smtClean="0"/>
          </a:p>
        </p:txBody>
      </p:sp>
      <p:sp>
        <p:nvSpPr>
          <p:cNvPr id="4" name="Slide Number Placeholder 3"/>
          <p:cNvSpPr>
            <a:spLocks noGrp="1"/>
          </p:cNvSpPr>
          <p:nvPr>
            <p:ph type="sldNum" sz="quarter" idx="10"/>
          </p:nvPr>
        </p:nvSpPr>
        <p:spPr/>
        <p:txBody>
          <a:bodyPr/>
          <a:lstStyle/>
          <a:p>
            <a:fld id="{5F68FFD5-9301-472E-B081-127C8A88FCED}" type="slidenum">
              <a:rPr lang="en-US" smtClean="0"/>
              <a:t>45</a:t>
            </a:fld>
            <a:endParaRPr lang="en-US"/>
          </a:p>
        </p:txBody>
      </p:sp>
    </p:spTree>
    <p:extLst>
      <p:ext uri="{BB962C8B-B14F-4D97-AF65-F5344CB8AC3E}">
        <p14:creationId xmlns:p14="http://schemas.microsoft.com/office/powerpoint/2010/main" val="35810059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smtClean="0"/>
          </a:p>
        </p:txBody>
      </p:sp>
      <p:sp>
        <p:nvSpPr>
          <p:cNvPr id="4" name="Slide Number Placeholder 3"/>
          <p:cNvSpPr>
            <a:spLocks noGrp="1"/>
          </p:cNvSpPr>
          <p:nvPr>
            <p:ph type="sldNum" sz="quarter" idx="10"/>
          </p:nvPr>
        </p:nvSpPr>
        <p:spPr/>
        <p:txBody>
          <a:bodyPr/>
          <a:lstStyle/>
          <a:p>
            <a:fld id="{5F68FFD5-9301-472E-B081-127C8A88FCED}" type="slidenum">
              <a:rPr lang="en-US" smtClean="0"/>
              <a:t>46</a:t>
            </a:fld>
            <a:endParaRPr lang="en-US"/>
          </a:p>
        </p:txBody>
      </p:sp>
    </p:spTree>
    <p:extLst>
      <p:ext uri="{BB962C8B-B14F-4D97-AF65-F5344CB8AC3E}">
        <p14:creationId xmlns:p14="http://schemas.microsoft.com/office/powerpoint/2010/main" val="28506350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smtClean="0"/>
          </a:p>
        </p:txBody>
      </p:sp>
      <p:sp>
        <p:nvSpPr>
          <p:cNvPr id="4" name="Slide Number Placeholder 3"/>
          <p:cNvSpPr>
            <a:spLocks noGrp="1"/>
          </p:cNvSpPr>
          <p:nvPr>
            <p:ph type="sldNum" sz="quarter" idx="10"/>
          </p:nvPr>
        </p:nvSpPr>
        <p:spPr/>
        <p:txBody>
          <a:bodyPr/>
          <a:lstStyle/>
          <a:p>
            <a:fld id="{5F68FFD5-9301-472E-B081-127C8A88FCED}" type="slidenum">
              <a:rPr lang="en-US" smtClean="0"/>
              <a:t>47</a:t>
            </a:fld>
            <a:endParaRPr lang="en-US"/>
          </a:p>
        </p:txBody>
      </p:sp>
    </p:spTree>
    <p:extLst>
      <p:ext uri="{BB962C8B-B14F-4D97-AF65-F5344CB8AC3E}">
        <p14:creationId xmlns:p14="http://schemas.microsoft.com/office/powerpoint/2010/main" val="4957454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Organizations can be found </a:t>
            </a:r>
            <a:r>
              <a:rPr lang="en-US" sz="1200" i="1" dirty="0" smtClean="0"/>
              <a:t>legally liable</a:t>
            </a:r>
            <a:r>
              <a:rPr lang="en-US" sz="1200" dirty="0" smtClean="0"/>
              <a:t> if they did not take </a:t>
            </a:r>
            <a:r>
              <a:rPr lang="en-US" sz="1200" i="1" dirty="0" smtClean="0"/>
              <a:t>precautions to prevent potential crises</a:t>
            </a:r>
            <a:r>
              <a:rPr lang="en-US" sz="1200" dirty="0" smtClean="0"/>
              <a:t> and were not </a:t>
            </a:r>
            <a:r>
              <a:rPr lang="en-US" sz="1200" i="1" dirty="0" smtClean="0"/>
              <a:t>prepared to respond. </a:t>
            </a:r>
            <a:r>
              <a:rPr lang="en-US" dirty="0" smtClean="0"/>
              <a:t>This new area of liability is known as negligent failure to plan and is closely tied to crisis management.</a:t>
            </a:r>
          </a:p>
          <a:p>
            <a:endParaRPr lang="en-US" dirty="0" smtClean="0"/>
          </a:p>
          <a:p>
            <a:r>
              <a:rPr lang="en-US" sz="1200" b="0" i="0" kern="1200" dirty="0" smtClean="0">
                <a:solidFill>
                  <a:schemeClr val="tx1"/>
                </a:solidFill>
                <a:effectLst/>
                <a:latin typeface="+mn-lt"/>
                <a:ea typeface="+mn-ea"/>
                <a:cs typeface="+mn-cs"/>
              </a:rPr>
              <a:t>Both crisis prevention and crisis preparation serve as defenses against negligent failure to plan. Crisis management is becoming firmly established as a form of due diligence (efforts to avoid harm to others or to the organization) that will protect an organization not only from the immediate harm of a crisis but from secondary harm resulting from lawsuits.</a:t>
            </a:r>
            <a:r>
              <a:rPr lang="en-US" dirty="0" smtClean="0"/>
              <a:t> </a:t>
            </a:r>
            <a:br>
              <a:rPr lang="en-US" dirty="0" smtClean="0"/>
            </a:br>
            <a:endParaRPr lang="vi-VN" dirty="0" smtClean="0"/>
          </a:p>
        </p:txBody>
      </p:sp>
      <p:sp>
        <p:nvSpPr>
          <p:cNvPr id="4" name="Slide Number Placeholder 3"/>
          <p:cNvSpPr>
            <a:spLocks noGrp="1"/>
          </p:cNvSpPr>
          <p:nvPr>
            <p:ph type="sldNum" sz="quarter" idx="10"/>
          </p:nvPr>
        </p:nvSpPr>
        <p:spPr/>
        <p:txBody>
          <a:bodyPr/>
          <a:lstStyle/>
          <a:p>
            <a:fld id="{5F68FFD5-9301-472E-B081-127C8A88FCED}" type="slidenum">
              <a:rPr lang="en-US" smtClean="0"/>
              <a:t>48</a:t>
            </a:fld>
            <a:endParaRPr lang="en-US"/>
          </a:p>
        </p:txBody>
      </p:sp>
    </p:spTree>
    <p:extLst>
      <p:ext uri="{BB962C8B-B14F-4D97-AF65-F5344CB8AC3E}">
        <p14:creationId xmlns:p14="http://schemas.microsoft.com/office/powerpoint/2010/main" val="31276237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68FFD5-9301-472E-B081-127C8A88FCED}" type="slidenum">
              <a:rPr lang="en-US" smtClean="0"/>
              <a:t>49</a:t>
            </a:fld>
            <a:endParaRPr lang="en-US"/>
          </a:p>
        </p:txBody>
      </p:sp>
    </p:spTree>
    <p:extLst>
      <p:ext uri="{BB962C8B-B14F-4D97-AF65-F5344CB8AC3E}">
        <p14:creationId xmlns:p14="http://schemas.microsoft.com/office/powerpoint/2010/main" val="40363118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68FFD5-9301-472E-B081-127C8A88FCED}" type="slidenum">
              <a:rPr lang="en-US" smtClean="0"/>
              <a:t>50</a:t>
            </a:fld>
            <a:endParaRPr lang="en-US"/>
          </a:p>
        </p:txBody>
      </p:sp>
    </p:spTree>
    <p:extLst>
      <p:ext uri="{BB962C8B-B14F-4D97-AF65-F5344CB8AC3E}">
        <p14:creationId xmlns:p14="http://schemas.microsoft.com/office/powerpoint/2010/main" val="18743942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68FFD5-9301-472E-B081-127C8A88FCED}" type="slidenum">
              <a:rPr lang="en-US" smtClean="0"/>
              <a:t>51</a:t>
            </a:fld>
            <a:endParaRPr lang="en-US"/>
          </a:p>
        </p:txBody>
      </p:sp>
    </p:spTree>
    <p:extLst>
      <p:ext uri="{BB962C8B-B14F-4D97-AF65-F5344CB8AC3E}">
        <p14:creationId xmlns:p14="http://schemas.microsoft.com/office/powerpoint/2010/main" val="40847881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68FFD5-9301-472E-B081-127C8A88FCED}" type="slidenum">
              <a:rPr lang="en-US" smtClean="0"/>
              <a:t>52</a:t>
            </a:fld>
            <a:endParaRPr lang="en-US"/>
          </a:p>
        </p:txBody>
      </p:sp>
    </p:spTree>
    <p:extLst>
      <p:ext uri="{BB962C8B-B14F-4D97-AF65-F5344CB8AC3E}">
        <p14:creationId xmlns:p14="http://schemas.microsoft.com/office/powerpoint/2010/main" val="1341500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24" y="8"/>
            <a:ext cx="12191978" cy="4571994"/>
          </a:xfrm>
          <a:custGeom>
            <a:avLst/>
            <a:gdLst/>
            <a:ahLst/>
            <a:cxnLst/>
            <a:rect l="l" t="t" r="r" b="b"/>
            <a:pathLst>
              <a:path w="12191978" h="4571994">
                <a:moveTo>
                  <a:pt x="1" y="4316129"/>
                </a:moveTo>
                <a:lnTo>
                  <a:pt x="255863" y="4571991"/>
                </a:lnTo>
                <a:lnTo>
                  <a:pt x="203619" y="4571991"/>
                </a:lnTo>
                <a:lnTo>
                  <a:pt x="1" y="4368373"/>
                </a:lnTo>
                <a:close/>
                <a:moveTo>
                  <a:pt x="12191973" y="4312831"/>
                </a:moveTo>
                <a:lnTo>
                  <a:pt x="12191972" y="4365076"/>
                </a:lnTo>
                <a:lnTo>
                  <a:pt x="11985055" y="4571992"/>
                </a:lnTo>
                <a:lnTo>
                  <a:pt x="11932811" y="4571993"/>
                </a:lnTo>
                <a:close/>
                <a:moveTo>
                  <a:pt x="11817249" y="4076816"/>
                </a:moveTo>
                <a:lnTo>
                  <a:pt x="11928074" y="4076816"/>
                </a:lnTo>
                <a:lnTo>
                  <a:pt x="11928074" y="4187641"/>
                </a:lnTo>
                <a:lnTo>
                  <a:pt x="11817249" y="4187641"/>
                </a:lnTo>
                <a:close/>
                <a:moveTo>
                  <a:pt x="10766437" y="4076816"/>
                </a:moveTo>
                <a:lnTo>
                  <a:pt x="10877262" y="4076816"/>
                </a:lnTo>
                <a:lnTo>
                  <a:pt x="10877262" y="4187641"/>
                </a:lnTo>
                <a:lnTo>
                  <a:pt x="10766437" y="4187641"/>
                </a:lnTo>
                <a:close/>
                <a:moveTo>
                  <a:pt x="9715629" y="4076816"/>
                </a:moveTo>
                <a:lnTo>
                  <a:pt x="9826454" y="4076816"/>
                </a:lnTo>
                <a:lnTo>
                  <a:pt x="9826454" y="4187641"/>
                </a:lnTo>
                <a:lnTo>
                  <a:pt x="9715629" y="4187641"/>
                </a:lnTo>
                <a:close/>
                <a:moveTo>
                  <a:pt x="8664821" y="4076816"/>
                </a:moveTo>
                <a:lnTo>
                  <a:pt x="8775646" y="4076816"/>
                </a:lnTo>
                <a:lnTo>
                  <a:pt x="8775646" y="4187641"/>
                </a:lnTo>
                <a:lnTo>
                  <a:pt x="8664821" y="4187641"/>
                </a:lnTo>
                <a:close/>
                <a:moveTo>
                  <a:pt x="7614013" y="4076816"/>
                </a:moveTo>
                <a:lnTo>
                  <a:pt x="7724838" y="4076816"/>
                </a:lnTo>
                <a:lnTo>
                  <a:pt x="7724838" y="4187641"/>
                </a:lnTo>
                <a:lnTo>
                  <a:pt x="7614013" y="4187641"/>
                </a:lnTo>
                <a:close/>
                <a:moveTo>
                  <a:pt x="6563205" y="4076816"/>
                </a:moveTo>
                <a:lnTo>
                  <a:pt x="6674030" y="4076816"/>
                </a:lnTo>
                <a:lnTo>
                  <a:pt x="6674030" y="4187641"/>
                </a:lnTo>
                <a:lnTo>
                  <a:pt x="6563205" y="4187641"/>
                </a:lnTo>
                <a:close/>
                <a:moveTo>
                  <a:pt x="5512397" y="4076816"/>
                </a:moveTo>
                <a:lnTo>
                  <a:pt x="5623222" y="4076816"/>
                </a:lnTo>
                <a:lnTo>
                  <a:pt x="5623222" y="4187641"/>
                </a:lnTo>
                <a:lnTo>
                  <a:pt x="5512397" y="4187641"/>
                </a:lnTo>
                <a:close/>
                <a:moveTo>
                  <a:pt x="4461589" y="4076816"/>
                </a:moveTo>
                <a:lnTo>
                  <a:pt x="4572414" y="4076816"/>
                </a:lnTo>
                <a:lnTo>
                  <a:pt x="4572414" y="4187641"/>
                </a:lnTo>
                <a:lnTo>
                  <a:pt x="4461589" y="4187641"/>
                </a:lnTo>
                <a:close/>
                <a:moveTo>
                  <a:pt x="3410782" y="4076816"/>
                </a:moveTo>
                <a:lnTo>
                  <a:pt x="3521608" y="4076816"/>
                </a:lnTo>
                <a:lnTo>
                  <a:pt x="3521608" y="4187641"/>
                </a:lnTo>
                <a:lnTo>
                  <a:pt x="3410782" y="4187641"/>
                </a:lnTo>
                <a:close/>
                <a:moveTo>
                  <a:pt x="2359975" y="4076816"/>
                </a:moveTo>
                <a:lnTo>
                  <a:pt x="2470800" y="4076816"/>
                </a:lnTo>
                <a:lnTo>
                  <a:pt x="2470800" y="4187641"/>
                </a:lnTo>
                <a:lnTo>
                  <a:pt x="2359975" y="4187641"/>
                </a:lnTo>
                <a:close/>
                <a:moveTo>
                  <a:pt x="1309167" y="4076816"/>
                </a:moveTo>
                <a:lnTo>
                  <a:pt x="1419992" y="4076816"/>
                </a:lnTo>
                <a:lnTo>
                  <a:pt x="1419992" y="4187641"/>
                </a:lnTo>
                <a:lnTo>
                  <a:pt x="1309167" y="4187641"/>
                </a:lnTo>
                <a:close/>
                <a:moveTo>
                  <a:pt x="258359" y="4076816"/>
                </a:moveTo>
                <a:lnTo>
                  <a:pt x="369184" y="4076816"/>
                </a:lnTo>
                <a:lnTo>
                  <a:pt x="369184" y="4187641"/>
                </a:lnTo>
                <a:lnTo>
                  <a:pt x="258359" y="4187641"/>
                </a:lnTo>
                <a:close/>
                <a:moveTo>
                  <a:pt x="11291841" y="3551209"/>
                </a:moveTo>
                <a:lnTo>
                  <a:pt x="11402666" y="3551209"/>
                </a:lnTo>
                <a:lnTo>
                  <a:pt x="11402666" y="3662034"/>
                </a:lnTo>
                <a:lnTo>
                  <a:pt x="11291841" y="3662034"/>
                </a:lnTo>
                <a:close/>
                <a:moveTo>
                  <a:pt x="10241033" y="3551209"/>
                </a:moveTo>
                <a:lnTo>
                  <a:pt x="10351858" y="3551209"/>
                </a:lnTo>
                <a:lnTo>
                  <a:pt x="10351858" y="3662034"/>
                </a:lnTo>
                <a:lnTo>
                  <a:pt x="10241033" y="3662034"/>
                </a:lnTo>
                <a:close/>
                <a:moveTo>
                  <a:pt x="9190225" y="3551209"/>
                </a:moveTo>
                <a:lnTo>
                  <a:pt x="9301050" y="3551209"/>
                </a:lnTo>
                <a:lnTo>
                  <a:pt x="9301050" y="3662034"/>
                </a:lnTo>
                <a:lnTo>
                  <a:pt x="9190225" y="3662034"/>
                </a:lnTo>
                <a:close/>
                <a:moveTo>
                  <a:pt x="8139417" y="3551209"/>
                </a:moveTo>
                <a:lnTo>
                  <a:pt x="8250242" y="3551209"/>
                </a:lnTo>
                <a:lnTo>
                  <a:pt x="8250242" y="3662034"/>
                </a:lnTo>
                <a:lnTo>
                  <a:pt x="8139417" y="3662034"/>
                </a:lnTo>
                <a:close/>
                <a:moveTo>
                  <a:pt x="7088609" y="3551209"/>
                </a:moveTo>
                <a:lnTo>
                  <a:pt x="7199434" y="3551209"/>
                </a:lnTo>
                <a:lnTo>
                  <a:pt x="7199434" y="3662034"/>
                </a:lnTo>
                <a:lnTo>
                  <a:pt x="7088609" y="3662034"/>
                </a:lnTo>
                <a:close/>
                <a:moveTo>
                  <a:pt x="6037801" y="3551209"/>
                </a:moveTo>
                <a:lnTo>
                  <a:pt x="6148626" y="3551209"/>
                </a:lnTo>
                <a:lnTo>
                  <a:pt x="6148626" y="3662034"/>
                </a:lnTo>
                <a:lnTo>
                  <a:pt x="6037801" y="3662034"/>
                </a:lnTo>
                <a:close/>
                <a:moveTo>
                  <a:pt x="4986998" y="3551209"/>
                </a:moveTo>
                <a:lnTo>
                  <a:pt x="5097826" y="3551209"/>
                </a:lnTo>
                <a:lnTo>
                  <a:pt x="5097826" y="3662034"/>
                </a:lnTo>
                <a:lnTo>
                  <a:pt x="4986998" y="3662034"/>
                </a:lnTo>
                <a:close/>
                <a:moveTo>
                  <a:pt x="3936196" y="3551209"/>
                </a:moveTo>
                <a:lnTo>
                  <a:pt x="4047020" y="3551209"/>
                </a:lnTo>
                <a:lnTo>
                  <a:pt x="4047020" y="3662034"/>
                </a:lnTo>
                <a:lnTo>
                  <a:pt x="3936196" y="3662034"/>
                </a:lnTo>
                <a:close/>
                <a:moveTo>
                  <a:pt x="2885389" y="3551209"/>
                </a:moveTo>
                <a:lnTo>
                  <a:pt x="2996214" y="3551209"/>
                </a:lnTo>
                <a:lnTo>
                  <a:pt x="2996214" y="3662034"/>
                </a:lnTo>
                <a:lnTo>
                  <a:pt x="2885389" y="3662034"/>
                </a:lnTo>
                <a:close/>
                <a:moveTo>
                  <a:pt x="1834579" y="3551209"/>
                </a:moveTo>
                <a:lnTo>
                  <a:pt x="1945404" y="3551209"/>
                </a:lnTo>
                <a:lnTo>
                  <a:pt x="1945404" y="3662034"/>
                </a:lnTo>
                <a:lnTo>
                  <a:pt x="1834579" y="3662034"/>
                </a:lnTo>
                <a:close/>
                <a:moveTo>
                  <a:pt x="783773" y="3551209"/>
                </a:moveTo>
                <a:lnTo>
                  <a:pt x="894598" y="3551209"/>
                </a:lnTo>
                <a:lnTo>
                  <a:pt x="894598" y="3662034"/>
                </a:lnTo>
                <a:lnTo>
                  <a:pt x="783773" y="3662034"/>
                </a:lnTo>
                <a:close/>
                <a:moveTo>
                  <a:pt x="2942310" y="3107960"/>
                </a:moveTo>
                <a:lnTo>
                  <a:pt x="2470811" y="3579460"/>
                </a:lnTo>
                <a:lnTo>
                  <a:pt x="2470811" y="3634896"/>
                </a:lnTo>
                <a:lnTo>
                  <a:pt x="2942311" y="4106397"/>
                </a:lnTo>
                <a:lnTo>
                  <a:pt x="3410794" y="3637915"/>
                </a:lnTo>
                <a:lnTo>
                  <a:pt x="3410794" y="3576442"/>
                </a:lnTo>
                <a:close/>
                <a:moveTo>
                  <a:pt x="840944" y="3107960"/>
                </a:moveTo>
                <a:lnTo>
                  <a:pt x="369194" y="3579710"/>
                </a:lnTo>
                <a:lnTo>
                  <a:pt x="369194" y="3634648"/>
                </a:lnTo>
                <a:lnTo>
                  <a:pt x="840944" y="4106399"/>
                </a:lnTo>
                <a:lnTo>
                  <a:pt x="1309176" y="3638165"/>
                </a:lnTo>
                <a:lnTo>
                  <a:pt x="1309176" y="3576193"/>
                </a:lnTo>
                <a:close/>
                <a:moveTo>
                  <a:pt x="3992986" y="3107959"/>
                </a:moveTo>
                <a:lnTo>
                  <a:pt x="3521621" y="3579335"/>
                </a:lnTo>
                <a:lnTo>
                  <a:pt x="3521621" y="3635021"/>
                </a:lnTo>
                <a:lnTo>
                  <a:pt x="3992986" y="4106398"/>
                </a:lnTo>
                <a:lnTo>
                  <a:pt x="4461593" y="3637778"/>
                </a:lnTo>
                <a:lnTo>
                  <a:pt x="4461593" y="3576578"/>
                </a:lnTo>
                <a:close/>
                <a:moveTo>
                  <a:pt x="1891624" y="3107959"/>
                </a:moveTo>
                <a:lnTo>
                  <a:pt x="1420001" y="3579584"/>
                </a:lnTo>
                <a:lnTo>
                  <a:pt x="1420001" y="3634774"/>
                </a:lnTo>
                <a:lnTo>
                  <a:pt x="1891623" y="4106397"/>
                </a:lnTo>
                <a:lnTo>
                  <a:pt x="2359987" y="3638040"/>
                </a:lnTo>
                <a:lnTo>
                  <a:pt x="2359987" y="3576315"/>
                </a:lnTo>
                <a:close/>
                <a:moveTo>
                  <a:pt x="8195689" y="3107959"/>
                </a:moveTo>
                <a:lnTo>
                  <a:pt x="7724838" y="3578810"/>
                </a:lnTo>
                <a:lnTo>
                  <a:pt x="7724838" y="3635541"/>
                </a:lnTo>
                <a:lnTo>
                  <a:pt x="8195691" y="4106395"/>
                </a:lnTo>
                <a:lnTo>
                  <a:pt x="8664821" y="3637265"/>
                </a:lnTo>
                <a:lnTo>
                  <a:pt x="8664821" y="3577091"/>
                </a:lnTo>
                <a:close/>
                <a:moveTo>
                  <a:pt x="5043664" y="3107959"/>
                </a:moveTo>
                <a:lnTo>
                  <a:pt x="4572419" y="3579197"/>
                </a:lnTo>
                <a:lnTo>
                  <a:pt x="4572419" y="3635159"/>
                </a:lnTo>
                <a:lnTo>
                  <a:pt x="5043662" y="4106396"/>
                </a:lnTo>
                <a:lnTo>
                  <a:pt x="5512402" y="3637650"/>
                </a:lnTo>
                <a:lnTo>
                  <a:pt x="5512402" y="3576704"/>
                </a:lnTo>
                <a:close/>
                <a:moveTo>
                  <a:pt x="6094326" y="3107958"/>
                </a:moveTo>
                <a:lnTo>
                  <a:pt x="5623226" y="3579070"/>
                </a:lnTo>
                <a:lnTo>
                  <a:pt x="5623226" y="3635285"/>
                </a:lnTo>
                <a:lnTo>
                  <a:pt x="6094326" y="4106397"/>
                </a:lnTo>
                <a:lnTo>
                  <a:pt x="6563205" y="3637518"/>
                </a:lnTo>
                <a:lnTo>
                  <a:pt x="6563205" y="3576837"/>
                </a:lnTo>
                <a:close/>
                <a:moveTo>
                  <a:pt x="9246372" y="3107957"/>
                </a:moveTo>
                <a:lnTo>
                  <a:pt x="8775646" y="3578683"/>
                </a:lnTo>
                <a:lnTo>
                  <a:pt x="8775646" y="3635671"/>
                </a:lnTo>
                <a:lnTo>
                  <a:pt x="9246369" y="4106395"/>
                </a:lnTo>
                <a:lnTo>
                  <a:pt x="9715629" y="3637135"/>
                </a:lnTo>
                <a:lnTo>
                  <a:pt x="9715629" y="3577215"/>
                </a:lnTo>
                <a:close/>
                <a:moveTo>
                  <a:pt x="7145009" y="3107957"/>
                </a:moveTo>
                <a:lnTo>
                  <a:pt x="6674030" y="3578936"/>
                </a:lnTo>
                <a:lnTo>
                  <a:pt x="6674030" y="3635418"/>
                </a:lnTo>
                <a:lnTo>
                  <a:pt x="7145007" y="4106396"/>
                </a:lnTo>
                <a:lnTo>
                  <a:pt x="7614013" y="3637390"/>
                </a:lnTo>
                <a:lnTo>
                  <a:pt x="7614013" y="3576961"/>
                </a:lnTo>
                <a:close/>
                <a:moveTo>
                  <a:pt x="11347734" y="3107957"/>
                </a:moveTo>
                <a:lnTo>
                  <a:pt x="10877262" y="3578428"/>
                </a:lnTo>
                <a:lnTo>
                  <a:pt x="10877262" y="3635922"/>
                </a:lnTo>
                <a:lnTo>
                  <a:pt x="11347735" y="4106396"/>
                </a:lnTo>
                <a:lnTo>
                  <a:pt x="11817249" y="3636882"/>
                </a:lnTo>
                <a:lnTo>
                  <a:pt x="11817249" y="3577472"/>
                </a:lnTo>
                <a:close/>
                <a:moveTo>
                  <a:pt x="10297053" y="3107955"/>
                </a:moveTo>
                <a:lnTo>
                  <a:pt x="9826454" y="3578554"/>
                </a:lnTo>
                <a:lnTo>
                  <a:pt x="9826454" y="3635794"/>
                </a:lnTo>
                <a:lnTo>
                  <a:pt x="10297054" y="4106394"/>
                </a:lnTo>
                <a:lnTo>
                  <a:pt x="10766437" y="3637011"/>
                </a:lnTo>
                <a:lnTo>
                  <a:pt x="10766437" y="3577339"/>
                </a:lnTo>
                <a:close/>
                <a:moveTo>
                  <a:pt x="11817249" y="3027334"/>
                </a:moveTo>
                <a:lnTo>
                  <a:pt x="11928074" y="3027334"/>
                </a:lnTo>
                <a:lnTo>
                  <a:pt x="11928074" y="3138159"/>
                </a:lnTo>
                <a:lnTo>
                  <a:pt x="11817249" y="3138159"/>
                </a:lnTo>
                <a:close/>
                <a:moveTo>
                  <a:pt x="10766437" y="3027334"/>
                </a:moveTo>
                <a:lnTo>
                  <a:pt x="10877262" y="3027334"/>
                </a:lnTo>
                <a:lnTo>
                  <a:pt x="10877262" y="3138159"/>
                </a:lnTo>
                <a:lnTo>
                  <a:pt x="10766437" y="3138159"/>
                </a:lnTo>
                <a:close/>
                <a:moveTo>
                  <a:pt x="9715629" y="3027334"/>
                </a:moveTo>
                <a:lnTo>
                  <a:pt x="9826454" y="3027334"/>
                </a:lnTo>
                <a:lnTo>
                  <a:pt x="9826454" y="3138159"/>
                </a:lnTo>
                <a:lnTo>
                  <a:pt x="9715629" y="3138159"/>
                </a:lnTo>
                <a:close/>
                <a:moveTo>
                  <a:pt x="8664821" y="3027334"/>
                </a:moveTo>
                <a:lnTo>
                  <a:pt x="8775646" y="3027334"/>
                </a:lnTo>
                <a:lnTo>
                  <a:pt x="8775646" y="3138159"/>
                </a:lnTo>
                <a:lnTo>
                  <a:pt x="8664821" y="3138159"/>
                </a:lnTo>
                <a:close/>
                <a:moveTo>
                  <a:pt x="7614013" y="3027334"/>
                </a:moveTo>
                <a:lnTo>
                  <a:pt x="7724838" y="3027334"/>
                </a:lnTo>
                <a:lnTo>
                  <a:pt x="7724838" y="3138159"/>
                </a:lnTo>
                <a:lnTo>
                  <a:pt x="7614013" y="3138159"/>
                </a:lnTo>
                <a:close/>
                <a:moveTo>
                  <a:pt x="6563205" y="3027334"/>
                </a:moveTo>
                <a:lnTo>
                  <a:pt x="6674030" y="3027334"/>
                </a:lnTo>
                <a:lnTo>
                  <a:pt x="6674030" y="3138159"/>
                </a:lnTo>
                <a:lnTo>
                  <a:pt x="6563205" y="3138159"/>
                </a:lnTo>
                <a:close/>
                <a:moveTo>
                  <a:pt x="5512400" y="3027334"/>
                </a:moveTo>
                <a:lnTo>
                  <a:pt x="5623225" y="3027334"/>
                </a:lnTo>
                <a:lnTo>
                  <a:pt x="5623225" y="3138159"/>
                </a:lnTo>
                <a:lnTo>
                  <a:pt x="5512400" y="3138159"/>
                </a:lnTo>
                <a:close/>
                <a:moveTo>
                  <a:pt x="4461592" y="3027334"/>
                </a:moveTo>
                <a:lnTo>
                  <a:pt x="4572417" y="3027334"/>
                </a:lnTo>
                <a:lnTo>
                  <a:pt x="4572417" y="3138159"/>
                </a:lnTo>
                <a:lnTo>
                  <a:pt x="4461592" y="3138159"/>
                </a:lnTo>
                <a:close/>
                <a:moveTo>
                  <a:pt x="3410790" y="3027334"/>
                </a:moveTo>
                <a:lnTo>
                  <a:pt x="3521616" y="3027334"/>
                </a:lnTo>
                <a:lnTo>
                  <a:pt x="3521616" y="3138159"/>
                </a:lnTo>
                <a:lnTo>
                  <a:pt x="3410790" y="3138159"/>
                </a:lnTo>
                <a:close/>
                <a:moveTo>
                  <a:pt x="2359982" y="3027334"/>
                </a:moveTo>
                <a:lnTo>
                  <a:pt x="2470807" y="3027334"/>
                </a:lnTo>
                <a:lnTo>
                  <a:pt x="2470807" y="3138159"/>
                </a:lnTo>
                <a:lnTo>
                  <a:pt x="2359982" y="3138159"/>
                </a:lnTo>
                <a:close/>
                <a:moveTo>
                  <a:pt x="1309173" y="3027334"/>
                </a:moveTo>
                <a:lnTo>
                  <a:pt x="1419997" y="3027334"/>
                </a:lnTo>
                <a:lnTo>
                  <a:pt x="1419997" y="3138159"/>
                </a:lnTo>
                <a:lnTo>
                  <a:pt x="1309173" y="3138159"/>
                </a:lnTo>
                <a:close/>
                <a:moveTo>
                  <a:pt x="258365" y="3027334"/>
                </a:moveTo>
                <a:lnTo>
                  <a:pt x="369190" y="3027334"/>
                </a:lnTo>
                <a:lnTo>
                  <a:pt x="369190" y="3138159"/>
                </a:lnTo>
                <a:lnTo>
                  <a:pt x="258365" y="3138159"/>
                </a:lnTo>
                <a:close/>
                <a:moveTo>
                  <a:pt x="10794114" y="2610895"/>
                </a:moveTo>
                <a:lnTo>
                  <a:pt x="10323174" y="3081834"/>
                </a:lnTo>
                <a:lnTo>
                  <a:pt x="10792548" y="3551209"/>
                </a:lnTo>
                <a:lnTo>
                  <a:pt x="10852239" y="3551209"/>
                </a:lnTo>
                <a:lnTo>
                  <a:pt x="11321612" y="3081835"/>
                </a:lnTo>
                <a:lnTo>
                  <a:pt x="10850672" y="2610895"/>
                </a:lnTo>
                <a:close/>
                <a:moveTo>
                  <a:pt x="9743434" y="2610895"/>
                </a:moveTo>
                <a:lnTo>
                  <a:pt x="9272494" y="3081834"/>
                </a:lnTo>
                <a:lnTo>
                  <a:pt x="9741869" y="3551209"/>
                </a:lnTo>
                <a:lnTo>
                  <a:pt x="9801555" y="3551209"/>
                </a:lnTo>
                <a:lnTo>
                  <a:pt x="10270931" y="3081833"/>
                </a:lnTo>
                <a:lnTo>
                  <a:pt x="9799992" y="2610895"/>
                </a:lnTo>
                <a:close/>
                <a:moveTo>
                  <a:pt x="8692754" y="2610895"/>
                </a:moveTo>
                <a:lnTo>
                  <a:pt x="8221811" y="3081837"/>
                </a:lnTo>
                <a:lnTo>
                  <a:pt x="8691183" y="3551209"/>
                </a:lnTo>
                <a:lnTo>
                  <a:pt x="8750876" y="3551209"/>
                </a:lnTo>
                <a:lnTo>
                  <a:pt x="9220250" y="3081835"/>
                </a:lnTo>
                <a:lnTo>
                  <a:pt x="8749310" y="2610895"/>
                </a:lnTo>
                <a:close/>
                <a:moveTo>
                  <a:pt x="7642070" y="2610895"/>
                </a:moveTo>
                <a:lnTo>
                  <a:pt x="7171131" y="3081835"/>
                </a:lnTo>
                <a:lnTo>
                  <a:pt x="7640505" y="3551209"/>
                </a:lnTo>
                <a:lnTo>
                  <a:pt x="7700194" y="3551209"/>
                </a:lnTo>
                <a:lnTo>
                  <a:pt x="8169567" y="3081836"/>
                </a:lnTo>
                <a:lnTo>
                  <a:pt x="7698625" y="2610895"/>
                </a:lnTo>
                <a:close/>
                <a:moveTo>
                  <a:pt x="6591389" y="2610895"/>
                </a:moveTo>
                <a:lnTo>
                  <a:pt x="6120448" y="3081836"/>
                </a:lnTo>
                <a:lnTo>
                  <a:pt x="6589820" y="3551209"/>
                </a:lnTo>
                <a:lnTo>
                  <a:pt x="6649514" y="3551209"/>
                </a:lnTo>
                <a:lnTo>
                  <a:pt x="7118887" y="3081836"/>
                </a:lnTo>
                <a:lnTo>
                  <a:pt x="6647947" y="2610895"/>
                </a:lnTo>
                <a:close/>
                <a:moveTo>
                  <a:pt x="5540722" y="2610895"/>
                </a:moveTo>
                <a:lnTo>
                  <a:pt x="5069790" y="3081837"/>
                </a:lnTo>
                <a:lnTo>
                  <a:pt x="5539152" y="3551209"/>
                </a:lnTo>
                <a:lnTo>
                  <a:pt x="5598843" y="3551209"/>
                </a:lnTo>
                <a:lnTo>
                  <a:pt x="6068204" y="3081836"/>
                </a:lnTo>
                <a:lnTo>
                  <a:pt x="5597274" y="2610895"/>
                </a:lnTo>
                <a:close/>
                <a:moveTo>
                  <a:pt x="4490039" y="2610895"/>
                </a:moveTo>
                <a:lnTo>
                  <a:pt x="4019108" y="3081837"/>
                </a:lnTo>
                <a:lnTo>
                  <a:pt x="4488467" y="3551209"/>
                </a:lnTo>
                <a:lnTo>
                  <a:pt x="4548162" y="3551209"/>
                </a:lnTo>
                <a:lnTo>
                  <a:pt x="5017539" y="3081837"/>
                </a:lnTo>
                <a:lnTo>
                  <a:pt x="4546591" y="2610895"/>
                </a:lnTo>
                <a:close/>
                <a:moveTo>
                  <a:pt x="3439377" y="2610895"/>
                </a:moveTo>
                <a:lnTo>
                  <a:pt x="2968431" y="3081838"/>
                </a:lnTo>
                <a:lnTo>
                  <a:pt x="3437805" y="3551209"/>
                </a:lnTo>
                <a:lnTo>
                  <a:pt x="3497502" y="3551209"/>
                </a:lnTo>
                <a:lnTo>
                  <a:pt x="3966864" y="3081837"/>
                </a:lnTo>
                <a:lnTo>
                  <a:pt x="3495931" y="2610895"/>
                </a:lnTo>
                <a:close/>
                <a:moveTo>
                  <a:pt x="2388695" y="2610895"/>
                </a:moveTo>
                <a:lnTo>
                  <a:pt x="1917746" y="3081837"/>
                </a:lnTo>
                <a:lnTo>
                  <a:pt x="2387125" y="3551209"/>
                </a:lnTo>
                <a:lnTo>
                  <a:pt x="2446819" y="3551209"/>
                </a:lnTo>
                <a:lnTo>
                  <a:pt x="2916188" y="3081838"/>
                </a:lnTo>
                <a:lnTo>
                  <a:pt x="2445246" y="2610895"/>
                </a:lnTo>
                <a:close/>
                <a:moveTo>
                  <a:pt x="1338007" y="2610895"/>
                </a:moveTo>
                <a:lnTo>
                  <a:pt x="867066" y="3081838"/>
                </a:lnTo>
                <a:lnTo>
                  <a:pt x="1336436" y="3551209"/>
                </a:lnTo>
                <a:lnTo>
                  <a:pt x="1396132" y="3551209"/>
                </a:lnTo>
                <a:lnTo>
                  <a:pt x="1865502" y="3081837"/>
                </a:lnTo>
                <a:lnTo>
                  <a:pt x="1394561" y="2610895"/>
                </a:lnTo>
                <a:close/>
                <a:moveTo>
                  <a:pt x="11291841" y="2500070"/>
                </a:moveTo>
                <a:lnTo>
                  <a:pt x="11402666" y="2500070"/>
                </a:lnTo>
                <a:lnTo>
                  <a:pt x="11402666" y="2610895"/>
                </a:lnTo>
                <a:lnTo>
                  <a:pt x="11291841" y="2610895"/>
                </a:lnTo>
                <a:close/>
                <a:moveTo>
                  <a:pt x="10241033" y="2500070"/>
                </a:moveTo>
                <a:lnTo>
                  <a:pt x="10351858" y="2500070"/>
                </a:lnTo>
                <a:lnTo>
                  <a:pt x="10351858" y="2610895"/>
                </a:lnTo>
                <a:lnTo>
                  <a:pt x="10241033" y="2610895"/>
                </a:lnTo>
                <a:close/>
                <a:moveTo>
                  <a:pt x="9190225" y="2500070"/>
                </a:moveTo>
                <a:lnTo>
                  <a:pt x="9301050" y="2500070"/>
                </a:lnTo>
                <a:lnTo>
                  <a:pt x="9301050" y="2610895"/>
                </a:lnTo>
                <a:lnTo>
                  <a:pt x="9190225" y="2610895"/>
                </a:lnTo>
                <a:close/>
                <a:moveTo>
                  <a:pt x="8139417" y="2500070"/>
                </a:moveTo>
                <a:lnTo>
                  <a:pt x="8250242" y="2500070"/>
                </a:lnTo>
                <a:lnTo>
                  <a:pt x="8250242" y="2610895"/>
                </a:lnTo>
                <a:lnTo>
                  <a:pt x="8139417" y="2610895"/>
                </a:lnTo>
                <a:close/>
                <a:moveTo>
                  <a:pt x="7088609" y="2500070"/>
                </a:moveTo>
                <a:lnTo>
                  <a:pt x="7199434" y="2500070"/>
                </a:lnTo>
                <a:lnTo>
                  <a:pt x="7199434" y="2610895"/>
                </a:lnTo>
                <a:lnTo>
                  <a:pt x="7088609" y="2610895"/>
                </a:lnTo>
                <a:close/>
                <a:moveTo>
                  <a:pt x="6037801" y="2500070"/>
                </a:moveTo>
                <a:lnTo>
                  <a:pt x="6148626" y="2500070"/>
                </a:lnTo>
                <a:lnTo>
                  <a:pt x="6148626" y="2610895"/>
                </a:lnTo>
                <a:lnTo>
                  <a:pt x="6037801" y="2610895"/>
                </a:lnTo>
                <a:close/>
                <a:moveTo>
                  <a:pt x="4987000" y="2500070"/>
                </a:moveTo>
                <a:lnTo>
                  <a:pt x="5097829" y="2500070"/>
                </a:lnTo>
                <a:lnTo>
                  <a:pt x="5097829" y="2610895"/>
                </a:lnTo>
                <a:lnTo>
                  <a:pt x="4987000" y="2610895"/>
                </a:lnTo>
                <a:close/>
                <a:moveTo>
                  <a:pt x="3936200" y="2500070"/>
                </a:moveTo>
                <a:lnTo>
                  <a:pt x="4047024" y="2500070"/>
                </a:lnTo>
                <a:lnTo>
                  <a:pt x="4047024" y="2610895"/>
                </a:lnTo>
                <a:lnTo>
                  <a:pt x="3936200" y="2610895"/>
                </a:lnTo>
                <a:close/>
                <a:moveTo>
                  <a:pt x="2885393" y="2500070"/>
                </a:moveTo>
                <a:lnTo>
                  <a:pt x="2996218" y="2500070"/>
                </a:lnTo>
                <a:lnTo>
                  <a:pt x="2996218" y="2610895"/>
                </a:lnTo>
                <a:lnTo>
                  <a:pt x="2885393" y="2610895"/>
                </a:lnTo>
                <a:close/>
                <a:moveTo>
                  <a:pt x="1834583" y="2500070"/>
                </a:moveTo>
                <a:lnTo>
                  <a:pt x="1945408" y="2500070"/>
                </a:lnTo>
                <a:lnTo>
                  <a:pt x="1945408" y="2610895"/>
                </a:lnTo>
                <a:lnTo>
                  <a:pt x="1834583" y="2610895"/>
                </a:lnTo>
                <a:close/>
                <a:moveTo>
                  <a:pt x="783777" y="2500070"/>
                </a:moveTo>
                <a:lnTo>
                  <a:pt x="894602" y="2500070"/>
                </a:lnTo>
                <a:lnTo>
                  <a:pt x="894602" y="2610895"/>
                </a:lnTo>
                <a:lnTo>
                  <a:pt x="783777" y="2610895"/>
                </a:lnTo>
                <a:close/>
                <a:moveTo>
                  <a:pt x="1891623" y="2057291"/>
                </a:moveTo>
                <a:lnTo>
                  <a:pt x="1420005" y="2528898"/>
                </a:lnTo>
                <a:lnTo>
                  <a:pt x="1420005" y="2584095"/>
                </a:lnTo>
                <a:lnTo>
                  <a:pt x="1891624" y="3055715"/>
                </a:lnTo>
                <a:lnTo>
                  <a:pt x="2359991" y="2587356"/>
                </a:lnTo>
                <a:lnTo>
                  <a:pt x="2359991" y="2525640"/>
                </a:lnTo>
                <a:close/>
                <a:moveTo>
                  <a:pt x="2942310" y="2057291"/>
                </a:moveTo>
                <a:lnTo>
                  <a:pt x="2470816" y="2528774"/>
                </a:lnTo>
                <a:lnTo>
                  <a:pt x="2470816" y="2584221"/>
                </a:lnTo>
                <a:lnTo>
                  <a:pt x="2942310" y="3055716"/>
                </a:lnTo>
                <a:lnTo>
                  <a:pt x="3410799" y="2587229"/>
                </a:lnTo>
                <a:lnTo>
                  <a:pt x="3410799" y="2525765"/>
                </a:lnTo>
                <a:close/>
                <a:moveTo>
                  <a:pt x="3992986" y="2057290"/>
                </a:moveTo>
                <a:lnTo>
                  <a:pt x="3521627" y="2528649"/>
                </a:lnTo>
                <a:lnTo>
                  <a:pt x="3521627" y="2584345"/>
                </a:lnTo>
                <a:lnTo>
                  <a:pt x="3992986" y="3055715"/>
                </a:lnTo>
                <a:lnTo>
                  <a:pt x="4461596" y="2587094"/>
                </a:lnTo>
                <a:lnTo>
                  <a:pt x="4461596" y="2525899"/>
                </a:lnTo>
                <a:close/>
                <a:moveTo>
                  <a:pt x="840944" y="2057289"/>
                </a:moveTo>
                <a:lnTo>
                  <a:pt x="369198" y="2529024"/>
                </a:lnTo>
                <a:lnTo>
                  <a:pt x="369198" y="2583969"/>
                </a:lnTo>
                <a:lnTo>
                  <a:pt x="840944" y="3055716"/>
                </a:lnTo>
                <a:lnTo>
                  <a:pt x="1309180" y="2587479"/>
                </a:lnTo>
                <a:lnTo>
                  <a:pt x="1309180" y="2525514"/>
                </a:lnTo>
                <a:close/>
                <a:moveTo>
                  <a:pt x="7145007" y="2057289"/>
                </a:moveTo>
                <a:lnTo>
                  <a:pt x="6674030" y="2528255"/>
                </a:lnTo>
                <a:lnTo>
                  <a:pt x="6674030" y="2584733"/>
                </a:lnTo>
                <a:lnTo>
                  <a:pt x="7145010" y="3055713"/>
                </a:lnTo>
                <a:lnTo>
                  <a:pt x="7614013" y="2586710"/>
                </a:lnTo>
                <a:lnTo>
                  <a:pt x="7614013" y="2526283"/>
                </a:lnTo>
                <a:close/>
                <a:moveTo>
                  <a:pt x="5043664" y="2057289"/>
                </a:moveTo>
                <a:lnTo>
                  <a:pt x="4572421" y="2528513"/>
                </a:lnTo>
                <a:lnTo>
                  <a:pt x="4572421" y="2584480"/>
                </a:lnTo>
                <a:lnTo>
                  <a:pt x="5043664" y="3055715"/>
                </a:lnTo>
                <a:lnTo>
                  <a:pt x="5512404" y="2586968"/>
                </a:lnTo>
                <a:lnTo>
                  <a:pt x="5512404" y="2526024"/>
                </a:lnTo>
                <a:close/>
                <a:moveTo>
                  <a:pt x="10297053" y="2057288"/>
                </a:moveTo>
                <a:lnTo>
                  <a:pt x="9826454" y="2527875"/>
                </a:lnTo>
                <a:lnTo>
                  <a:pt x="9826454" y="2585115"/>
                </a:lnTo>
                <a:lnTo>
                  <a:pt x="10297052" y="3055713"/>
                </a:lnTo>
                <a:lnTo>
                  <a:pt x="10766437" y="2586328"/>
                </a:lnTo>
                <a:lnTo>
                  <a:pt x="10766437" y="2526660"/>
                </a:lnTo>
                <a:close/>
                <a:moveTo>
                  <a:pt x="9246373" y="2057288"/>
                </a:moveTo>
                <a:lnTo>
                  <a:pt x="8775646" y="2528002"/>
                </a:lnTo>
                <a:lnTo>
                  <a:pt x="8775646" y="2584986"/>
                </a:lnTo>
                <a:lnTo>
                  <a:pt x="9246373" y="3055713"/>
                </a:lnTo>
                <a:lnTo>
                  <a:pt x="9715629" y="2586457"/>
                </a:lnTo>
                <a:lnTo>
                  <a:pt x="9715629" y="2526532"/>
                </a:lnTo>
                <a:close/>
                <a:moveTo>
                  <a:pt x="8195690" y="2057288"/>
                </a:moveTo>
                <a:lnTo>
                  <a:pt x="7724838" y="2528128"/>
                </a:lnTo>
                <a:lnTo>
                  <a:pt x="7724838" y="2584864"/>
                </a:lnTo>
                <a:lnTo>
                  <a:pt x="8195689" y="3055714"/>
                </a:lnTo>
                <a:lnTo>
                  <a:pt x="8664821" y="2586582"/>
                </a:lnTo>
                <a:lnTo>
                  <a:pt x="8664821" y="2526406"/>
                </a:lnTo>
                <a:close/>
                <a:moveTo>
                  <a:pt x="6094328" y="2057287"/>
                </a:moveTo>
                <a:lnTo>
                  <a:pt x="5623228" y="2528386"/>
                </a:lnTo>
                <a:lnTo>
                  <a:pt x="5623228" y="2584606"/>
                </a:lnTo>
                <a:lnTo>
                  <a:pt x="6094325" y="3055714"/>
                </a:lnTo>
                <a:lnTo>
                  <a:pt x="6563205" y="2586835"/>
                </a:lnTo>
                <a:lnTo>
                  <a:pt x="6563205" y="2526153"/>
                </a:lnTo>
                <a:close/>
                <a:moveTo>
                  <a:pt x="11347736" y="2057286"/>
                </a:moveTo>
                <a:lnTo>
                  <a:pt x="10877262" y="2527747"/>
                </a:lnTo>
                <a:lnTo>
                  <a:pt x="10877262" y="2585241"/>
                </a:lnTo>
                <a:lnTo>
                  <a:pt x="11347734" y="3055713"/>
                </a:lnTo>
                <a:lnTo>
                  <a:pt x="11817249" y="2586199"/>
                </a:lnTo>
                <a:lnTo>
                  <a:pt x="11817249" y="2526787"/>
                </a:lnTo>
                <a:close/>
                <a:moveTo>
                  <a:pt x="258363" y="1973449"/>
                </a:moveTo>
                <a:lnTo>
                  <a:pt x="369188" y="1973449"/>
                </a:lnTo>
                <a:lnTo>
                  <a:pt x="369188" y="2084274"/>
                </a:lnTo>
                <a:lnTo>
                  <a:pt x="258363" y="2084274"/>
                </a:lnTo>
                <a:close/>
                <a:moveTo>
                  <a:pt x="2359980" y="1973449"/>
                </a:moveTo>
                <a:lnTo>
                  <a:pt x="2470805" y="1973449"/>
                </a:lnTo>
                <a:lnTo>
                  <a:pt x="2470805" y="2084274"/>
                </a:lnTo>
                <a:lnTo>
                  <a:pt x="2359980" y="2084274"/>
                </a:lnTo>
                <a:close/>
                <a:moveTo>
                  <a:pt x="1309171" y="1973449"/>
                </a:moveTo>
                <a:lnTo>
                  <a:pt x="1419995" y="1973449"/>
                </a:lnTo>
                <a:lnTo>
                  <a:pt x="1419995" y="2084274"/>
                </a:lnTo>
                <a:lnTo>
                  <a:pt x="1309171" y="2084274"/>
                </a:lnTo>
                <a:close/>
                <a:moveTo>
                  <a:pt x="4461591" y="1973448"/>
                </a:moveTo>
                <a:lnTo>
                  <a:pt x="4572416" y="1973448"/>
                </a:lnTo>
                <a:lnTo>
                  <a:pt x="4572416" y="2084273"/>
                </a:lnTo>
                <a:lnTo>
                  <a:pt x="4461591" y="2084273"/>
                </a:lnTo>
                <a:close/>
                <a:moveTo>
                  <a:pt x="3410788" y="1973448"/>
                </a:moveTo>
                <a:lnTo>
                  <a:pt x="3521614" y="1973448"/>
                </a:lnTo>
                <a:lnTo>
                  <a:pt x="3521614" y="2084273"/>
                </a:lnTo>
                <a:lnTo>
                  <a:pt x="3410788" y="2084273"/>
                </a:lnTo>
                <a:close/>
                <a:moveTo>
                  <a:pt x="6563205" y="1973448"/>
                </a:moveTo>
                <a:lnTo>
                  <a:pt x="6674030" y="1973448"/>
                </a:lnTo>
                <a:lnTo>
                  <a:pt x="6674030" y="2084273"/>
                </a:lnTo>
                <a:lnTo>
                  <a:pt x="6563205" y="2084273"/>
                </a:lnTo>
                <a:close/>
                <a:moveTo>
                  <a:pt x="5512399" y="1973448"/>
                </a:moveTo>
                <a:lnTo>
                  <a:pt x="5623224" y="1973448"/>
                </a:lnTo>
                <a:lnTo>
                  <a:pt x="5623224" y="2084273"/>
                </a:lnTo>
                <a:lnTo>
                  <a:pt x="5512399" y="2084273"/>
                </a:lnTo>
                <a:close/>
                <a:moveTo>
                  <a:pt x="7614013" y="1973448"/>
                </a:moveTo>
                <a:lnTo>
                  <a:pt x="7724838" y="1973448"/>
                </a:lnTo>
                <a:lnTo>
                  <a:pt x="7724838" y="2084273"/>
                </a:lnTo>
                <a:lnTo>
                  <a:pt x="7614013" y="2084273"/>
                </a:lnTo>
                <a:close/>
                <a:moveTo>
                  <a:pt x="9715629" y="1973448"/>
                </a:moveTo>
                <a:lnTo>
                  <a:pt x="9826454" y="1973448"/>
                </a:lnTo>
                <a:lnTo>
                  <a:pt x="9826454" y="2084273"/>
                </a:lnTo>
                <a:lnTo>
                  <a:pt x="9715629" y="2084273"/>
                </a:lnTo>
                <a:close/>
                <a:moveTo>
                  <a:pt x="8664821" y="1973448"/>
                </a:moveTo>
                <a:lnTo>
                  <a:pt x="8775646" y="1973448"/>
                </a:lnTo>
                <a:lnTo>
                  <a:pt x="8775646" y="2084273"/>
                </a:lnTo>
                <a:lnTo>
                  <a:pt x="8664821" y="2084273"/>
                </a:lnTo>
                <a:close/>
                <a:moveTo>
                  <a:pt x="11817249" y="1973448"/>
                </a:moveTo>
                <a:lnTo>
                  <a:pt x="11928074" y="1973448"/>
                </a:lnTo>
                <a:lnTo>
                  <a:pt x="11928074" y="2084273"/>
                </a:lnTo>
                <a:lnTo>
                  <a:pt x="11817249" y="2084273"/>
                </a:lnTo>
                <a:close/>
                <a:moveTo>
                  <a:pt x="10766437" y="1973448"/>
                </a:moveTo>
                <a:lnTo>
                  <a:pt x="10877262" y="1973448"/>
                </a:lnTo>
                <a:lnTo>
                  <a:pt x="10877262" y="2084273"/>
                </a:lnTo>
                <a:lnTo>
                  <a:pt x="10766437" y="2084273"/>
                </a:lnTo>
                <a:close/>
                <a:moveTo>
                  <a:pt x="3441643" y="1557959"/>
                </a:moveTo>
                <a:lnTo>
                  <a:pt x="2968431" y="2031169"/>
                </a:lnTo>
                <a:lnTo>
                  <a:pt x="3437348" y="2500070"/>
                </a:lnTo>
                <a:lnTo>
                  <a:pt x="3497959" y="2500070"/>
                </a:lnTo>
                <a:lnTo>
                  <a:pt x="3966865" y="2031168"/>
                </a:lnTo>
                <a:lnTo>
                  <a:pt x="3493665" y="1557959"/>
                </a:lnTo>
                <a:close/>
                <a:moveTo>
                  <a:pt x="2390961" y="1557959"/>
                </a:moveTo>
                <a:lnTo>
                  <a:pt x="1917745" y="2031169"/>
                </a:lnTo>
                <a:lnTo>
                  <a:pt x="2386665" y="2500070"/>
                </a:lnTo>
                <a:lnTo>
                  <a:pt x="2447277" y="2500070"/>
                </a:lnTo>
                <a:lnTo>
                  <a:pt x="2916189" y="2031169"/>
                </a:lnTo>
                <a:lnTo>
                  <a:pt x="2442980" y="1557959"/>
                </a:lnTo>
                <a:close/>
                <a:moveTo>
                  <a:pt x="1340273" y="1557959"/>
                </a:moveTo>
                <a:lnTo>
                  <a:pt x="867066" y="2031167"/>
                </a:lnTo>
                <a:lnTo>
                  <a:pt x="1335980" y="2500070"/>
                </a:lnTo>
                <a:lnTo>
                  <a:pt x="1396589" y="2500070"/>
                </a:lnTo>
                <a:lnTo>
                  <a:pt x="1865501" y="2031169"/>
                </a:lnTo>
                <a:lnTo>
                  <a:pt x="1392293" y="1557959"/>
                </a:lnTo>
                <a:close/>
                <a:moveTo>
                  <a:pt x="5542986" y="1557958"/>
                </a:moveTo>
                <a:lnTo>
                  <a:pt x="5069790" y="2031167"/>
                </a:lnTo>
                <a:lnTo>
                  <a:pt x="5538694" y="2500070"/>
                </a:lnTo>
                <a:lnTo>
                  <a:pt x="5599302" y="2500070"/>
                </a:lnTo>
                <a:lnTo>
                  <a:pt x="6068206" y="2031166"/>
                </a:lnTo>
                <a:lnTo>
                  <a:pt x="5595011" y="1557958"/>
                </a:lnTo>
                <a:close/>
                <a:moveTo>
                  <a:pt x="4492305" y="1557958"/>
                </a:moveTo>
                <a:lnTo>
                  <a:pt x="4019109" y="2031168"/>
                </a:lnTo>
                <a:lnTo>
                  <a:pt x="4488010" y="2500070"/>
                </a:lnTo>
                <a:lnTo>
                  <a:pt x="4548620" y="2500070"/>
                </a:lnTo>
                <a:lnTo>
                  <a:pt x="5017539" y="2031167"/>
                </a:lnTo>
                <a:lnTo>
                  <a:pt x="4544326" y="1557958"/>
                </a:lnTo>
                <a:close/>
                <a:moveTo>
                  <a:pt x="7644337" y="1557958"/>
                </a:moveTo>
                <a:lnTo>
                  <a:pt x="7171129" y="2031167"/>
                </a:lnTo>
                <a:lnTo>
                  <a:pt x="7640044" y="2500070"/>
                </a:lnTo>
                <a:lnTo>
                  <a:pt x="7700653" y="2500070"/>
                </a:lnTo>
                <a:lnTo>
                  <a:pt x="8169569" y="2031167"/>
                </a:lnTo>
                <a:lnTo>
                  <a:pt x="7696361" y="1557958"/>
                </a:lnTo>
                <a:close/>
                <a:moveTo>
                  <a:pt x="6593656" y="1557958"/>
                </a:moveTo>
                <a:lnTo>
                  <a:pt x="6120450" y="2031165"/>
                </a:lnTo>
                <a:lnTo>
                  <a:pt x="6589366" y="2500070"/>
                </a:lnTo>
                <a:lnTo>
                  <a:pt x="6649970" y="2500070"/>
                </a:lnTo>
                <a:lnTo>
                  <a:pt x="7118885" y="2031167"/>
                </a:lnTo>
                <a:lnTo>
                  <a:pt x="6645676" y="1557958"/>
                </a:lnTo>
                <a:close/>
                <a:moveTo>
                  <a:pt x="9745703" y="1557958"/>
                </a:moveTo>
                <a:lnTo>
                  <a:pt x="9272494" y="2031167"/>
                </a:lnTo>
                <a:lnTo>
                  <a:pt x="9741408" y="2500070"/>
                </a:lnTo>
                <a:lnTo>
                  <a:pt x="9802016" y="2500070"/>
                </a:lnTo>
                <a:lnTo>
                  <a:pt x="10270931" y="2031167"/>
                </a:lnTo>
                <a:lnTo>
                  <a:pt x="9797723" y="1557958"/>
                </a:lnTo>
                <a:close/>
                <a:moveTo>
                  <a:pt x="8695019" y="1557958"/>
                </a:moveTo>
                <a:lnTo>
                  <a:pt x="8221812" y="2031166"/>
                </a:lnTo>
                <a:lnTo>
                  <a:pt x="8690730" y="2500070"/>
                </a:lnTo>
                <a:lnTo>
                  <a:pt x="8751334" y="2500070"/>
                </a:lnTo>
                <a:lnTo>
                  <a:pt x="9220250" y="2031166"/>
                </a:lnTo>
                <a:lnTo>
                  <a:pt x="8747043" y="1557958"/>
                </a:lnTo>
                <a:close/>
                <a:moveTo>
                  <a:pt x="10796383" y="1557958"/>
                </a:moveTo>
                <a:lnTo>
                  <a:pt x="10323175" y="2031166"/>
                </a:lnTo>
                <a:lnTo>
                  <a:pt x="10792091" y="2500070"/>
                </a:lnTo>
                <a:lnTo>
                  <a:pt x="10852696" y="2500070"/>
                </a:lnTo>
                <a:lnTo>
                  <a:pt x="11321614" y="2031164"/>
                </a:lnTo>
                <a:lnTo>
                  <a:pt x="10848409" y="1557958"/>
                </a:lnTo>
                <a:close/>
                <a:moveTo>
                  <a:pt x="783781" y="1447135"/>
                </a:moveTo>
                <a:lnTo>
                  <a:pt x="894606" y="1447135"/>
                </a:lnTo>
                <a:lnTo>
                  <a:pt x="894606" y="1557959"/>
                </a:lnTo>
                <a:lnTo>
                  <a:pt x="783781" y="1557959"/>
                </a:lnTo>
                <a:close/>
                <a:moveTo>
                  <a:pt x="1834586" y="1447134"/>
                </a:moveTo>
                <a:lnTo>
                  <a:pt x="1945411" y="1447134"/>
                </a:lnTo>
                <a:lnTo>
                  <a:pt x="1945411" y="1557959"/>
                </a:lnTo>
                <a:lnTo>
                  <a:pt x="1834586" y="1557959"/>
                </a:lnTo>
                <a:close/>
                <a:moveTo>
                  <a:pt x="4987002" y="1447134"/>
                </a:moveTo>
                <a:lnTo>
                  <a:pt x="5097832" y="1447134"/>
                </a:lnTo>
                <a:lnTo>
                  <a:pt x="5097832" y="1557958"/>
                </a:lnTo>
                <a:lnTo>
                  <a:pt x="4987002" y="1557958"/>
                </a:lnTo>
                <a:close/>
                <a:moveTo>
                  <a:pt x="3936204" y="1447134"/>
                </a:moveTo>
                <a:lnTo>
                  <a:pt x="4047028" y="1447134"/>
                </a:lnTo>
                <a:lnTo>
                  <a:pt x="4047028" y="1557959"/>
                </a:lnTo>
                <a:lnTo>
                  <a:pt x="3936204" y="1557959"/>
                </a:lnTo>
                <a:close/>
                <a:moveTo>
                  <a:pt x="2885398" y="1447134"/>
                </a:moveTo>
                <a:lnTo>
                  <a:pt x="2996224" y="1447134"/>
                </a:lnTo>
                <a:lnTo>
                  <a:pt x="2996224" y="1557959"/>
                </a:lnTo>
                <a:lnTo>
                  <a:pt x="2885398" y="1557959"/>
                </a:lnTo>
                <a:close/>
                <a:moveTo>
                  <a:pt x="6037801" y="1447133"/>
                </a:moveTo>
                <a:lnTo>
                  <a:pt x="6148626" y="1447133"/>
                </a:lnTo>
                <a:lnTo>
                  <a:pt x="6148626" y="1557958"/>
                </a:lnTo>
                <a:lnTo>
                  <a:pt x="6037801" y="1557958"/>
                </a:lnTo>
                <a:close/>
                <a:moveTo>
                  <a:pt x="9190225" y="1447133"/>
                </a:moveTo>
                <a:lnTo>
                  <a:pt x="9301050" y="1447133"/>
                </a:lnTo>
                <a:lnTo>
                  <a:pt x="9301050" y="1557958"/>
                </a:lnTo>
                <a:lnTo>
                  <a:pt x="9190225" y="1557958"/>
                </a:lnTo>
                <a:close/>
                <a:moveTo>
                  <a:pt x="8139417" y="1447133"/>
                </a:moveTo>
                <a:lnTo>
                  <a:pt x="8250242" y="1447133"/>
                </a:lnTo>
                <a:lnTo>
                  <a:pt x="8250242" y="1557958"/>
                </a:lnTo>
                <a:lnTo>
                  <a:pt x="8139417" y="1557958"/>
                </a:lnTo>
                <a:close/>
                <a:moveTo>
                  <a:pt x="7088609" y="1447133"/>
                </a:moveTo>
                <a:lnTo>
                  <a:pt x="7199434" y="1447133"/>
                </a:lnTo>
                <a:lnTo>
                  <a:pt x="7199434" y="1557958"/>
                </a:lnTo>
                <a:lnTo>
                  <a:pt x="7088609" y="1557958"/>
                </a:lnTo>
                <a:close/>
                <a:moveTo>
                  <a:pt x="10241033" y="1447133"/>
                </a:moveTo>
                <a:lnTo>
                  <a:pt x="10351858" y="1447133"/>
                </a:lnTo>
                <a:lnTo>
                  <a:pt x="10351858" y="1557957"/>
                </a:lnTo>
                <a:lnTo>
                  <a:pt x="10241033" y="1557957"/>
                </a:lnTo>
                <a:close/>
                <a:moveTo>
                  <a:pt x="11291841" y="1447133"/>
                </a:moveTo>
                <a:lnTo>
                  <a:pt x="11402666" y="1447133"/>
                </a:lnTo>
                <a:lnTo>
                  <a:pt x="11402666" y="1557957"/>
                </a:lnTo>
                <a:lnTo>
                  <a:pt x="11291841" y="1557957"/>
                </a:lnTo>
                <a:close/>
                <a:moveTo>
                  <a:pt x="2942310" y="1006607"/>
                </a:moveTo>
                <a:lnTo>
                  <a:pt x="2470820" y="1478100"/>
                </a:lnTo>
                <a:lnTo>
                  <a:pt x="2470820" y="1533556"/>
                </a:lnTo>
                <a:lnTo>
                  <a:pt x="2942310" y="2005047"/>
                </a:lnTo>
                <a:lnTo>
                  <a:pt x="3410804" y="1536556"/>
                </a:lnTo>
                <a:lnTo>
                  <a:pt x="3410804" y="1475099"/>
                </a:lnTo>
                <a:close/>
                <a:moveTo>
                  <a:pt x="1891623" y="1006607"/>
                </a:moveTo>
                <a:lnTo>
                  <a:pt x="1420008" y="1478224"/>
                </a:lnTo>
                <a:lnTo>
                  <a:pt x="1420008" y="1533431"/>
                </a:lnTo>
                <a:lnTo>
                  <a:pt x="1891623" y="2005047"/>
                </a:lnTo>
                <a:lnTo>
                  <a:pt x="2359996" y="1536681"/>
                </a:lnTo>
                <a:lnTo>
                  <a:pt x="2359996" y="1474975"/>
                </a:lnTo>
                <a:close/>
                <a:moveTo>
                  <a:pt x="840943" y="1006607"/>
                </a:moveTo>
                <a:lnTo>
                  <a:pt x="369202" y="1478351"/>
                </a:lnTo>
                <a:lnTo>
                  <a:pt x="369202" y="1533303"/>
                </a:lnTo>
                <a:lnTo>
                  <a:pt x="840944" y="2005046"/>
                </a:lnTo>
                <a:lnTo>
                  <a:pt x="1309184" y="1536806"/>
                </a:lnTo>
                <a:lnTo>
                  <a:pt x="1309184" y="1474850"/>
                </a:lnTo>
                <a:close/>
                <a:moveTo>
                  <a:pt x="3992987" y="1006606"/>
                </a:moveTo>
                <a:lnTo>
                  <a:pt x="3521631" y="1477974"/>
                </a:lnTo>
                <a:lnTo>
                  <a:pt x="3521631" y="1533680"/>
                </a:lnTo>
                <a:lnTo>
                  <a:pt x="3992986" y="2005046"/>
                </a:lnTo>
                <a:lnTo>
                  <a:pt x="4461598" y="1536423"/>
                </a:lnTo>
                <a:lnTo>
                  <a:pt x="4461598" y="1475230"/>
                </a:lnTo>
                <a:close/>
                <a:moveTo>
                  <a:pt x="6094326" y="1006605"/>
                </a:moveTo>
                <a:lnTo>
                  <a:pt x="5623230" y="1477714"/>
                </a:lnTo>
                <a:lnTo>
                  <a:pt x="5623230" y="1533934"/>
                </a:lnTo>
                <a:lnTo>
                  <a:pt x="6094328" y="2005044"/>
                </a:lnTo>
                <a:lnTo>
                  <a:pt x="6563205" y="1536166"/>
                </a:lnTo>
                <a:lnTo>
                  <a:pt x="6563205" y="1475487"/>
                </a:lnTo>
                <a:close/>
                <a:moveTo>
                  <a:pt x="9246371" y="1006604"/>
                </a:moveTo>
                <a:lnTo>
                  <a:pt x="8775646" y="1477332"/>
                </a:lnTo>
                <a:lnTo>
                  <a:pt x="8775646" y="1534319"/>
                </a:lnTo>
                <a:lnTo>
                  <a:pt x="9246371" y="2005045"/>
                </a:lnTo>
                <a:lnTo>
                  <a:pt x="9715629" y="1535786"/>
                </a:lnTo>
                <a:lnTo>
                  <a:pt x="9715629" y="1475864"/>
                </a:lnTo>
                <a:close/>
                <a:moveTo>
                  <a:pt x="5043669" y="1006604"/>
                </a:moveTo>
                <a:lnTo>
                  <a:pt x="4572422" y="1477843"/>
                </a:lnTo>
                <a:lnTo>
                  <a:pt x="4572422" y="1533811"/>
                </a:lnTo>
                <a:lnTo>
                  <a:pt x="5043664" y="2005045"/>
                </a:lnTo>
                <a:lnTo>
                  <a:pt x="5512407" y="1536296"/>
                </a:lnTo>
                <a:lnTo>
                  <a:pt x="5512407" y="1475351"/>
                </a:lnTo>
                <a:close/>
                <a:moveTo>
                  <a:pt x="11347735" y="1006604"/>
                </a:moveTo>
                <a:lnTo>
                  <a:pt x="10877262" y="1477079"/>
                </a:lnTo>
                <a:lnTo>
                  <a:pt x="10877262" y="1534567"/>
                </a:lnTo>
                <a:lnTo>
                  <a:pt x="11347736" y="2005041"/>
                </a:lnTo>
                <a:lnTo>
                  <a:pt x="11817249" y="1535528"/>
                </a:lnTo>
                <a:lnTo>
                  <a:pt x="11817249" y="1476120"/>
                </a:lnTo>
                <a:close/>
                <a:moveTo>
                  <a:pt x="8195690" y="1006604"/>
                </a:moveTo>
                <a:lnTo>
                  <a:pt x="7724838" y="1477458"/>
                </a:lnTo>
                <a:lnTo>
                  <a:pt x="7724838" y="1534191"/>
                </a:lnTo>
                <a:lnTo>
                  <a:pt x="8195691" y="2005044"/>
                </a:lnTo>
                <a:lnTo>
                  <a:pt x="8664821" y="1535914"/>
                </a:lnTo>
                <a:lnTo>
                  <a:pt x="8664821" y="1475736"/>
                </a:lnTo>
                <a:close/>
                <a:moveTo>
                  <a:pt x="7145009" y="1006604"/>
                </a:moveTo>
                <a:lnTo>
                  <a:pt x="6674030" y="1477584"/>
                </a:lnTo>
                <a:lnTo>
                  <a:pt x="6674030" y="1534069"/>
                </a:lnTo>
                <a:lnTo>
                  <a:pt x="7145007" y="2005046"/>
                </a:lnTo>
                <a:lnTo>
                  <a:pt x="7614013" y="1536039"/>
                </a:lnTo>
                <a:lnTo>
                  <a:pt x="7614013" y="1475610"/>
                </a:lnTo>
                <a:close/>
                <a:moveTo>
                  <a:pt x="10297056" y="1006603"/>
                </a:moveTo>
                <a:lnTo>
                  <a:pt x="9826454" y="1477207"/>
                </a:lnTo>
                <a:lnTo>
                  <a:pt x="9826454" y="1534445"/>
                </a:lnTo>
                <a:lnTo>
                  <a:pt x="10297053" y="2005045"/>
                </a:lnTo>
                <a:lnTo>
                  <a:pt x="10766437" y="1535660"/>
                </a:lnTo>
                <a:lnTo>
                  <a:pt x="10766437" y="1475986"/>
                </a:lnTo>
                <a:close/>
                <a:moveTo>
                  <a:pt x="258361" y="922634"/>
                </a:moveTo>
                <a:lnTo>
                  <a:pt x="369186" y="922634"/>
                </a:lnTo>
                <a:lnTo>
                  <a:pt x="369186" y="1033459"/>
                </a:lnTo>
                <a:lnTo>
                  <a:pt x="258361" y="1033459"/>
                </a:lnTo>
                <a:close/>
                <a:moveTo>
                  <a:pt x="2359977" y="922633"/>
                </a:moveTo>
                <a:lnTo>
                  <a:pt x="2470802" y="922633"/>
                </a:lnTo>
                <a:lnTo>
                  <a:pt x="2470802" y="1033458"/>
                </a:lnTo>
                <a:lnTo>
                  <a:pt x="2359977" y="1033458"/>
                </a:lnTo>
                <a:close/>
                <a:moveTo>
                  <a:pt x="1309169" y="922633"/>
                </a:moveTo>
                <a:lnTo>
                  <a:pt x="1419993" y="922633"/>
                </a:lnTo>
                <a:lnTo>
                  <a:pt x="1419993" y="1033458"/>
                </a:lnTo>
                <a:lnTo>
                  <a:pt x="1309169" y="1033458"/>
                </a:lnTo>
                <a:close/>
                <a:moveTo>
                  <a:pt x="5512398" y="922633"/>
                </a:moveTo>
                <a:lnTo>
                  <a:pt x="5623223" y="922633"/>
                </a:lnTo>
                <a:lnTo>
                  <a:pt x="5623223" y="1033458"/>
                </a:lnTo>
                <a:lnTo>
                  <a:pt x="5512398" y="1033458"/>
                </a:lnTo>
                <a:close/>
                <a:moveTo>
                  <a:pt x="4461591" y="922633"/>
                </a:moveTo>
                <a:lnTo>
                  <a:pt x="4572415" y="922633"/>
                </a:lnTo>
                <a:lnTo>
                  <a:pt x="4572415" y="1033458"/>
                </a:lnTo>
                <a:lnTo>
                  <a:pt x="4461591" y="1033458"/>
                </a:lnTo>
                <a:close/>
                <a:moveTo>
                  <a:pt x="3410785" y="922633"/>
                </a:moveTo>
                <a:lnTo>
                  <a:pt x="3521610" y="922633"/>
                </a:lnTo>
                <a:lnTo>
                  <a:pt x="3521610" y="1033458"/>
                </a:lnTo>
                <a:lnTo>
                  <a:pt x="3410785" y="1033458"/>
                </a:lnTo>
                <a:close/>
                <a:moveTo>
                  <a:pt x="7614013" y="922633"/>
                </a:moveTo>
                <a:lnTo>
                  <a:pt x="7724838" y="922633"/>
                </a:lnTo>
                <a:lnTo>
                  <a:pt x="7724838" y="1033458"/>
                </a:lnTo>
                <a:lnTo>
                  <a:pt x="7614013" y="1033458"/>
                </a:lnTo>
                <a:close/>
                <a:moveTo>
                  <a:pt x="6563205" y="922633"/>
                </a:moveTo>
                <a:lnTo>
                  <a:pt x="6674030" y="922633"/>
                </a:lnTo>
                <a:lnTo>
                  <a:pt x="6674030" y="1033458"/>
                </a:lnTo>
                <a:lnTo>
                  <a:pt x="6563205" y="1033458"/>
                </a:lnTo>
                <a:close/>
                <a:moveTo>
                  <a:pt x="10766437" y="922633"/>
                </a:moveTo>
                <a:lnTo>
                  <a:pt x="10877262" y="922633"/>
                </a:lnTo>
                <a:lnTo>
                  <a:pt x="10877262" y="1033458"/>
                </a:lnTo>
                <a:lnTo>
                  <a:pt x="10766437" y="1033458"/>
                </a:lnTo>
                <a:close/>
                <a:moveTo>
                  <a:pt x="9715629" y="922633"/>
                </a:moveTo>
                <a:lnTo>
                  <a:pt x="9826454" y="922633"/>
                </a:lnTo>
                <a:lnTo>
                  <a:pt x="9826454" y="1033458"/>
                </a:lnTo>
                <a:lnTo>
                  <a:pt x="9715629" y="1033458"/>
                </a:lnTo>
                <a:close/>
                <a:moveTo>
                  <a:pt x="8664821" y="922633"/>
                </a:moveTo>
                <a:lnTo>
                  <a:pt x="8775646" y="922633"/>
                </a:lnTo>
                <a:lnTo>
                  <a:pt x="8775646" y="1033458"/>
                </a:lnTo>
                <a:lnTo>
                  <a:pt x="8664821" y="1033458"/>
                </a:lnTo>
                <a:close/>
                <a:moveTo>
                  <a:pt x="11817249" y="922633"/>
                </a:moveTo>
                <a:lnTo>
                  <a:pt x="11928074" y="922633"/>
                </a:lnTo>
                <a:lnTo>
                  <a:pt x="11928074" y="1033458"/>
                </a:lnTo>
                <a:lnTo>
                  <a:pt x="11817249" y="1033458"/>
                </a:lnTo>
                <a:close/>
                <a:moveTo>
                  <a:pt x="1337485" y="510062"/>
                </a:moveTo>
                <a:lnTo>
                  <a:pt x="867065" y="980486"/>
                </a:lnTo>
                <a:lnTo>
                  <a:pt x="1333712" y="1447134"/>
                </a:lnTo>
                <a:lnTo>
                  <a:pt x="1398855" y="1447134"/>
                </a:lnTo>
                <a:lnTo>
                  <a:pt x="1865501" y="980486"/>
                </a:lnTo>
                <a:lnTo>
                  <a:pt x="1395081" y="510062"/>
                </a:lnTo>
                <a:close/>
                <a:moveTo>
                  <a:pt x="2388173" y="510062"/>
                </a:moveTo>
                <a:lnTo>
                  <a:pt x="1917745" y="980486"/>
                </a:lnTo>
                <a:lnTo>
                  <a:pt x="2384399" y="1447134"/>
                </a:lnTo>
                <a:lnTo>
                  <a:pt x="2449542" y="1447134"/>
                </a:lnTo>
                <a:lnTo>
                  <a:pt x="2916189" y="980486"/>
                </a:lnTo>
                <a:lnTo>
                  <a:pt x="2445767" y="510062"/>
                </a:lnTo>
                <a:close/>
                <a:moveTo>
                  <a:pt x="3438856" y="510062"/>
                </a:moveTo>
                <a:lnTo>
                  <a:pt x="2968432" y="980486"/>
                </a:lnTo>
                <a:lnTo>
                  <a:pt x="3435083" y="1447134"/>
                </a:lnTo>
                <a:lnTo>
                  <a:pt x="3500228" y="1447134"/>
                </a:lnTo>
                <a:lnTo>
                  <a:pt x="3966865" y="980485"/>
                </a:lnTo>
                <a:lnTo>
                  <a:pt x="3496454" y="510062"/>
                </a:lnTo>
                <a:close/>
                <a:moveTo>
                  <a:pt x="4489518" y="510062"/>
                </a:moveTo>
                <a:lnTo>
                  <a:pt x="4019109" y="980485"/>
                </a:lnTo>
                <a:lnTo>
                  <a:pt x="4485744" y="1447134"/>
                </a:lnTo>
                <a:lnTo>
                  <a:pt x="4550887" y="1447134"/>
                </a:lnTo>
                <a:lnTo>
                  <a:pt x="5017543" y="980483"/>
                </a:lnTo>
                <a:lnTo>
                  <a:pt x="4547118" y="510062"/>
                </a:lnTo>
                <a:close/>
                <a:moveTo>
                  <a:pt x="5540201" y="510062"/>
                </a:moveTo>
                <a:lnTo>
                  <a:pt x="5069792" y="980483"/>
                </a:lnTo>
                <a:lnTo>
                  <a:pt x="5536431" y="1447134"/>
                </a:lnTo>
                <a:lnTo>
                  <a:pt x="5601567" y="1447134"/>
                </a:lnTo>
                <a:lnTo>
                  <a:pt x="6068204" y="980484"/>
                </a:lnTo>
                <a:lnTo>
                  <a:pt x="5597797" y="510062"/>
                </a:lnTo>
                <a:close/>
                <a:moveTo>
                  <a:pt x="6590867" y="510062"/>
                </a:moveTo>
                <a:lnTo>
                  <a:pt x="6120447" y="980484"/>
                </a:lnTo>
                <a:lnTo>
                  <a:pt x="6587095" y="1447133"/>
                </a:lnTo>
                <a:lnTo>
                  <a:pt x="6652238" y="1447133"/>
                </a:lnTo>
                <a:lnTo>
                  <a:pt x="7118887" y="980483"/>
                </a:lnTo>
                <a:lnTo>
                  <a:pt x="6648468" y="510062"/>
                </a:lnTo>
                <a:close/>
                <a:moveTo>
                  <a:pt x="7641550" y="510061"/>
                </a:moveTo>
                <a:lnTo>
                  <a:pt x="7171131" y="980482"/>
                </a:lnTo>
                <a:lnTo>
                  <a:pt x="7637780" y="1447133"/>
                </a:lnTo>
                <a:lnTo>
                  <a:pt x="7702919" y="1447133"/>
                </a:lnTo>
                <a:lnTo>
                  <a:pt x="8169568" y="980483"/>
                </a:lnTo>
                <a:lnTo>
                  <a:pt x="7699149" y="510061"/>
                </a:lnTo>
                <a:close/>
                <a:moveTo>
                  <a:pt x="8692232" y="510061"/>
                </a:moveTo>
                <a:lnTo>
                  <a:pt x="8221811" y="980484"/>
                </a:lnTo>
                <a:lnTo>
                  <a:pt x="8688459" y="1447133"/>
                </a:lnTo>
                <a:lnTo>
                  <a:pt x="8753603" y="1447133"/>
                </a:lnTo>
                <a:lnTo>
                  <a:pt x="9220250" y="980484"/>
                </a:lnTo>
                <a:lnTo>
                  <a:pt x="8749829" y="510061"/>
                </a:lnTo>
                <a:close/>
                <a:moveTo>
                  <a:pt x="10793597" y="510061"/>
                </a:moveTo>
                <a:lnTo>
                  <a:pt x="10323178" y="980482"/>
                </a:lnTo>
                <a:lnTo>
                  <a:pt x="10789828" y="1447133"/>
                </a:lnTo>
                <a:lnTo>
                  <a:pt x="10854964" y="1447133"/>
                </a:lnTo>
                <a:lnTo>
                  <a:pt x="11321613" y="980483"/>
                </a:lnTo>
                <a:lnTo>
                  <a:pt x="10851193" y="510061"/>
                </a:lnTo>
                <a:close/>
                <a:moveTo>
                  <a:pt x="9742913" y="510061"/>
                </a:moveTo>
                <a:lnTo>
                  <a:pt x="9272493" y="980483"/>
                </a:lnTo>
                <a:lnTo>
                  <a:pt x="9739141" y="1447133"/>
                </a:lnTo>
                <a:lnTo>
                  <a:pt x="9804283" y="1447133"/>
                </a:lnTo>
                <a:lnTo>
                  <a:pt x="10270933" y="980481"/>
                </a:lnTo>
                <a:lnTo>
                  <a:pt x="9800515" y="510061"/>
                </a:lnTo>
                <a:close/>
                <a:moveTo>
                  <a:pt x="783785" y="399238"/>
                </a:moveTo>
                <a:lnTo>
                  <a:pt x="894609" y="399238"/>
                </a:lnTo>
                <a:lnTo>
                  <a:pt x="894609" y="510062"/>
                </a:lnTo>
                <a:lnTo>
                  <a:pt x="783785" y="510062"/>
                </a:lnTo>
                <a:close/>
                <a:moveTo>
                  <a:pt x="2885401" y="399237"/>
                </a:moveTo>
                <a:lnTo>
                  <a:pt x="2996227" y="399237"/>
                </a:lnTo>
                <a:lnTo>
                  <a:pt x="2996227" y="510062"/>
                </a:lnTo>
                <a:lnTo>
                  <a:pt x="2885401" y="510062"/>
                </a:lnTo>
                <a:close/>
                <a:moveTo>
                  <a:pt x="1834590" y="399237"/>
                </a:moveTo>
                <a:lnTo>
                  <a:pt x="1945415" y="399237"/>
                </a:lnTo>
                <a:lnTo>
                  <a:pt x="1945415" y="510062"/>
                </a:lnTo>
                <a:lnTo>
                  <a:pt x="1834590" y="510062"/>
                </a:lnTo>
                <a:close/>
                <a:moveTo>
                  <a:pt x="3936208" y="399237"/>
                </a:moveTo>
                <a:lnTo>
                  <a:pt x="4047032" y="399237"/>
                </a:lnTo>
                <a:lnTo>
                  <a:pt x="4047032" y="510062"/>
                </a:lnTo>
                <a:lnTo>
                  <a:pt x="3936208" y="510062"/>
                </a:lnTo>
                <a:close/>
                <a:moveTo>
                  <a:pt x="4987004" y="399237"/>
                </a:moveTo>
                <a:lnTo>
                  <a:pt x="5097834" y="399237"/>
                </a:lnTo>
                <a:lnTo>
                  <a:pt x="5097834" y="510062"/>
                </a:lnTo>
                <a:lnTo>
                  <a:pt x="4987004" y="510062"/>
                </a:lnTo>
                <a:close/>
                <a:moveTo>
                  <a:pt x="6037802" y="399237"/>
                </a:moveTo>
                <a:lnTo>
                  <a:pt x="6148626" y="399237"/>
                </a:lnTo>
                <a:lnTo>
                  <a:pt x="6148626" y="510062"/>
                </a:lnTo>
                <a:lnTo>
                  <a:pt x="6037802" y="510062"/>
                </a:lnTo>
                <a:close/>
                <a:moveTo>
                  <a:pt x="7088609" y="399237"/>
                </a:moveTo>
                <a:lnTo>
                  <a:pt x="7199434" y="399237"/>
                </a:lnTo>
                <a:lnTo>
                  <a:pt x="7199434" y="510061"/>
                </a:lnTo>
                <a:lnTo>
                  <a:pt x="7088609" y="510061"/>
                </a:lnTo>
                <a:close/>
                <a:moveTo>
                  <a:pt x="8139417" y="399237"/>
                </a:moveTo>
                <a:lnTo>
                  <a:pt x="8250242" y="399237"/>
                </a:lnTo>
                <a:lnTo>
                  <a:pt x="8250242" y="510061"/>
                </a:lnTo>
                <a:lnTo>
                  <a:pt x="8139417" y="510061"/>
                </a:lnTo>
                <a:close/>
                <a:moveTo>
                  <a:pt x="9190225" y="399236"/>
                </a:moveTo>
                <a:lnTo>
                  <a:pt x="9301050" y="399236"/>
                </a:lnTo>
                <a:lnTo>
                  <a:pt x="9301050" y="510061"/>
                </a:lnTo>
                <a:lnTo>
                  <a:pt x="9190225" y="510061"/>
                </a:lnTo>
                <a:close/>
                <a:moveTo>
                  <a:pt x="10241033" y="399236"/>
                </a:moveTo>
                <a:lnTo>
                  <a:pt x="10351858" y="399236"/>
                </a:lnTo>
                <a:lnTo>
                  <a:pt x="10351858" y="510061"/>
                </a:lnTo>
                <a:lnTo>
                  <a:pt x="10241033" y="510061"/>
                </a:lnTo>
                <a:close/>
                <a:moveTo>
                  <a:pt x="11291841" y="399236"/>
                </a:moveTo>
                <a:lnTo>
                  <a:pt x="11402666" y="399236"/>
                </a:lnTo>
                <a:lnTo>
                  <a:pt x="11402666" y="510061"/>
                </a:lnTo>
                <a:lnTo>
                  <a:pt x="11291841" y="510061"/>
                </a:lnTo>
                <a:close/>
                <a:moveTo>
                  <a:pt x="6138405" y="0"/>
                </a:moveTo>
                <a:lnTo>
                  <a:pt x="6190649" y="0"/>
                </a:lnTo>
                <a:lnTo>
                  <a:pt x="6589887" y="399237"/>
                </a:lnTo>
                <a:lnTo>
                  <a:pt x="6649449" y="399237"/>
                </a:lnTo>
                <a:lnTo>
                  <a:pt x="7048684" y="2"/>
                </a:lnTo>
                <a:lnTo>
                  <a:pt x="7100928" y="2"/>
                </a:lnTo>
                <a:lnTo>
                  <a:pt x="6674030" y="426899"/>
                </a:lnTo>
                <a:lnTo>
                  <a:pt x="6674030" y="483379"/>
                </a:lnTo>
                <a:lnTo>
                  <a:pt x="7145009" y="954361"/>
                </a:lnTo>
                <a:lnTo>
                  <a:pt x="7614013" y="485355"/>
                </a:lnTo>
                <a:lnTo>
                  <a:pt x="7614013" y="424926"/>
                </a:lnTo>
                <a:lnTo>
                  <a:pt x="7189086" y="0"/>
                </a:lnTo>
                <a:lnTo>
                  <a:pt x="7241329" y="0"/>
                </a:lnTo>
                <a:lnTo>
                  <a:pt x="7640566" y="399237"/>
                </a:lnTo>
                <a:lnTo>
                  <a:pt x="7700131" y="399237"/>
                </a:lnTo>
                <a:lnTo>
                  <a:pt x="8099367" y="1"/>
                </a:lnTo>
                <a:lnTo>
                  <a:pt x="8151611" y="1"/>
                </a:lnTo>
                <a:lnTo>
                  <a:pt x="7724838" y="426774"/>
                </a:lnTo>
                <a:lnTo>
                  <a:pt x="7724838" y="483508"/>
                </a:lnTo>
                <a:lnTo>
                  <a:pt x="8195689" y="954363"/>
                </a:lnTo>
                <a:lnTo>
                  <a:pt x="8664821" y="485229"/>
                </a:lnTo>
                <a:lnTo>
                  <a:pt x="8664821" y="425053"/>
                </a:lnTo>
                <a:lnTo>
                  <a:pt x="8239767" y="0"/>
                </a:lnTo>
                <a:lnTo>
                  <a:pt x="8292011" y="0"/>
                </a:lnTo>
                <a:lnTo>
                  <a:pt x="8691248" y="399236"/>
                </a:lnTo>
                <a:lnTo>
                  <a:pt x="8750812" y="399236"/>
                </a:lnTo>
                <a:lnTo>
                  <a:pt x="9150049" y="1"/>
                </a:lnTo>
                <a:lnTo>
                  <a:pt x="9202293" y="1"/>
                </a:lnTo>
                <a:lnTo>
                  <a:pt x="8775646" y="426647"/>
                </a:lnTo>
                <a:lnTo>
                  <a:pt x="8775646" y="483635"/>
                </a:lnTo>
                <a:lnTo>
                  <a:pt x="9246372" y="954363"/>
                </a:lnTo>
                <a:lnTo>
                  <a:pt x="9715629" y="485103"/>
                </a:lnTo>
                <a:lnTo>
                  <a:pt x="9715629" y="425175"/>
                </a:lnTo>
                <a:lnTo>
                  <a:pt x="9290453" y="0"/>
                </a:lnTo>
                <a:lnTo>
                  <a:pt x="9342696" y="0"/>
                </a:lnTo>
                <a:lnTo>
                  <a:pt x="9741934" y="399236"/>
                </a:lnTo>
                <a:lnTo>
                  <a:pt x="9801496" y="399236"/>
                </a:lnTo>
                <a:lnTo>
                  <a:pt x="10200732" y="1"/>
                </a:lnTo>
                <a:lnTo>
                  <a:pt x="10252974" y="1"/>
                </a:lnTo>
                <a:lnTo>
                  <a:pt x="9826454" y="426520"/>
                </a:lnTo>
                <a:lnTo>
                  <a:pt x="9826454" y="483756"/>
                </a:lnTo>
                <a:lnTo>
                  <a:pt x="10297055" y="954360"/>
                </a:lnTo>
                <a:lnTo>
                  <a:pt x="10766437" y="484975"/>
                </a:lnTo>
                <a:lnTo>
                  <a:pt x="10766437" y="425305"/>
                </a:lnTo>
                <a:lnTo>
                  <a:pt x="10341131" y="0"/>
                </a:lnTo>
                <a:lnTo>
                  <a:pt x="10393375" y="0"/>
                </a:lnTo>
                <a:lnTo>
                  <a:pt x="10792612" y="399236"/>
                </a:lnTo>
                <a:lnTo>
                  <a:pt x="10852176" y="399236"/>
                </a:lnTo>
                <a:lnTo>
                  <a:pt x="11251411" y="3"/>
                </a:lnTo>
                <a:lnTo>
                  <a:pt x="11303657" y="3"/>
                </a:lnTo>
                <a:lnTo>
                  <a:pt x="10877262" y="426397"/>
                </a:lnTo>
                <a:lnTo>
                  <a:pt x="10877262" y="483887"/>
                </a:lnTo>
                <a:lnTo>
                  <a:pt x="11347735" y="954362"/>
                </a:lnTo>
                <a:lnTo>
                  <a:pt x="11817249" y="484846"/>
                </a:lnTo>
                <a:lnTo>
                  <a:pt x="11817249" y="425436"/>
                </a:lnTo>
                <a:lnTo>
                  <a:pt x="11391812" y="0"/>
                </a:lnTo>
                <a:lnTo>
                  <a:pt x="11444056" y="0"/>
                </a:lnTo>
                <a:lnTo>
                  <a:pt x="11843293" y="399236"/>
                </a:lnTo>
                <a:lnTo>
                  <a:pt x="11902859" y="399236"/>
                </a:lnTo>
                <a:lnTo>
                  <a:pt x="12191973" y="110123"/>
                </a:lnTo>
                <a:lnTo>
                  <a:pt x="12191973" y="162366"/>
                </a:lnTo>
                <a:lnTo>
                  <a:pt x="11928074" y="426265"/>
                </a:lnTo>
                <a:lnTo>
                  <a:pt x="11928074" y="484017"/>
                </a:lnTo>
                <a:lnTo>
                  <a:pt x="12191974" y="747926"/>
                </a:lnTo>
                <a:lnTo>
                  <a:pt x="12191974" y="800166"/>
                </a:lnTo>
                <a:lnTo>
                  <a:pt x="11901874" y="510061"/>
                </a:lnTo>
                <a:lnTo>
                  <a:pt x="11844278" y="510061"/>
                </a:lnTo>
                <a:lnTo>
                  <a:pt x="11373857" y="980483"/>
                </a:lnTo>
                <a:lnTo>
                  <a:pt x="11840505" y="1447132"/>
                </a:lnTo>
                <a:lnTo>
                  <a:pt x="11905645" y="1447132"/>
                </a:lnTo>
                <a:lnTo>
                  <a:pt x="12191976" y="1160803"/>
                </a:lnTo>
                <a:lnTo>
                  <a:pt x="12191976" y="1213046"/>
                </a:lnTo>
                <a:lnTo>
                  <a:pt x="11928074" y="1476947"/>
                </a:lnTo>
                <a:lnTo>
                  <a:pt x="11928074" y="1534702"/>
                </a:lnTo>
                <a:lnTo>
                  <a:pt x="12191975" y="1798604"/>
                </a:lnTo>
                <a:lnTo>
                  <a:pt x="12191975" y="1850847"/>
                </a:lnTo>
                <a:lnTo>
                  <a:pt x="11899087" y="1557957"/>
                </a:lnTo>
                <a:lnTo>
                  <a:pt x="11847063" y="1557957"/>
                </a:lnTo>
                <a:lnTo>
                  <a:pt x="11373858" y="2031163"/>
                </a:lnTo>
                <a:lnTo>
                  <a:pt x="11842778" y="2500070"/>
                </a:lnTo>
                <a:lnTo>
                  <a:pt x="11903378" y="2500070"/>
                </a:lnTo>
                <a:lnTo>
                  <a:pt x="12191975" y="2211473"/>
                </a:lnTo>
                <a:lnTo>
                  <a:pt x="12191974" y="2263716"/>
                </a:lnTo>
                <a:lnTo>
                  <a:pt x="11928074" y="2527616"/>
                </a:lnTo>
                <a:lnTo>
                  <a:pt x="11928074" y="2585366"/>
                </a:lnTo>
                <a:lnTo>
                  <a:pt x="12191978" y="2849270"/>
                </a:lnTo>
                <a:lnTo>
                  <a:pt x="12191977" y="2901515"/>
                </a:lnTo>
                <a:lnTo>
                  <a:pt x="11901357" y="2610895"/>
                </a:lnTo>
                <a:lnTo>
                  <a:pt x="11844795" y="2610895"/>
                </a:lnTo>
                <a:lnTo>
                  <a:pt x="11373856" y="3081835"/>
                </a:lnTo>
                <a:lnTo>
                  <a:pt x="11843230" y="3551209"/>
                </a:lnTo>
                <a:lnTo>
                  <a:pt x="11902922" y="3551209"/>
                </a:lnTo>
                <a:lnTo>
                  <a:pt x="12191974" y="3262156"/>
                </a:lnTo>
                <a:lnTo>
                  <a:pt x="12191974" y="3314400"/>
                </a:lnTo>
                <a:lnTo>
                  <a:pt x="11928074" y="3578299"/>
                </a:lnTo>
                <a:lnTo>
                  <a:pt x="11928074" y="3636053"/>
                </a:lnTo>
                <a:lnTo>
                  <a:pt x="12191975" y="3899954"/>
                </a:lnTo>
                <a:lnTo>
                  <a:pt x="12191975" y="3952198"/>
                </a:lnTo>
                <a:lnTo>
                  <a:pt x="11901811" y="3662034"/>
                </a:lnTo>
                <a:lnTo>
                  <a:pt x="11844339" y="3662034"/>
                </a:lnTo>
                <a:lnTo>
                  <a:pt x="11373856" y="4132518"/>
                </a:lnTo>
                <a:lnTo>
                  <a:pt x="11813331" y="4571992"/>
                </a:lnTo>
                <a:lnTo>
                  <a:pt x="11761089" y="4571991"/>
                </a:lnTo>
                <a:lnTo>
                  <a:pt x="11347736" y="4158638"/>
                </a:lnTo>
                <a:lnTo>
                  <a:pt x="10934382" y="4571992"/>
                </a:lnTo>
                <a:lnTo>
                  <a:pt x="10882138" y="4571992"/>
                </a:lnTo>
                <a:lnTo>
                  <a:pt x="11321614" y="4132516"/>
                </a:lnTo>
                <a:lnTo>
                  <a:pt x="10851132" y="3662034"/>
                </a:lnTo>
                <a:lnTo>
                  <a:pt x="10793656" y="3662034"/>
                </a:lnTo>
                <a:lnTo>
                  <a:pt x="10323175" y="4132515"/>
                </a:lnTo>
                <a:lnTo>
                  <a:pt x="10762651" y="4571991"/>
                </a:lnTo>
                <a:lnTo>
                  <a:pt x="10710406" y="4571992"/>
                </a:lnTo>
                <a:lnTo>
                  <a:pt x="10297052" y="4158638"/>
                </a:lnTo>
                <a:lnTo>
                  <a:pt x="9883699" y="4571992"/>
                </a:lnTo>
                <a:lnTo>
                  <a:pt x="9831456" y="4571992"/>
                </a:lnTo>
                <a:lnTo>
                  <a:pt x="10270931" y="4132517"/>
                </a:lnTo>
                <a:lnTo>
                  <a:pt x="9800448" y="3662034"/>
                </a:lnTo>
                <a:lnTo>
                  <a:pt x="9742974" y="3662034"/>
                </a:lnTo>
                <a:lnTo>
                  <a:pt x="9272491" y="4132517"/>
                </a:lnTo>
                <a:lnTo>
                  <a:pt x="9711968" y="4571993"/>
                </a:lnTo>
                <a:lnTo>
                  <a:pt x="9659723" y="4571993"/>
                </a:lnTo>
                <a:lnTo>
                  <a:pt x="9246369" y="4158639"/>
                </a:lnTo>
                <a:lnTo>
                  <a:pt x="8833016" y="4571992"/>
                </a:lnTo>
                <a:lnTo>
                  <a:pt x="8780772" y="4571992"/>
                </a:lnTo>
                <a:lnTo>
                  <a:pt x="9220247" y="4132517"/>
                </a:lnTo>
                <a:lnTo>
                  <a:pt x="8749764" y="3662034"/>
                </a:lnTo>
                <a:lnTo>
                  <a:pt x="8692294" y="3662034"/>
                </a:lnTo>
                <a:lnTo>
                  <a:pt x="8221812" y="4132516"/>
                </a:lnTo>
                <a:lnTo>
                  <a:pt x="8661288" y="4571992"/>
                </a:lnTo>
                <a:lnTo>
                  <a:pt x="8609042" y="4571992"/>
                </a:lnTo>
                <a:lnTo>
                  <a:pt x="8195689" y="4158639"/>
                </a:lnTo>
                <a:lnTo>
                  <a:pt x="7782334" y="4571994"/>
                </a:lnTo>
                <a:lnTo>
                  <a:pt x="7730092" y="4571994"/>
                </a:lnTo>
                <a:lnTo>
                  <a:pt x="8169568" y="4132518"/>
                </a:lnTo>
                <a:lnTo>
                  <a:pt x="7699085" y="3662034"/>
                </a:lnTo>
                <a:lnTo>
                  <a:pt x="7641614" y="3662034"/>
                </a:lnTo>
                <a:lnTo>
                  <a:pt x="7171129" y="4132518"/>
                </a:lnTo>
                <a:lnTo>
                  <a:pt x="7610604" y="4571993"/>
                </a:lnTo>
                <a:lnTo>
                  <a:pt x="7558360" y="4571993"/>
                </a:lnTo>
                <a:lnTo>
                  <a:pt x="7145007" y="4158640"/>
                </a:lnTo>
                <a:lnTo>
                  <a:pt x="6731655" y="4571993"/>
                </a:lnTo>
                <a:lnTo>
                  <a:pt x="6679410" y="4571993"/>
                </a:lnTo>
                <a:lnTo>
                  <a:pt x="7118885" y="4132518"/>
                </a:lnTo>
                <a:lnTo>
                  <a:pt x="6648402" y="3662034"/>
                </a:lnTo>
                <a:lnTo>
                  <a:pt x="6590932" y="3662034"/>
                </a:lnTo>
                <a:lnTo>
                  <a:pt x="6120448" y="4132519"/>
                </a:lnTo>
                <a:lnTo>
                  <a:pt x="6559922" y="4571993"/>
                </a:lnTo>
                <a:lnTo>
                  <a:pt x="6507678" y="4571993"/>
                </a:lnTo>
                <a:lnTo>
                  <a:pt x="6094326" y="4158641"/>
                </a:lnTo>
                <a:lnTo>
                  <a:pt x="5680985" y="4571992"/>
                </a:lnTo>
                <a:lnTo>
                  <a:pt x="5628744" y="4571992"/>
                </a:lnTo>
                <a:lnTo>
                  <a:pt x="6068205" y="4132519"/>
                </a:lnTo>
                <a:lnTo>
                  <a:pt x="5597731" y="3662034"/>
                </a:lnTo>
                <a:lnTo>
                  <a:pt x="5540263" y="3662034"/>
                </a:lnTo>
                <a:lnTo>
                  <a:pt x="5069789" y="4132518"/>
                </a:lnTo>
                <a:lnTo>
                  <a:pt x="5509253" y="4571993"/>
                </a:lnTo>
                <a:lnTo>
                  <a:pt x="5457012" y="4571993"/>
                </a:lnTo>
                <a:lnTo>
                  <a:pt x="5043664" y="4158640"/>
                </a:lnTo>
                <a:lnTo>
                  <a:pt x="4630303" y="4571992"/>
                </a:lnTo>
                <a:lnTo>
                  <a:pt x="4578059" y="4571992"/>
                </a:lnTo>
                <a:lnTo>
                  <a:pt x="5017539" y="4132518"/>
                </a:lnTo>
                <a:lnTo>
                  <a:pt x="4547049" y="3662034"/>
                </a:lnTo>
                <a:lnTo>
                  <a:pt x="4489581" y="3662034"/>
                </a:lnTo>
                <a:lnTo>
                  <a:pt x="4019108" y="4132519"/>
                </a:lnTo>
                <a:lnTo>
                  <a:pt x="4458568" y="4571993"/>
                </a:lnTo>
                <a:lnTo>
                  <a:pt x="4406323" y="4571993"/>
                </a:lnTo>
                <a:lnTo>
                  <a:pt x="3992985" y="4158641"/>
                </a:lnTo>
                <a:lnTo>
                  <a:pt x="3579645" y="4571992"/>
                </a:lnTo>
                <a:lnTo>
                  <a:pt x="3527403" y="4571992"/>
                </a:lnTo>
                <a:lnTo>
                  <a:pt x="3966864" y="4132520"/>
                </a:lnTo>
                <a:lnTo>
                  <a:pt x="3496388" y="3662034"/>
                </a:lnTo>
                <a:lnTo>
                  <a:pt x="3438920" y="3662034"/>
                </a:lnTo>
                <a:lnTo>
                  <a:pt x="2968432" y="4132519"/>
                </a:lnTo>
                <a:lnTo>
                  <a:pt x="3407908" y="4571992"/>
                </a:lnTo>
                <a:lnTo>
                  <a:pt x="3355663" y="4571992"/>
                </a:lnTo>
                <a:lnTo>
                  <a:pt x="2942311" y="4158641"/>
                </a:lnTo>
                <a:lnTo>
                  <a:pt x="2528961" y="4571991"/>
                </a:lnTo>
                <a:lnTo>
                  <a:pt x="2476717" y="4571991"/>
                </a:lnTo>
                <a:lnTo>
                  <a:pt x="2916189" y="4132519"/>
                </a:lnTo>
                <a:lnTo>
                  <a:pt x="2445706" y="3662034"/>
                </a:lnTo>
                <a:lnTo>
                  <a:pt x="2388237" y="3662034"/>
                </a:lnTo>
                <a:lnTo>
                  <a:pt x="1917745" y="4132520"/>
                </a:lnTo>
                <a:lnTo>
                  <a:pt x="2357225" y="4571992"/>
                </a:lnTo>
                <a:lnTo>
                  <a:pt x="2304981" y="4571993"/>
                </a:lnTo>
                <a:lnTo>
                  <a:pt x="1891623" y="4158642"/>
                </a:lnTo>
                <a:lnTo>
                  <a:pt x="1478275" y="4571991"/>
                </a:lnTo>
                <a:lnTo>
                  <a:pt x="1426031" y="4571991"/>
                </a:lnTo>
                <a:lnTo>
                  <a:pt x="1865501" y="4132520"/>
                </a:lnTo>
                <a:lnTo>
                  <a:pt x="1395017" y="3662034"/>
                </a:lnTo>
                <a:lnTo>
                  <a:pt x="1337551" y="3662034"/>
                </a:lnTo>
                <a:lnTo>
                  <a:pt x="867066" y="4132521"/>
                </a:lnTo>
                <a:lnTo>
                  <a:pt x="1306536" y="4571992"/>
                </a:lnTo>
                <a:lnTo>
                  <a:pt x="1254292" y="4571992"/>
                </a:lnTo>
                <a:lnTo>
                  <a:pt x="840944" y="4158643"/>
                </a:lnTo>
                <a:lnTo>
                  <a:pt x="427595" y="4571993"/>
                </a:lnTo>
                <a:lnTo>
                  <a:pt x="375351" y="4571993"/>
                </a:lnTo>
                <a:lnTo>
                  <a:pt x="814822" y="4132521"/>
                </a:lnTo>
                <a:lnTo>
                  <a:pt x="344336" y="3662034"/>
                </a:lnTo>
                <a:lnTo>
                  <a:pt x="286870" y="3662034"/>
                </a:lnTo>
                <a:lnTo>
                  <a:pt x="5" y="3948900"/>
                </a:lnTo>
                <a:lnTo>
                  <a:pt x="5" y="3896656"/>
                </a:lnTo>
                <a:lnTo>
                  <a:pt x="258369" y="3638291"/>
                </a:lnTo>
                <a:lnTo>
                  <a:pt x="258369" y="3576066"/>
                </a:lnTo>
                <a:lnTo>
                  <a:pt x="1" y="3317698"/>
                </a:lnTo>
                <a:lnTo>
                  <a:pt x="1" y="3265454"/>
                </a:lnTo>
                <a:lnTo>
                  <a:pt x="285756" y="3551209"/>
                </a:lnTo>
                <a:lnTo>
                  <a:pt x="345451" y="3551209"/>
                </a:lnTo>
                <a:lnTo>
                  <a:pt x="814822" y="3081838"/>
                </a:lnTo>
                <a:lnTo>
                  <a:pt x="343880" y="2610895"/>
                </a:lnTo>
                <a:lnTo>
                  <a:pt x="287328" y="2610895"/>
                </a:lnTo>
                <a:lnTo>
                  <a:pt x="6" y="2898217"/>
                </a:lnTo>
                <a:lnTo>
                  <a:pt x="6" y="2845973"/>
                </a:lnTo>
                <a:lnTo>
                  <a:pt x="258373" y="2587605"/>
                </a:lnTo>
                <a:lnTo>
                  <a:pt x="258373" y="2525388"/>
                </a:lnTo>
                <a:lnTo>
                  <a:pt x="1" y="2267015"/>
                </a:lnTo>
                <a:lnTo>
                  <a:pt x="0" y="2214770"/>
                </a:lnTo>
                <a:lnTo>
                  <a:pt x="285299" y="2500070"/>
                </a:lnTo>
                <a:lnTo>
                  <a:pt x="345909" y="2500070"/>
                </a:lnTo>
                <a:lnTo>
                  <a:pt x="814822" y="2031167"/>
                </a:lnTo>
                <a:lnTo>
                  <a:pt x="341616" y="1557959"/>
                </a:lnTo>
                <a:lnTo>
                  <a:pt x="289593" y="1557959"/>
                </a:lnTo>
                <a:lnTo>
                  <a:pt x="4" y="1847551"/>
                </a:lnTo>
                <a:lnTo>
                  <a:pt x="4" y="1795307"/>
                </a:lnTo>
                <a:lnTo>
                  <a:pt x="258377" y="1536932"/>
                </a:lnTo>
                <a:lnTo>
                  <a:pt x="258377" y="1474721"/>
                </a:lnTo>
                <a:lnTo>
                  <a:pt x="2" y="1216345"/>
                </a:lnTo>
                <a:lnTo>
                  <a:pt x="2" y="1164102"/>
                </a:lnTo>
                <a:lnTo>
                  <a:pt x="283034" y="1447135"/>
                </a:lnTo>
                <a:lnTo>
                  <a:pt x="348175" y="1447135"/>
                </a:lnTo>
                <a:lnTo>
                  <a:pt x="814821" y="980486"/>
                </a:lnTo>
                <a:lnTo>
                  <a:pt x="344401" y="510062"/>
                </a:lnTo>
                <a:lnTo>
                  <a:pt x="286805" y="510062"/>
                </a:lnTo>
                <a:lnTo>
                  <a:pt x="5" y="796868"/>
                </a:lnTo>
                <a:lnTo>
                  <a:pt x="5" y="744628"/>
                </a:lnTo>
                <a:lnTo>
                  <a:pt x="258382" y="486242"/>
                </a:lnTo>
                <a:lnTo>
                  <a:pt x="258382" y="424043"/>
                </a:lnTo>
                <a:lnTo>
                  <a:pt x="3" y="165664"/>
                </a:lnTo>
                <a:lnTo>
                  <a:pt x="3" y="113420"/>
                </a:lnTo>
                <a:lnTo>
                  <a:pt x="285820" y="399237"/>
                </a:lnTo>
                <a:lnTo>
                  <a:pt x="345386" y="399237"/>
                </a:lnTo>
                <a:lnTo>
                  <a:pt x="744622" y="2"/>
                </a:lnTo>
                <a:lnTo>
                  <a:pt x="796865" y="2"/>
                </a:lnTo>
                <a:lnTo>
                  <a:pt x="369206" y="427661"/>
                </a:lnTo>
                <a:lnTo>
                  <a:pt x="369206" y="482624"/>
                </a:lnTo>
                <a:lnTo>
                  <a:pt x="840943" y="954364"/>
                </a:lnTo>
                <a:lnTo>
                  <a:pt x="1309187" y="486116"/>
                </a:lnTo>
                <a:lnTo>
                  <a:pt x="1309187" y="424169"/>
                </a:lnTo>
                <a:lnTo>
                  <a:pt x="885019" y="0"/>
                </a:lnTo>
                <a:lnTo>
                  <a:pt x="937262" y="0"/>
                </a:lnTo>
                <a:lnTo>
                  <a:pt x="1336499" y="399237"/>
                </a:lnTo>
                <a:lnTo>
                  <a:pt x="1396066" y="399237"/>
                </a:lnTo>
                <a:lnTo>
                  <a:pt x="1795300" y="3"/>
                </a:lnTo>
                <a:lnTo>
                  <a:pt x="1847544" y="3"/>
                </a:lnTo>
                <a:lnTo>
                  <a:pt x="1420012" y="427535"/>
                </a:lnTo>
                <a:lnTo>
                  <a:pt x="1420012" y="482750"/>
                </a:lnTo>
                <a:lnTo>
                  <a:pt x="1891623" y="954365"/>
                </a:lnTo>
                <a:lnTo>
                  <a:pt x="2360001" y="485992"/>
                </a:lnTo>
                <a:lnTo>
                  <a:pt x="2360001" y="424295"/>
                </a:lnTo>
                <a:lnTo>
                  <a:pt x="1935698" y="0"/>
                </a:lnTo>
                <a:lnTo>
                  <a:pt x="1987943" y="0"/>
                </a:lnTo>
                <a:lnTo>
                  <a:pt x="2387187" y="399237"/>
                </a:lnTo>
                <a:lnTo>
                  <a:pt x="2446755" y="399237"/>
                </a:lnTo>
                <a:lnTo>
                  <a:pt x="2845991" y="2"/>
                </a:lnTo>
                <a:lnTo>
                  <a:pt x="2898236" y="2"/>
                </a:lnTo>
                <a:lnTo>
                  <a:pt x="2470825" y="427411"/>
                </a:lnTo>
                <a:lnTo>
                  <a:pt x="2470825" y="482875"/>
                </a:lnTo>
                <a:lnTo>
                  <a:pt x="2942310" y="954365"/>
                </a:lnTo>
                <a:lnTo>
                  <a:pt x="3410809" y="485866"/>
                </a:lnTo>
                <a:lnTo>
                  <a:pt x="3410809" y="424419"/>
                </a:lnTo>
                <a:lnTo>
                  <a:pt x="2986386" y="0"/>
                </a:lnTo>
                <a:lnTo>
                  <a:pt x="3038626" y="0"/>
                </a:lnTo>
                <a:lnTo>
                  <a:pt x="3437870" y="399237"/>
                </a:lnTo>
                <a:lnTo>
                  <a:pt x="3497441" y="399237"/>
                </a:lnTo>
                <a:lnTo>
                  <a:pt x="3896667" y="2"/>
                </a:lnTo>
                <a:lnTo>
                  <a:pt x="3948913" y="2"/>
                </a:lnTo>
                <a:lnTo>
                  <a:pt x="3521637" y="427285"/>
                </a:lnTo>
                <a:lnTo>
                  <a:pt x="3521637" y="483001"/>
                </a:lnTo>
                <a:lnTo>
                  <a:pt x="3992987" y="954364"/>
                </a:lnTo>
                <a:lnTo>
                  <a:pt x="4461599" y="485738"/>
                </a:lnTo>
                <a:lnTo>
                  <a:pt x="4461599" y="424543"/>
                </a:lnTo>
                <a:lnTo>
                  <a:pt x="4037068" y="1"/>
                </a:lnTo>
                <a:lnTo>
                  <a:pt x="4089312" y="1"/>
                </a:lnTo>
                <a:lnTo>
                  <a:pt x="4488534" y="399237"/>
                </a:lnTo>
                <a:lnTo>
                  <a:pt x="4548100" y="399237"/>
                </a:lnTo>
                <a:lnTo>
                  <a:pt x="4947332" y="4"/>
                </a:lnTo>
                <a:lnTo>
                  <a:pt x="4999581" y="4"/>
                </a:lnTo>
                <a:lnTo>
                  <a:pt x="4572422" y="427156"/>
                </a:lnTo>
                <a:lnTo>
                  <a:pt x="4572422" y="483126"/>
                </a:lnTo>
                <a:lnTo>
                  <a:pt x="5043667" y="954362"/>
                </a:lnTo>
                <a:lnTo>
                  <a:pt x="5512409" y="485609"/>
                </a:lnTo>
                <a:lnTo>
                  <a:pt x="5512409" y="424674"/>
                </a:lnTo>
                <a:lnTo>
                  <a:pt x="5087742" y="1"/>
                </a:lnTo>
                <a:lnTo>
                  <a:pt x="5139977" y="1"/>
                </a:lnTo>
                <a:lnTo>
                  <a:pt x="5539215" y="399237"/>
                </a:lnTo>
                <a:lnTo>
                  <a:pt x="5598781" y="399237"/>
                </a:lnTo>
                <a:lnTo>
                  <a:pt x="5998007" y="2"/>
                </a:lnTo>
                <a:lnTo>
                  <a:pt x="6050249" y="2"/>
                </a:lnTo>
                <a:lnTo>
                  <a:pt x="5623232" y="427030"/>
                </a:lnTo>
                <a:lnTo>
                  <a:pt x="5623232" y="483255"/>
                </a:lnTo>
                <a:lnTo>
                  <a:pt x="6094326" y="954363"/>
                </a:lnTo>
                <a:lnTo>
                  <a:pt x="6563205" y="485481"/>
                </a:lnTo>
                <a:lnTo>
                  <a:pt x="6563205" y="42479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8ABE3C1-DBE1-495D-B57B-2849774B866A}" type="datetimeFigureOut">
              <a:rPr lang="en-US" smtClean="0"/>
              <a:t>11/14/2024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flipV="1">
            <a:off x="838684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656197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smtClean="0"/>
              <a:t>11/14/2024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pic>
        <p:nvPicPr>
          <p:cNvPr id="8" name="Picture 7">
            <a:extLst>
              <a:ext uri="{FF2B5EF4-FFF2-40B4-BE49-F238E27FC236}">
                <a16:creationId xmlns:a16="http://schemas.microsoft.com/office/drawing/2014/main" id="{CBF4C11C-5D20-EE49-BF22-E27F0BD44C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64229" y="6171086"/>
            <a:ext cx="1187824" cy="599236"/>
          </a:xfrm>
          <a:prstGeom prst="rect">
            <a:avLst/>
          </a:prstGeom>
        </p:spPr>
      </p:pic>
    </p:spTree>
    <p:extLst>
      <p:ext uri="{BB962C8B-B14F-4D97-AF65-F5344CB8AC3E}">
        <p14:creationId xmlns:p14="http://schemas.microsoft.com/office/powerpoint/2010/main" val="316480043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24" y="8"/>
            <a:ext cx="12191978" cy="4571994"/>
          </a:xfrm>
          <a:custGeom>
            <a:avLst/>
            <a:gdLst/>
            <a:ahLst/>
            <a:cxnLst/>
            <a:rect l="l" t="t" r="r" b="b"/>
            <a:pathLst>
              <a:path w="12191978" h="4571994">
                <a:moveTo>
                  <a:pt x="1" y="4316129"/>
                </a:moveTo>
                <a:lnTo>
                  <a:pt x="255863" y="4571991"/>
                </a:lnTo>
                <a:lnTo>
                  <a:pt x="203619" y="4571991"/>
                </a:lnTo>
                <a:lnTo>
                  <a:pt x="1" y="4368373"/>
                </a:lnTo>
                <a:close/>
                <a:moveTo>
                  <a:pt x="12191973" y="4312831"/>
                </a:moveTo>
                <a:lnTo>
                  <a:pt x="12191972" y="4365076"/>
                </a:lnTo>
                <a:lnTo>
                  <a:pt x="11985055" y="4571992"/>
                </a:lnTo>
                <a:lnTo>
                  <a:pt x="11932811" y="4571993"/>
                </a:lnTo>
                <a:close/>
                <a:moveTo>
                  <a:pt x="11817249" y="4076816"/>
                </a:moveTo>
                <a:lnTo>
                  <a:pt x="11928074" y="4076816"/>
                </a:lnTo>
                <a:lnTo>
                  <a:pt x="11928074" y="4187641"/>
                </a:lnTo>
                <a:lnTo>
                  <a:pt x="11817249" y="4187641"/>
                </a:lnTo>
                <a:close/>
                <a:moveTo>
                  <a:pt x="10766437" y="4076816"/>
                </a:moveTo>
                <a:lnTo>
                  <a:pt x="10877262" y="4076816"/>
                </a:lnTo>
                <a:lnTo>
                  <a:pt x="10877262" y="4187641"/>
                </a:lnTo>
                <a:lnTo>
                  <a:pt x="10766437" y="4187641"/>
                </a:lnTo>
                <a:close/>
                <a:moveTo>
                  <a:pt x="9715629" y="4076816"/>
                </a:moveTo>
                <a:lnTo>
                  <a:pt x="9826454" y="4076816"/>
                </a:lnTo>
                <a:lnTo>
                  <a:pt x="9826454" y="4187641"/>
                </a:lnTo>
                <a:lnTo>
                  <a:pt x="9715629" y="4187641"/>
                </a:lnTo>
                <a:close/>
                <a:moveTo>
                  <a:pt x="8664821" y="4076816"/>
                </a:moveTo>
                <a:lnTo>
                  <a:pt x="8775646" y="4076816"/>
                </a:lnTo>
                <a:lnTo>
                  <a:pt x="8775646" y="4187641"/>
                </a:lnTo>
                <a:lnTo>
                  <a:pt x="8664821" y="4187641"/>
                </a:lnTo>
                <a:close/>
                <a:moveTo>
                  <a:pt x="7614013" y="4076816"/>
                </a:moveTo>
                <a:lnTo>
                  <a:pt x="7724838" y="4076816"/>
                </a:lnTo>
                <a:lnTo>
                  <a:pt x="7724838" y="4187641"/>
                </a:lnTo>
                <a:lnTo>
                  <a:pt x="7614013" y="4187641"/>
                </a:lnTo>
                <a:close/>
                <a:moveTo>
                  <a:pt x="6563205" y="4076816"/>
                </a:moveTo>
                <a:lnTo>
                  <a:pt x="6674030" y="4076816"/>
                </a:lnTo>
                <a:lnTo>
                  <a:pt x="6674030" y="4187641"/>
                </a:lnTo>
                <a:lnTo>
                  <a:pt x="6563205" y="4187641"/>
                </a:lnTo>
                <a:close/>
                <a:moveTo>
                  <a:pt x="5512397" y="4076816"/>
                </a:moveTo>
                <a:lnTo>
                  <a:pt x="5623222" y="4076816"/>
                </a:lnTo>
                <a:lnTo>
                  <a:pt x="5623222" y="4187641"/>
                </a:lnTo>
                <a:lnTo>
                  <a:pt x="5512397" y="4187641"/>
                </a:lnTo>
                <a:close/>
                <a:moveTo>
                  <a:pt x="4461589" y="4076816"/>
                </a:moveTo>
                <a:lnTo>
                  <a:pt x="4572414" y="4076816"/>
                </a:lnTo>
                <a:lnTo>
                  <a:pt x="4572414" y="4187641"/>
                </a:lnTo>
                <a:lnTo>
                  <a:pt x="4461589" y="4187641"/>
                </a:lnTo>
                <a:close/>
                <a:moveTo>
                  <a:pt x="3410782" y="4076816"/>
                </a:moveTo>
                <a:lnTo>
                  <a:pt x="3521608" y="4076816"/>
                </a:lnTo>
                <a:lnTo>
                  <a:pt x="3521608" y="4187641"/>
                </a:lnTo>
                <a:lnTo>
                  <a:pt x="3410782" y="4187641"/>
                </a:lnTo>
                <a:close/>
                <a:moveTo>
                  <a:pt x="2359975" y="4076816"/>
                </a:moveTo>
                <a:lnTo>
                  <a:pt x="2470800" y="4076816"/>
                </a:lnTo>
                <a:lnTo>
                  <a:pt x="2470800" y="4187641"/>
                </a:lnTo>
                <a:lnTo>
                  <a:pt x="2359975" y="4187641"/>
                </a:lnTo>
                <a:close/>
                <a:moveTo>
                  <a:pt x="1309167" y="4076816"/>
                </a:moveTo>
                <a:lnTo>
                  <a:pt x="1419992" y="4076816"/>
                </a:lnTo>
                <a:lnTo>
                  <a:pt x="1419992" y="4187641"/>
                </a:lnTo>
                <a:lnTo>
                  <a:pt x="1309167" y="4187641"/>
                </a:lnTo>
                <a:close/>
                <a:moveTo>
                  <a:pt x="258359" y="4076816"/>
                </a:moveTo>
                <a:lnTo>
                  <a:pt x="369184" y="4076816"/>
                </a:lnTo>
                <a:lnTo>
                  <a:pt x="369184" y="4187641"/>
                </a:lnTo>
                <a:lnTo>
                  <a:pt x="258359" y="4187641"/>
                </a:lnTo>
                <a:close/>
                <a:moveTo>
                  <a:pt x="11291841" y="3551209"/>
                </a:moveTo>
                <a:lnTo>
                  <a:pt x="11402666" y="3551209"/>
                </a:lnTo>
                <a:lnTo>
                  <a:pt x="11402666" y="3662034"/>
                </a:lnTo>
                <a:lnTo>
                  <a:pt x="11291841" y="3662034"/>
                </a:lnTo>
                <a:close/>
                <a:moveTo>
                  <a:pt x="10241033" y="3551209"/>
                </a:moveTo>
                <a:lnTo>
                  <a:pt x="10351858" y="3551209"/>
                </a:lnTo>
                <a:lnTo>
                  <a:pt x="10351858" y="3662034"/>
                </a:lnTo>
                <a:lnTo>
                  <a:pt x="10241033" y="3662034"/>
                </a:lnTo>
                <a:close/>
                <a:moveTo>
                  <a:pt x="9190225" y="3551209"/>
                </a:moveTo>
                <a:lnTo>
                  <a:pt x="9301050" y="3551209"/>
                </a:lnTo>
                <a:lnTo>
                  <a:pt x="9301050" y="3662034"/>
                </a:lnTo>
                <a:lnTo>
                  <a:pt x="9190225" y="3662034"/>
                </a:lnTo>
                <a:close/>
                <a:moveTo>
                  <a:pt x="8139417" y="3551209"/>
                </a:moveTo>
                <a:lnTo>
                  <a:pt x="8250242" y="3551209"/>
                </a:lnTo>
                <a:lnTo>
                  <a:pt x="8250242" y="3662034"/>
                </a:lnTo>
                <a:lnTo>
                  <a:pt x="8139417" y="3662034"/>
                </a:lnTo>
                <a:close/>
                <a:moveTo>
                  <a:pt x="7088609" y="3551209"/>
                </a:moveTo>
                <a:lnTo>
                  <a:pt x="7199434" y="3551209"/>
                </a:lnTo>
                <a:lnTo>
                  <a:pt x="7199434" y="3662034"/>
                </a:lnTo>
                <a:lnTo>
                  <a:pt x="7088609" y="3662034"/>
                </a:lnTo>
                <a:close/>
                <a:moveTo>
                  <a:pt x="6037801" y="3551209"/>
                </a:moveTo>
                <a:lnTo>
                  <a:pt x="6148626" y="3551209"/>
                </a:lnTo>
                <a:lnTo>
                  <a:pt x="6148626" y="3662034"/>
                </a:lnTo>
                <a:lnTo>
                  <a:pt x="6037801" y="3662034"/>
                </a:lnTo>
                <a:close/>
                <a:moveTo>
                  <a:pt x="4986998" y="3551209"/>
                </a:moveTo>
                <a:lnTo>
                  <a:pt x="5097826" y="3551209"/>
                </a:lnTo>
                <a:lnTo>
                  <a:pt x="5097826" y="3662034"/>
                </a:lnTo>
                <a:lnTo>
                  <a:pt x="4986998" y="3662034"/>
                </a:lnTo>
                <a:close/>
                <a:moveTo>
                  <a:pt x="3936196" y="3551209"/>
                </a:moveTo>
                <a:lnTo>
                  <a:pt x="4047020" y="3551209"/>
                </a:lnTo>
                <a:lnTo>
                  <a:pt x="4047020" y="3662034"/>
                </a:lnTo>
                <a:lnTo>
                  <a:pt x="3936196" y="3662034"/>
                </a:lnTo>
                <a:close/>
                <a:moveTo>
                  <a:pt x="2885389" y="3551209"/>
                </a:moveTo>
                <a:lnTo>
                  <a:pt x="2996214" y="3551209"/>
                </a:lnTo>
                <a:lnTo>
                  <a:pt x="2996214" y="3662034"/>
                </a:lnTo>
                <a:lnTo>
                  <a:pt x="2885389" y="3662034"/>
                </a:lnTo>
                <a:close/>
                <a:moveTo>
                  <a:pt x="1834579" y="3551209"/>
                </a:moveTo>
                <a:lnTo>
                  <a:pt x="1945404" y="3551209"/>
                </a:lnTo>
                <a:lnTo>
                  <a:pt x="1945404" y="3662034"/>
                </a:lnTo>
                <a:lnTo>
                  <a:pt x="1834579" y="3662034"/>
                </a:lnTo>
                <a:close/>
                <a:moveTo>
                  <a:pt x="783773" y="3551209"/>
                </a:moveTo>
                <a:lnTo>
                  <a:pt x="894598" y="3551209"/>
                </a:lnTo>
                <a:lnTo>
                  <a:pt x="894598" y="3662034"/>
                </a:lnTo>
                <a:lnTo>
                  <a:pt x="783773" y="3662034"/>
                </a:lnTo>
                <a:close/>
                <a:moveTo>
                  <a:pt x="2942310" y="3107960"/>
                </a:moveTo>
                <a:lnTo>
                  <a:pt x="2470811" y="3579460"/>
                </a:lnTo>
                <a:lnTo>
                  <a:pt x="2470811" y="3634896"/>
                </a:lnTo>
                <a:lnTo>
                  <a:pt x="2942311" y="4106397"/>
                </a:lnTo>
                <a:lnTo>
                  <a:pt x="3410794" y="3637915"/>
                </a:lnTo>
                <a:lnTo>
                  <a:pt x="3410794" y="3576442"/>
                </a:lnTo>
                <a:close/>
                <a:moveTo>
                  <a:pt x="840944" y="3107960"/>
                </a:moveTo>
                <a:lnTo>
                  <a:pt x="369194" y="3579710"/>
                </a:lnTo>
                <a:lnTo>
                  <a:pt x="369194" y="3634648"/>
                </a:lnTo>
                <a:lnTo>
                  <a:pt x="840944" y="4106399"/>
                </a:lnTo>
                <a:lnTo>
                  <a:pt x="1309176" y="3638165"/>
                </a:lnTo>
                <a:lnTo>
                  <a:pt x="1309176" y="3576193"/>
                </a:lnTo>
                <a:close/>
                <a:moveTo>
                  <a:pt x="3992986" y="3107959"/>
                </a:moveTo>
                <a:lnTo>
                  <a:pt x="3521621" y="3579335"/>
                </a:lnTo>
                <a:lnTo>
                  <a:pt x="3521621" y="3635021"/>
                </a:lnTo>
                <a:lnTo>
                  <a:pt x="3992986" y="4106398"/>
                </a:lnTo>
                <a:lnTo>
                  <a:pt x="4461593" y="3637778"/>
                </a:lnTo>
                <a:lnTo>
                  <a:pt x="4461593" y="3576578"/>
                </a:lnTo>
                <a:close/>
                <a:moveTo>
                  <a:pt x="1891624" y="3107959"/>
                </a:moveTo>
                <a:lnTo>
                  <a:pt x="1420001" y="3579584"/>
                </a:lnTo>
                <a:lnTo>
                  <a:pt x="1420001" y="3634774"/>
                </a:lnTo>
                <a:lnTo>
                  <a:pt x="1891623" y="4106397"/>
                </a:lnTo>
                <a:lnTo>
                  <a:pt x="2359987" y="3638040"/>
                </a:lnTo>
                <a:lnTo>
                  <a:pt x="2359987" y="3576315"/>
                </a:lnTo>
                <a:close/>
                <a:moveTo>
                  <a:pt x="8195689" y="3107959"/>
                </a:moveTo>
                <a:lnTo>
                  <a:pt x="7724838" y="3578810"/>
                </a:lnTo>
                <a:lnTo>
                  <a:pt x="7724838" y="3635541"/>
                </a:lnTo>
                <a:lnTo>
                  <a:pt x="8195691" y="4106395"/>
                </a:lnTo>
                <a:lnTo>
                  <a:pt x="8664821" y="3637265"/>
                </a:lnTo>
                <a:lnTo>
                  <a:pt x="8664821" y="3577091"/>
                </a:lnTo>
                <a:close/>
                <a:moveTo>
                  <a:pt x="5043664" y="3107959"/>
                </a:moveTo>
                <a:lnTo>
                  <a:pt x="4572419" y="3579197"/>
                </a:lnTo>
                <a:lnTo>
                  <a:pt x="4572419" y="3635159"/>
                </a:lnTo>
                <a:lnTo>
                  <a:pt x="5043662" y="4106396"/>
                </a:lnTo>
                <a:lnTo>
                  <a:pt x="5512402" y="3637650"/>
                </a:lnTo>
                <a:lnTo>
                  <a:pt x="5512402" y="3576704"/>
                </a:lnTo>
                <a:close/>
                <a:moveTo>
                  <a:pt x="6094326" y="3107958"/>
                </a:moveTo>
                <a:lnTo>
                  <a:pt x="5623226" y="3579070"/>
                </a:lnTo>
                <a:lnTo>
                  <a:pt x="5623226" y="3635285"/>
                </a:lnTo>
                <a:lnTo>
                  <a:pt x="6094326" y="4106397"/>
                </a:lnTo>
                <a:lnTo>
                  <a:pt x="6563205" y="3637518"/>
                </a:lnTo>
                <a:lnTo>
                  <a:pt x="6563205" y="3576837"/>
                </a:lnTo>
                <a:close/>
                <a:moveTo>
                  <a:pt x="9246372" y="3107957"/>
                </a:moveTo>
                <a:lnTo>
                  <a:pt x="8775646" y="3578683"/>
                </a:lnTo>
                <a:lnTo>
                  <a:pt x="8775646" y="3635671"/>
                </a:lnTo>
                <a:lnTo>
                  <a:pt x="9246369" y="4106395"/>
                </a:lnTo>
                <a:lnTo>
                  <a:pt x="9715629" y="3637135"/>
                </a:lnTo>
                <a:lnTo>
                  <a:pt x="9715629" y="3577215"/>
                </a:lnTo>
                <a:close/>
                <a:moveTo>
                  <a:pt x="7145009" y="3107957"/>
                </a:moveTo>
                <a:lnTo>
                  <a:pt x="6674030" y="3578936"/>
                </a:lnTo>
                <a:lnTo>
                  <a:pt x="6674030" y="3635418"/>
                </a:lnTo>
                <a:lnTo>
                  <a:pt x="7145007" y="4106396"/>
                </a:lnTo>
                <a:lnTo>
                  <a:pt x="7614013" y="3637390"/>
                </a:lnTo>
                <a:lnTo>
                  <a:pt x="7614013" y="3576961"/>
                </a:lnTo>
                <a:close/>
                <a:moveTo>
                  <a:pt x="11347734" y="3107957"/>
                </a:moveTo>
                <a:lnTo>
                  <a:pt x="10877262" y="3578428"/>
                </a:lnTo>
                <a:lnTo>
                  <a:pt x="10877262" y="3635922"/>
                </a:lnTo>
                <a:lnTo>
                  <a:pt x="11347735" y="4106396"/>
                </a:lnTo>
                <a:lnTo>
                  <a:pt x="11817249" y="3636882"/>
                </a:lnTo>
                <a:lnTo>
                  <a:pt x="11817249" y="3577472"/>
                </a:lnTo>
                <a:close/>
                <a:moveTo>
                  <a:pt x="10297053" y="3107955"/>
                </a:moveTo>
                <a:lnTo>
                  <a:pt x="9826454" y="3578554"/>
                </a:lnTo>
                <a:lnTo>
                  <a:pt x="9826454" y="3635794"/>
                </a:lnTo>
                <a:lnTo>
                  <a:pt x="10297054" y="4106394"/>
                </a:lnTo>
                <a:lnTo>
                  <a:pt x="10766437" y="3637011"/>
                </a:lnTo>
                <a:lnTo>
                  <a:pt x="10766437" y="3577339"/>
                </a:lnTo>
                <a:close/>
                <a:moveTo>
                  <a:pt x="11817249" y="3027334"/>
                </a:moveTo>
                <a:lnTo>
                  <a:pt x="11928074" y="3027334"/>
                </a:lnTo>
                <a:lnTo>
                  <a:pt x="11928074" y="3138159"/>
                </a:lnTo>
                <a:lnTo>
                  <a:pt x="11817249" y="3138159"/>
                </a:lnTo>
                <a:close/>
                <a:moveTo>
                  <a:pt x="10766437" y="3027334"/>
                </a:moveTo>
                <a:lnTo>
                  <a:pt x="10877262" y="3027334"/>
                </a:lnTo>
                <a:lnTo>
                  <a:pt x="10877262" y="3138159"/>
                </a:lnTo>
                <a:lnTo>
                  <a:pt x="10766437" y="3138159"/>
                </a:lnTo>
                <a:close/>
                <a:moveTo>
                  <a:pt x="9715629" y="3027334"/>
                </a:moveTo>
                <a:lnTo>
                  <a:pt x="9826454" y="3027334"/>
                </a:lnTo>
                <a:lnTo>
                  <a:pt x="9826454" y="3138159"/>
                </a:lnTo>
                <a:lnTo>
                  <a:pt x="9715629" y="3138159"/>
                </a:lnTo>
                <a:close/>
                <a:moveTo>
                  <a:pt x="8664821" y="3027334"/>
                </a:moveTo>
                <a:lnTo>
                  <a:pt x="8775646" y="3027334"/>
                </a:lnTo>
                <a:lnTo>
                  <a:pt x="8775646" y="3138159"/>
                </a:lnTo>
                <a:lnTo>
                  <a:pt x="8664821" y="3138159"/>
                </a:lnTo>
                <a:close/>
                <a:moveTo>
                  <a:pt x="7614013" y="3027334"/>
                </a:moveTo>
                <a:lnTo>
                  <a:pt x="7724838" y="3027334"/>
                </a:lnTo>
                <a:lnTo>
                  <a:pt x="7724838" y="3138159"/>
                </a:lnTo>
                <a:lnTo>
                  <a:pt x="7614013" y="3138159"/>
                </a:lnTo>
                <a:close/>
                <a:moveTo>
                  <a:pt x="6563205" y="3027334"/>
                </a:moveTo>
                <a:lnTo>
                  <a:pt x="6674030" y="3027334"/>
                </a:lnTo>
                <a:lnTo>
                  <a:pt x="6674030" y="3138159"/>
                </a:lnTo>
                <a:lnTo>
                  <a:pt x="6563205" y="3138159"/>
                </a:lnTo>
                <a:close/>
                <a:moveTo>
                  <a:pt x="5512400" y="3027334"/>
                </a:moveTo>
                <a:lnTo>
                  <a:pt x="5623225" y="3027334"/>
                </a:lnTo>
                <a:lnTo>
                  <a:pt x="5623225" y="3138159"/>
                </a:lnTo>
                <a:lnTo>
                  <a:pt x="5512400" y="3138159"/>
                </a:lnTo>
                <a:close/>
                <a:moveTo>
                  <a:pt x="4461592" y="3027334"/>
                </a:moveTo>
                <a:lnTo>
                  <a:pt x="4572417" y="3027334"/>
                </a:lnTo>
                <a:lnTo>
                  <a:pt x="4572417" y="3138159"/>
                </a:lnTo>
                <a:lnTo>
                  <a:pt x="4461592" y="3138159"/>
                </a:lnTo>
                <a:close/>
                <a:moveTo>
                  <a:pt x="3410790" y="3027334"/>
                </a:moveTo>
                <a:lnTo>
                  <a:pt x="3521616" y="3027334"/>
                </a:lnTo>
                <a:lnTo>
                  <a:pt x="3521616" y="3138159"/>
                </a:lnTo>
                <a:lnTo>
                  <a:pt x="3410790" y="3138159"/>
                </a:lnTo>
                <a:close/>
                <a:moveTo>
                  <a:pt x="2359982" y="3027334"/>
                </a:moveTo>
                <a:lnTo>
                  <a:pt x="2470807" y="3027334"/>
                </a:lnTo>
                <a:lnTo>
                  <a:pt x="2470807" y="3138159"/>
                </a:lnTo>
                <a:lnTo>
                  <a:pt x="2359982" y="3138159"/>
                </a:lnTo>
                <a:close/>
                <a:moveTo>
                  <a:pt x="1309173" y="3027334"/>
                </a:moveTo>
                <a:lnTo>
                  <a:pt x="1419997" y="3027334"/>
                </a:lnTo>
                <a:lnTo>
                  <a:pt x="1419997" y="3138159"/>
                </a:lnTo>
                <a:lnTo>
                  <a:pt x="1309173" y="3138159"/>
                </a:lnTo>
                <a:close/>
                <a:moveTo>
                  <a:pt x="258365" y="3027334"/>
                </a:moveTo>
                <a:lnTo>
                  <a:pt x="369190" y="3027334"/>
                </a:lnTo>
                <a:lnTo>
                  <a:pt x="369190" y="3138159"/>
                </a:lnTo>
                <a:lnTo>
                  <a:pt x="258365" y="3138159"/>
                </a:lnTo>
                <a:close/>
                <a:moveTo>
                  <a:pt x="10794114" y="2610895"/>
                </a:moveTo>
                <a:lnTo>
                  <a:pt x="10323174" y="3081834"/>
                </a:lnTo>
                <a:lnTo>
                  <a:pt x="10792548" y="3551209"/>
                </a:lnTo>
                <a:lnTo>
                  <a:pt x="10852239" y="3551209"/>
                </a:lnTo>
                <a:lnTo>
                  <a:pt x="11321612" y="3081835"/>
                </a:lnTo>
                <a:lnTo>
                  <a:pt x="10850672" y="2610895"/>
                </a:lnTo>
                <a:close/>
                <a:moveTo>
                  <a:pt x="9743434" y="2610895"/>
                </a:moveTo>
                <a:lnTo>
                  <a:pt x="9272494" y="3081834"/>
                </a:lnTo>
                <a:lnTo>
                  <a:pt x="9741869" y="3551209"/>
                </a:lnTo>
                <a:lnTo>
                  <a:pt x="9801555" y="3551209"/>
                </a:lnTo>
                <a:lnTo>
                  <a:pt x="10270931" y="3081833"/>
                </a:lnTo>
                <a:lnTo>
                  <a:pt x="9799992" y="2610895"/>
                </a:lnTo>
                <a:close/>
                <a:moveTo>
                  <a:pt x="8692754" y="2610895"/>
                </a:moveTo>
                <a:lnTo>
                  <a:pt x="8221811" y="3081837"/>
                </a:lnTo>
                <a:lnTo>
                  <a:pt x="8691183" y="3551209"/>
                </a:lnTo>
                <a:lnTo>
                  <a:pt x="8750876" y="3551209"/>
                </a:lnTo>
                <a:lnTo>
                  <a:pt x="9220250" y="3081835"/>
                </a:lnTo>
                <a:lnTo>
                  <a:pt x="8749310" y="2610895"/>
                </a:lnTo>
                <a:close/>
                <a:moveTo>
                  <a:pt x="7642070" y="2610895"/>
                </a:moveTo>
                <a:lnTo>
                  <a:pt x="7171131" y="3081835"/>
                </a:lnTo>
                <a:lnTo>
                  <a:pt x="7640505" y="3551209"/>
                </a:lnTo>
                <a:lnTo>
                  <a:pt x="7700194" y="3551209"/>
                </a:lnTo>
                <a:lnTo>
                  <a:pt x="8169567" y="3081836"/>
                </a:lnTo>
                <a:lnTo>
                  <a:pt x="7698625" y="2610895"/>
                </a:lnTo>
                <a:close/>
                <a:moveTo>
                  <a:pt x="6591389" y="2610895"/>
                </a:moveTo>
                <a:lnTo>
                  <a:pt x="6120448" y="3081836"/>
                </a:lnTo>
                <a:lnTo>
                  <a:pt x="6589820" y="3551209"/>
                </a:lnTo>
                <a:lnTo>
                  <a:pt x="6649514" y="3551209"/>
                </a:lnTo>
                <a:lnTo>
                  <a:pt x="7118887" y="3081836"/>
                </a:lnTo>
                <a:lnTo>
                  <a:pt x="6647947" y="2610895"/>
                </a:lnTo>
                <a:close/>
                <a:moveTo>
                  <a:pt x="5540722" y="2610895"/>
                </a:moveTo>
                <a:lnTo>
                  <a:pt x="5069790" y="3081837"/>
                </a:lnTo>
                <a:lnTo>
                  <a:pt x="5539152" y="3551209"/>
                </a:lnTo>
                <a:lnTo>
                  <a:pt x="5598843" y="3551209"/>
                </a:lnTo>
                <a:lnTo>
                  <a:pt x="6068204" y="3081836"/>
                </a:lnTo>
                <a:lnTo>
                  <a:pt x="5597274" y="2610895"/>
                </a:lnTo>
                <a:close/>
                <a:moveTo>
                  <a:pt x="4490039" y="2610895"/>
                </a:moveTo>
                <a:lnTo>
                  <a:pt x="4019108" y="3081837"/>
                </a:lnTo>
                <a:lnTo>
                  <a:pt x="4488467" y="3551209"/>
                </a:lnTo>
                <a:lnTo>
                  <a:pt x="4548162" y="3551209"/>
                </a:lnTo>
                <a:lnTo>
                  <a:pt x="5017539" y="3081837"/>
                </a:lnTo>
                <a:lnTo>
                  <a:pt x="4546591" y="2610895"/>
                </a:lnTo>
                <a:close/>
                <a:moveTo>
                  <a:pt x="3439377" y="2610895"/>
                </a:moveTo>
                <a:lnTo>
                  <a:pt x="2968431" y="3081838"/>
                </a:lnTo>
                <a:lnTo>
                  <a:pt x="3437805" y="3551209"/>
                </a:lnTo>
                <a:lnTo>
                  <a:pt x="3497502" y="3551209"/>
                </a:lnTo>
                <a:lnTo>
                  <a:pt x="3966864" y="3081837"/>
                </a:lnTo>
                <a:lnTo>
                  <a:pt x="3495931" y="2610895"/>
                </a:lnTo>
                <a:close/>
                <a:moveTo>
                  <a:pt x="2388695" y="2610895"/>
                </a:moveTo>
                <a:lnTo>
                  <a:pt x="1917746" y="3081837"/>
                </a:lnTo>
                <a:lnTo>
                  <a:pt x="2387125" y="3551209"/>
                </a:lnTo>
                <a:lnTo>
                  <a:pt x="2446819" y="3551209"/>
                </a:lnTo>
                <a:lnTo>
                  <a:pt x="2916188" y="3081838"/>
                </a:lnTo>
                <a:lnTo>
                  <a:pt x="2445246" y="2610895"/>
                </a:lnTo>
                <a:close/>
                <a:moveTo>
                  <a:pt x="1338007" y="2610895"/>
                </a:moveTo>
                <a:lnTo>
                  <a:pt x="867066" y="3081838"/>
                </a:lnTo>
                <a:lnTo>
                  <a:pt x="1336436" y="3551209"/>
                </a:lnTo>
                <a:lnTo>
                  <a:pt x="1396132" y="3551209"/>
                </a:lnTo>
                <a:lnTo>
                  <a:pt x="1865502" y="3081837"/>
                </a:lnTo>
                <a:lnTo>
                  <a:pt x="1394561" y="2610895"/>
                </a:lnTo>
                <a:close/>
                <a:moveTo>
                  <a:pt x="11291841" y="2500070"/>
                </a:moveTo>
                <a:lnTo>
                  <a:pt x="11402666" y="2500070"/>
                </a:lnTo>
                <a:lnTo>
                  <a:pt x="11402666" y="2610895"/>
                </a:lnTo>
                <a:lnTo>
                  <a:pt x="11291841" y="2610895"/>
                </a:lnTo>
                <a:close/>
                <a:moveTo>
                  <a:pt x="10241033" y="2500070"/>
                </a:moveTo>
                <a:lnTo>
                  <a:pt x="10351858" y="2500070"/>
                </a:lnTo>
                <a:lnTo>
                  <a:pt x="10351858" y="2610895"/>
                </a:lnTo>
                <a:lnTo>
                  <a:pt x="10241033" y="2610895"/>
                </a:lnTo>
                <a:close/>
                <a:moveTo>
                  <a:pt x="9190225" y="2500070"/>
                </a:moveTo>
                <a:lnTo>
                  <a:pt x="9301050" y="2500070"/>
                </a:lnTo>
                <a:lnTo>
                  <a:pt x="9301050" y="2610895"/>
                </a:lnTo>
                <a:lnTo>
                  <a:pt x="9190225" y="2610895"/>
                </a:lnTo>
                <a:close/>
                <a:moveTo>
                  <a:pt x="8139417" y="2500070"/>
                </a:moveTo>
                <a:lnTo>
                  <a:pt x="8250242" y="2500070"/>
                </a:lnTo>
                <a:lnTo>
                  <a:pt x="8250242" y="2610895"/>
                </a:lnTo>
                <a:lnTo>
                  <a:pt x="8139417" y="2610895"/>
                </a:lnTo>
                <a:close/>
                <a:moveTo>
                  <a:pt x="7088609" y="2500070"/>
                </a:moveTo>
                <a:lnTo>
                  <a:pt x="7199434" y="2500070"/>
                </a:lnTo>
                <a:lnTo>
                  <a:pt x="7199434" y="2610895"/>
                </a:lnTo>
                <a:lnTo>
                  <a:pt x="7088609" y="2610895"/>
                </a:lnTo>
                <a:close/>
                <a:moveTo>
                  <a:pt x="6037801" y="2500070"/>
                </a:moveTo>
                <a:lnTo>
                  <a:pt x="6148626" y="2500070"/>
                </a:lnTo>
                <a:lnTo>
                  <a:pt x="6148626" y="2610895"/>
                </a:lnTo>
                <a:lnTo>
                  <a:pt x="6037801" y="2610895"/>
                </a:lnTo>
                <a:close/>
                <a:moveTo>
                  <a:pt x="4987000" y="2500070"/>
                </a:moveTo>
                <a:lnTo>
                  <a:pt x="5097829" y="2500070"/>
                </a:lnTo>
                <a:lnTo>
                  <a:pt x="5097829" y="2610895"/>
                </a:lnTo>
                <a:lnTo>
                  <a:pt x="4987000" y="2610895"/>
                </a:lnTo>
                <a:close/>
                <a:moveTo>
                  <a:pt x="3936200" y="2500070"/>
                </a:moveTo>
                <a:lnTo>
                  <a:pt x="4047024" y="2500070"/>
                </a:lnTo>
                <a:lnTo>
                  <a:pt x="4047024" y="2610895"/>
                </a:lnTo>
                <a:lnTo>
                  <a:pt x="3936200" y="2610895"/>
                </a:lnTo>
                <a:close/>
                <a:moveTo>
                  <a:pt x="2885393" y="2500070"/>
                </a:moveTo>
                <a:lnTo>
                  <a:pt x="2996218" y="2500070"/>
                </a:lnTo>
                <a:lnTo>
                  <a:pt x="2996218" y="2610895"/>
                </a:lnTo>
                <a:lnTo>
                  <a:pt x="2885393" y="2610895"/>
                </a:lnTo>
                <a:close/>
                <a:moveTo>
                  <a:pt x="1834583" y="2500070"/>
                </a:moveTo>
                <a:lnTo>
                  <a:pt x="1945408" y="2500070"/>
                </a:lnTo>
                <a:lnTo>
                  <a:pt x="1945408" y="2610895"/>
                </a:lnTo>
                <a:lnTo>
                  <a:pt x="1834583" y="2610895"/>
                </a:lnTo>
                <a:close/>
                <a:moveTo>
                  <a:pt x="783777" y="2500070"/>
                </a:moveTo>
                <a:lnTo>
                  <a:pt x="894602" y="2500070"/>
                </a:lnTo>
                <a:lnTo>
                  <a:pt x="894602" y="2610895"/>
                </a:lnTo>
                <a:lnTo>
                  <a:pt x="783777" y="2610895"/>
                </a:lnTo>
                <a:close/>
                <a:moveTo>
                  <a:pt x="1891623" y="2057291"/>
                </a:moveTo>
                <a:lnTo>
                  <a:pt x="1420005" y="2528898"/>
                </a:lnTo>
                <a:lnTo>
                  <a:pt x="1420005" y="2584095"/>
                </a:lnTo>
                <a:lnTo>
                  <a:pt x="1891624" y="3055715"/>
                </a:lnTo>
                <a:lnTo>
                  <a:pt x="2359991" y="2587356"/>
                </a:lnTo>
                <a:lnTo>
                  <a:pt x="2359991" y="2525640"/>
                </a:lnTo>
                <a:close/>
                <a:moveTo>
                  <a:pt x="2942310" y="2057291"/>
                </a:moveTo>
                <a:lnTo>
                  <a:pt x="2470816" y="2528774"/>
                </a:lnTo>
                <a:lnTo>
                  <a:pt x="2470816" y="2584221"/>
                </a:lnTo>
                <a:lnTo>
                  <a:pt x="2942310" y="3055716"/>
                </a:lnTo>
                <a:lnTo>
                  <a:pt x="3410799" y="2587229"/>
                </a:lnTo>
                <a:lnTo>
                  <a:pt x="3410799" y="2525765"/>
                </a:lnTo>
                <a:close/>
                <a:moveTo>
                  <a:pt x="3992986" y="2057290"/>
                </a:moveTo>
                <a:lnTo>
                  <a:pt x="3521627" y="2528649"/>
                </a:lnTo>
                <a:lnTo>
                  <a:pt x="3521627" y="2584345"/>
                </a:lnTo>
                <a:lnTo>
                  <a:pt x="3992986" y="3055715"/>
                </a:lnTo>
                <a:lnTo>
                  <a:pt x="4461596" y="2587094"/>
                </a:lnTo>
                <a:lnTo>
                  <a:pt x="4461596" y="2525899"/>
                </a:lnTo>
                <a:close/>
                <a:moveTo>
                  <a:pt x="840944" y="2057289"/>
                </a:moveTo>
                <a:lnTo>
                  <a:pt x="369198" y="2529024"/>
                </a:lnTo>
                <a:lnTo>
                  <a:pt x="369198" y="2583969"/>
                </a:lnTo>
                <a:lnTo>
                  <a:pt x="840944" y="3055716"/>
                </a:lnTo>
                <a:lnTo>
                  <a:pt x="1309180" y="2587479"/>
                </a:lnTo>
                <a:lnTo>
                  <a:pt x="1309180" y="2525514"/>
                </a:lnTo>
                <a:close/>
                <a:moveTo>
                  <a:pt x="7145007" y="2057289"/>
                </a:moveTo>
                <a:lnTo>
                  <a:pt x="6674030" y="2528255"/>
                </a:lnTo>
                <a:lnTo>
                  <a:pt x="6674030" y="2584733"/>
                </a:lnTo>
                <a:lnTo>
                  <a:pt x="7145010" y="3055713"/>
                </a:lnTo>
                <a:lnTo>
                  <a:pt x="7614013" y="2586710"/>
                </a:lnTo>
                <a:lnTo>
                  <a:pt x="7614013" y="2526283"/>
                </a:lnTo>
                <a:close/>
                <a:moveTo>
                  <a:pt x="5043664" y="2057289"/>
                </a:moveTo>
                <a:lnTo>
                  <a:pt x="4572421" y="2528513"/>
                </a:lnTo>
                <a:lnTo>
                  <a:pt x="4572421" y="2584480"/>
                </a:lnTo>
                <a:lnTo>
                  <a:pt x="5043664" y="3055715"/>
                </a:lnTo>
                <a:lnTo>
                  <a:pt x="5512404" y="2586968"/>
                </a:lnTo>
                <a:lnTo>
                  <a:pt x="5512404" y="2526024"/>
                </a:lnTo>
                <a:close/>
                <a:moveTo>
                  <a:pt x="10297053" y="2057288"/>
                </a:moveTo>
                <a:lnTo>
                  <a:pt x="9826454" y="2527875"/>
                </a:lnTo>
                <a:lnTo>
                  <a:pt x="9826454" y="2585115"/>
                </a:lnTo>
                <a:lnTo>
                  <a:pt x="10297052" y="3055713"/>
                </a:lnTo>
                <a:lnTo>
                  <a:pt x="10766437" y="2586328"/>
                </a:lnTo>
                <a:lnTo>
                  <a:pt x="10766437" y="2526660"/>
                </a:lnTo>
                <a:close/>
                <a:moveTo>
                  <a:pt x="9246373" y="2057288"/>
                </a:moveTo>
                <a:lnTo>
                  <a:pt x="8775646" y="2528002"/>
                </a:lnTo>
                <a:lnTo>
                  <a:pt x="8775646" y="2584986"/>
                </a:lnTo>
                <a:lnTo>
                  <a:pt x="9246373" y="3055713"/>
                </a:lnTo>
                <a:lnTo>
                  <a:pt x="9715629" y="2586457"/>
                </a:lnTo>
                <a:lnTo>
                  <a:pt x="9715629" y="2526532"/>
                </a:lnTo>
                <a:close/>
                <a:moveTo>
                  <a:pt x="8195690" y="2057288"/>
                </a:moveTo>
                <a:lnTo>
                  <a:pt x="7724838" y="2528128"/>
                </a:lnTo>
                <a:lnTo>
                  <a:pt x="7724838" y="2584864"/>
                </a:lnTo>
                <a:lnTo>
                  <a:pt x="8195689" y="3055714"/>
                </a:lnTo>
                <a:lnTo>
                  <a:pt x="8664821" y="2586582"/>
                </a:lnTo>
                <a:lnTo>
                  <a:pt x="8664821" y="2526406"/>
                </a:lnTo>
                <a:close/>
                <a:moveTo>
                  <a:pt x="6094328" y="2057287"/>
                </a:moveTo>
                <a:lnTo>
                  <a:pt x="5623228" y="2528386"/>
                </a:lnTo>
                <a:lnTo>
                  <a:pt x="5623228" y="2584606"/>
                </a:lnTo>
                <a:lnTo>
                  <a:pt x="6094325" y="3055714"/>
                </a:lnTo>
                <a:lnTo>
                  <a:pt x="6563205" y="2586835"/>
                </a:lnTo>
                <a:lnTo>
                  <a:pt x="6563205" y="2526153"/>
                </a:lnTo>
                <a:close/>
                <a:moveTo>
                  <a:pt x="11347736" y="2057286"/>
                </a:moveTo>
                <a:lnTo>
                  <a:pt x="10877262" y="2527747"/>
                </a:lnTo>
                <a:lnTo>
                  <a:pt x="10877262" y="2585241"/>
                </a:lnTo>
                <a:lnTo>
                  <a:pt x="11347734" y="3055713"/>
                </a:lnTo>
                <a:lnTo>
                  <a:pt x="11817249" y="2586199"/>
                </a:lnTo>
                <a:lnTo>
                  <a:pt x="11817249" y="2526787"/>
                </a:lnTo>
                <a:close/>
                <a:moveTo>
                  <a:pt x="258363" y="1973449"/>
                </a:moveTo>
                <a:lnTo>
                  <a:pt x="369188" y="1973449"/>
                </a:lnTo>
                <a:lnTo>
                  <a:pt x="369188" y="2084274"/>
                </a:lnTo>
                <a:lnTo>
                  <a:pt x="258363" y="2084274"/>
                </a:lnTo>
                <a:close/>
                <a:moveTo>
                  <a:pt x="2359980" y="1973449"/>
                </a:moveTo>
                <a:lnTo>
                  <a:pt x="2470805" y="1973449"/>
                </a:lnTo>
                <a:lnTo>
                  <a:pt x="2470805" y="2084274"/>
                </a:lnTo>
                <a:lnTo>
                  <a:pt x="2359980" y="2084274"/>
                </a:lnTo>
                <a:close/>
                <a:moveTo>
                  <a:pt x="1309171" y="1973449"/>
                </a:moveTo>
                <a:lnTo>
                  <a:pt x="1419995" y="1973449"/>
                </a:lnTo>
                <a:lnTo>
                  <a:pt x="1419995" y="2084274"/>
                </a:lnTo>
                <a:lnTo>
                  <a:pt x="1309171" y="2084274"/>
                </a:lnTo>
                <a:close/>
                <a:moveTo>
                  <a:pt x="4461591" y="1973448"/>
                </a:moveTo>
                <a:lnTo>
                  <a:pt x="4572416" y="1973448"/>
                </a:lnTo>
                <a:lnTo>
                  <a:pt x="4572416" y="2084273"/>
                </a:lnTo>
                <a:lnTo>
                  <a:pt x="4461591" y="2084273"/>
                </a:lnTo>
                <a:close/>
                <a:moveTo>
                  <a:pt x="3410788" y="1973448"/>
                </a:moveTo>
                <a:lnTo>
                  <a:pt x="3521614" y="1973448"/>
                </a:lnTo>
                <a:lnTo>
                  <a:pt x="3521614" y="2084273"/>
                </a:lnTo>
                <a:lnTo>
                  <a:pt x="3410788" y="2084273"/>
                </a:lnTo>
                <a:close/>
                <a:moveTo>
                  <a:pt x="6563205" y="1973448"/>
                </a:moveTo>
                <a:lnTo>
                  <a:pt x="6674030" y="1973448"/>
                </a:lnTo>
                <a:lnTo>
                  <a:pt x="6674030" y="2084273"/>
                </a:lnTo>
                <a:lnTo>
                  <a:pt x="6563205" y="2084273"/>
                </a:lnTo>
                <a:close/>
                <a:moveTo>
                  <a:pt x="5512399" y="1973448"/>
                </a:moveTo>
                <a:lnTo>
                  <a:pt x="5623224" y="1973448"/>
                </a:lnTo>
                <a:lnTo>
                  <a:pt x="5623224" y="2084273"/>
                </a:lnTo>
                <a:lnTo>
                  <a:pt x="5512399" y="2084273"/>
                </a:lnTo>
                <a:close/>
                <a:moveTo>
                  <a:pt x="7614013" y="1973448"/>
                </a:moveTo>
                <a:lnTo>
                  <a:pt x="7724838" y="1973448"/>
                </a:lnTo>
                <a:lnTo>
                  <a:pt x="7724838" y="2084273"/>
                </a:lnTo>
                <a:lnTo>
                  <a:pt x="7614013" y="2084273"/>
                </a:lnTo>
                <a:close/>
                <a:moveTo>
                  <a:pt x="9715629" y="1973448"/>
                </a:moveTo>
                <a:lnTo>
                  <a:pt x="9826454" y="1973448"/>
                </a:lnTo>
                <a:lnTo>
                  <a:pt x="9826454" y="2084273"/>
                </a:lnTo>
                <a:lnTo>
                  <a:pt x="9715629" y="2084273"/>
                </a:lnTo>
                <a:close/>
                <a:moveTo>
                  <a:pt x="8664821" y="1973448"/>
                </a:moveTo>
                <a:lnTo>
                  <a:pt x="8775646" y="1973448"/>
                </a:lnTo>
                <a:lnTo>
                  <a:pt x="8775646" y="2084273"/>
                </a:lnTo>
                <a:lnTo>
                  <a:pt x="8664821" y="2084273"/>
                </a:lnTo>
                <a:close/>
                <a:moveTo>
                  <a:pt x="11817249" y="1973448"/>
                </a:moveTo>
                <a:lnTo>
                  <a:pt x="11928074" y="1973448"/>
                </a:lnTo>
                <a:lnTo>
                  <a:pt x="11928074" y="2084273"/>
                </a:lnTo>
                <a:lnTo>
                  <a:pt x="11817249" y="2084273"/>
                </a:lnTo>
                <a:close/>
                <a:moveTo>
                  <a:pt x="10766437" y="1973448"/>
                </a:moveTo>
                <a:lnTo>
                  <a:pt x="10877262" y="1973448"/>
                </a:lnTo>
                <a:lnTo>
                  <a:pt x="10877262" y="2084273"/>
                </a:lnTo>
                <a:lnTo>
                  <a:pt x="10766437" y="2084273"/>
                </a:lnTo>
                <a:close/>
                <a:moveTo>
                  <a:pt x="3441643" y="1557959"/>
                </a:moveTo>
                <a:lnTo>
                  <a:pt x="2968431" y="2031169"/>
                </a:lnTo>
                <a:lnTo>
                  <a:pt x="3437348" y="2500070"/>
                </a:lnTo>
                <a:lnTo>
                  <a:pt x="3497959" y="2500070"/>
                </a:lnTo>
                <a:lnTo>
                  <a:pt x="3966865" y="2031168"/>
                </a:lnTo>
                <a:lnTo>
                  <a:pt x="3493665" y="1557959"/>
                </a:lnTo>
                <a:close/>
                <a:moveTo>
                  <a:pt x="2390961" y="1557959"/>
                </a:moveTo>
                <a:lnTo>
                  <a:pt x="1917745" y="2031169"/>
                </a:lnTo>
                <a:lnTo>
                  <a:pt x="2386665" y="2500070"/>
                </a:lnTo>
                <a:lnTo>
                  <a:pt x="2447277" y="2500070"/>
                </a:lnTo>
                <a:lnTo>
                  <a:pt x="2916189" y="2031169"/>
                </a:lnTo>
                <a:lnTo>
                  <a:pt x="2442980" y="1557959"/>
                </a:lnTo>
                <a:close/>
                <a:moveTo>
                  <a:pt x="1340273" y="1557959"/>
                </a:moveTo>
                <a:lnTo>
                  <a:pt x="867066" y="2031167"/>
                </a:lnTo>
                <a:lnTo>
                  <a:pt x="1335980" y="2500070"/>
                </a:lnTo>
                <a:lnTo>
                  <a:pt x="1396589" y="2500070"/>
                </a:lnTo>
                <a:lnTo>
                  <a:pt x="1865501" y="2031169"/>
                </a:lnTo>
                <a:lnTo>
                  <a:pt x="1392293" y="1557959"/>
                </a:lnTo>
                <a:close/>
                <a:moveTo>
                  <a:pt x="5542986" y="1557958"/>
                </a:moveTo>
                <a:lnTo>
                  <a:pt x="5069790" y="2031167"/>
                </a:lnTo>
                <a:lnTo>
                  <a:pt x="5538694" y="2500070"/>
                </a:lnTo>
                <a:lnTo>
                  <a:pt x="5599302" y="2500070"/>
                </a:lnTo>
                <a:lnTo>
                  <a:pt x="6068206" y="2031166"/>
                </a:lnTo>
                <a:lnTo>
                  <a:pt x="5595011" y="1557958"/>
                </a:lnTo>
                <a:close/>
                <a:moveTo>
                  <a:pt x="4492305" y="1557958"/>
                </a:moveTo>
                <a:lnTo>
                  <a:pt x="4019109" y="2031168"/>
                </a:lnTo>
                <a:lnTo>
                  <a:pt x="4488010" y="2500070"/>
                </a:lnTo>
                <a:lnTo>
                  <a:pt x="4548620" y="2500070"/>
                </a:lnTo>
                <a:lnTo>
                  <a:pt x="5017539" y="2031167"/>
                </a:lnTo>
                <a:lnTo>
                  <a:pt x="4544326" y="1557958"/>
                </a:lnTo>
                <a:close/>
                <a:moveTo>
                  <a:pt x="7644337" y="1557958"/>
                </a:moveTo>
                <a:lnTo>
                  <a:pt x="7171129" y="2031167"/>
                </a:lnTo>
                <a:lnTo>
                  <a:pt x="7640044" y="2500070"/>
                </a:lnTo>
                <a:lnTo>
                  <a:pt x="7700653" y="2500070"/>
                </a:lnTo>
                <a:lnTo>
                  <a:pt x="8169569" y="2031167"/>
                </a:lnTo>
                <a:lnTo>
                  <a:pt x="7696361" y="1557958"/>
                </a:lnTo>
                <a:close/>
                <a:moveTo>
                  <a:pt x="6593656" y="1557958"/>
                </a:moveTo>
                <a:lnTo>
                  <a:pt x="6120450" y="2031165"/>
                </a:lnTo>
                <a:lnTo>
                  <a:pt x="6589366" y="2500070"/>
                </a:lnTo>
                <a:lnTo>
                  <a:pt x="6649970" y="2500070"/>
                </a:lnTo>
                <a:lnTo>
                  <a:pt x="7118885" y="2031167"/>
                </a:lnTo>
                <a:lnTo>
                  <a:pt x="6645676" y="1557958"/>
                </a:lnTo>
                <a:close/>
                <a:moveTo>
                  <a:pt x="9745703" y="1557958"/>
                </a:moveTo>
                <a:lnTo>
                  <a:pt x="9272494" y="2031167"/>
                </a:lnTo>
                <a:lnTo>
                  <a:pt x="9741408" y="2500070"/>
                </a:lnTo>
                <a:lnTo>
                  <a:pt x="9802016" y="2500070"/>
                </a:lnTo>
                <a:lnTo>
                  <a:pt x="10270931" y="2031167"/>
                </a:lnTo>
                <a:lnTo>
                  <a:pt x="9797723" y="1557958"/>
                </a:lnTo>
                <a:close/>
                <a:moveTo>
                  <a:pt x="8695019" y="1557958"/>
                </a:moveTo>
                <a:lnTo>
                  <a:pt x="8221812" y="2031166"/>
                </a:lnTo>
                <a:lnTo>
                  <a:pt x="8690730" y="2500070"/>
                </a:lnTo>
                <a:lnTo>
                  <a:pt x="8751334" y="2500070"/>
                </a:lnTo>
                <a:lnTo>
                  <a:pt x="9220250" y="2031166"/>
                </a:lnTo>
                <a:lnTo>
                  <a:pt x="8747043" y="1557958"/>
                </a:lnTo>
                <a:close/>
                <a:moveTo>
                  <a:pt x="10796383" y="1557958"/>
                </a:moveTo>
                <a:lnTo>
                  <a:pt x="10323175" y="2031166"/>
                </a:lnTo>
                <a:lnTo>
                  <a:pt x="10792091" y="2500070"/>
                </a:lnTo>
                <a:lnTo>
                  <a:pt x="10852696" y="2500070"/>
                </a:lnTo>
                <a:lnTo>
                  <a:pt x="11321614" y="2031164"/>
                </a:lnTo>
                <a:lnTo>
                  <a:pt x="10848409" y="1557958"/>
                </a:lnTo>
                <a:close/>
                <a:moveTo>
                  <a:pt x="783781" y="1447135"/>
                </a:moveTo>
                <a:lnTo>
                  <a:pt x="894606" y="1447135"/>
                </a:lnTo>
                <a:lnTo>
                  <a:pt x="894606" y="1557959"/>
                </a:lnTo>
                <a:lnTo>
                  <a:pt x="783781" y="1557959"/>
                </a:lnTo>
                <a:close/>
                <a:moveTo>
                  <a:pt x="1834586" y="1447134"/>
                </a:moveTo>
                <a:lnTo>
                  <a:pt x="1945411" y="1447134"/>
                </a:lnTo>
                <a:lnTo>
                  <a:pt x="1945411" y="1557959"/>
                </a:lnTo>
                <a:lnTo>
                  <a:pt x="1834586" y="1557959"/>
                </a:lnTo>
                <a:close/>
                <a:moveTo>
                  <a:pt x="4987002" y="1447134"/>
                </a:moveTo>
                <a:lnTo>
                  <a:pt x="5097832" y="1447134"/>
                </a:lnTo>
                <a:lnTo>
                  <a:pt x="5097832" y="1557958"/>
                </a:lnTo>
                <a:lnTo>
                  <a:pt x="4987002" y="1557958"/>
                </a:lnTo>
                <a:close/>
                <a:moveTo>
                  <a:pt x="3936204" y="1447134"/>
                </a:moveTo>
                <a:lnTo>
                  <a:pt x="4047028" y="1447134"/>
                </a:lnTo>
                <a:lnTo>
                  <a:pt x="4047028" y="1557959"/>
                </a:lnTo>
                <a:lnTo>
                  <a:pt x="3936204" y="1557959"/>
                </a:lnTo>
                <a:close/>
                <a:moveTo>
                  <a:pt x="2885398" y="1447134"/>
                </a:moveTo>
                <a:lnTo>
                  <a:pt x="2996224" y="1447134"/>
                </a:lnTo>
                <a:lnTo>
                  <a:pt x="2996224" y="1557959"/>
                </a:lnTo>
                <a:lnTo>
                  <a:pt x="2885398" y="1557959"/>
                </a:lnTo>
                <a:close/>
                <a:moveTo>
                  <a:pt x="6037801" y="1447133"/>
                </a:moveTo>
                <a:lnTo>
                  <a:pt x="6148626" y="1447133"/>
                </a:lnTo>
                <a:lnTo>
                  <a:pt x="6148626" y="1557958"/>
                </a:lnTo>
                <a:lnTo>
                  <a:pt x="6037801" y="1557958"/>
                </a:lnTo>
                <a:close/>
                <a:moveTo>
                  <a:pt x="9190225" y="1447133"/>
                </a:moveTo>
                <a:lnTo>
                  <a:pt x="9301050" y="1447133"/>
                </a:lnTo>
                <a:lnTo>
                  <a:pt x="9301050" y="1557958"/>
                </a:lnTo>
                <a:lnTo>
                  <a:pt x="9190225" y="1557958"/>
                </a:lnTo>
                <a:close/>
                <a:moveTo>
                  <a:pt x="8139417" y="1447133"/>
                </a:moveTo>
                <a:lnTo>
                  <a:pt x="8250242" y="1447133"/>
                </a:lnTo>
                <a:lnTo>
                  <a:pt x="8250242" y="1557958"/>
                </a:lnTo>
                <a:lnTo>
                  <a:pt x="8139417" y="1557958"/>
                </a:lnTo>
                <a:close/>
                <a:moveTo>
                  <a:pt x="7088609" y="1447133"/>
                </a:moveTo>
                <a:lnTo>
                  <a:pt x="7199434" y="1447133"/>
                </a:lnTo>
                <a:lnTo>
                  <a:pt x="7199434" y="1557958"/>
                </a:lnTo>
                <a:lnTo>
                  <a:pt x="7088609" y="1557958"/>
                </a:lnTo>
                <a:close/>
                <a:moveTo>
                  <a:pt x="10241033" y="1447133"/>
                </a:moveTo>
                <a:lnTo>
                  <a:pt x="10351858" y="1447133"/>
                </a:lnTo>
                <a:lnTo>
                  <a:pt x="10351858" y="1557957"/>
                </a:lnTo>
                <a:lnTo>
                  <a:pt x="10241033" y="1557957"/>
                </a:lnTo>
                <a:close/>
                <a:moveTo>
                  <a:pt x="11291841" y="1447133"/>
                </a:moveTo>
                <a:lnTo>
                  <a:pt x="11402666" y="1447133"/>
                </a:lnTo>
                <a:lnTo>
                  <a:pt x="11402666" y="1557957"/>
                </a:lnTo>
                <a:lnTo>
                  <a:pt x="11291841" y="1557957"/>
                </a:lnTo>
                <a:close/>
                <a:moveTo>
                  <a:pt x="2942310" y="1006607"/>
                </a:moveTo>
                <a:lnTo>
                  <a:pt x="2470820" y="1478100"/>
                </a:lnTo>
                <a:lnTo>
                  <a:pt x="2470820" y="1533556"/>
                </a:lnTo>
                <a:lnTo>
                  <a:pt x="2942310" y="2005047"/>
                </a:lnTo>
                <a:lnTo>
                  <a:pt x="3410804" y="1536556"/>
                </a:lnTo>
                <a:lnTo>
                  <a:pt x="3410804" y="1475099"/>
                </a:lnTo>
                <a:close/>
                <a:moveTo>
                  <a:pt x="1891623" y="1006607"/>
                </a:moveTo>
                <a:lnTo>
                  <a:pt x="1420008" y="1478224"/>
                </a:lnTo>
                <a:lnTo>
                  <a:pt x="1420008" y="1533431"/>
                </a:lnTo>
                <a:lnTo>
                  <a:pt x="1891623" y="2005047"/>
                </a:lnTo>
                <a:lnTo>
                  <a:pt x="2359996" y="1536681"/>
                </a:lnTo>
                <a:lnTo>
                  <a:pt x="2359996" y="1474975"/>
                </a:lnTo>
                <a:close/>
                <a:moveTo>
                  <a:pt x="840943" y="1006607"/>
                </a:moveTo>
                <a:lnTo>
                  <a:pt x="369202" y="1478351"/>
                </a:lnTo>
                <a:lnTo>
                  <a:pt x="369202" y="1533303"/>
                </a:lnTo>
                <a:lnTo>
                  <a:pt x="840944" y="2005046"/>
                </a:lnTo>
                <a:lnTo>
                  <a:pt x="1309184" y="1536806"/>
                </a:lnTo>
                <a:lnTo>
                  <a:pt x="1309184" y="1474850"/>
                </a:lnTo>
                <a:close/>
                <a:moveTo>
                  <a:pt x="3992987" y="1006606"/>
                </a:moveTo>
                <a:lnTo>
                  <a:pt x="3521631" y="1477974"/>
                </a:lnTo>
                <a:lnTo>
                  <a:pt x="3521631" y="1533680"/>
                </a:lnTo>
                <a:lnTo>
                  <a:pt x="3992986" y="2005046"/>
                </a:lnTo>
                <a:lnTo>
                  <a:pt x="4461598" y="1536423"/>
                </a:lnTo>
                <a:lnTo>
                  <a:pt x="4461598" y="1475230"/>
                </a:lnTo>
                <a:close/>
                <a:moveTo>
                  <a:pt x="6094326" y="1006605"/>
                </a:moveTo>
                <a:lnTo>
                  <a:pt x="5623230" y="1477714"/>
                </a:lnTo>
                <a:lnTo>
                  <a:pt x="5623230" y="1533934"/>
                </a:lnTo>
                <a:lnTo>
                  <a:pt x="6094328" y="2005044"/>
                </a:lnTo>
                <a:lnTo>
                  <a:pt x="6563205" y="1536166"/>
                </a:lnTo>
                <a:lnTo>
                  <a:pt x="6563205" y="1475487"/>
                </a:lnTo>
                <a:close/>
                <a:moveTo>
                  <a:pt x="9246371" y="1006604"/>
                </a:moveTo>
                <a:lnTo>
                  <a:pt x="8775646" y="1477332"/>
                </a:lnTo>
                <a:lnTo>
                  <a:pt x="8775646" y="1534319"/>
                </a:lnTo>
                <a:lnTo>
                  <a:pt x="9246371" y="2005045"/>
                </a:lnTo>
                <a:lnTo>
                  <a:pt x="9715629" y="1535786"/>
                </a:lnTo>
                <a:lnTo>
                  <a:pt x="9715629" y="1475864"/>
                </a:lnTo>
                <a:close/>
                <a:moveTo>
                  <a:pt x="5043669" y="1006604"/>
                </a:moveTo>
                <a:lnTo>
                  <a:pt x="4572422" y="1477843"/>
                </a:lnTo>
                <a:lnTo>
                  <a:pt x="4572422" y="1533811"/>
                </a:lnTo>
                <a:lnTo>
                  <a:pt x="5043664" y="2005045"/>
                </a:lnTo>
                <a:lnTo>
                  <a:pt x="5512407" y="1536296"/>
                </a:lnTo>
                <a:lnTo>
                  <a:pt x="5512407" y="1475351"/>
                </a:lnTo>
                <a:close/>
                <a:moveTo>
                  <a:pt x="11347735" y="1006604"/>
                </a:moveTo>
                <a:lnTo>
                  <a:pt x="10877262" y="1477079"/>
                </a:lnTo>
                <a:lnTo>
                  <a:pt x="10877262" y="1534567"/>
                </a:lnTo>
                <a:lnTo>
                  <a:pt x="11347736" y="2005041"/>
                </a:lnTo>
                <a:lnTo>
                  <a:pt x="11817249" y="1535528"/>
                </a:lnTo>
                <a:lnTo>
                  <a:pt x="11817249" y="1476120"/>
                </a:lnTo>
                <a:close/>
                <a:moveTo>
                  <a:pt x="8195690" y="1006604"/>
                </a:moveTo>
                <a:lnTo>
                  <a:pt x="7724838" y="1477458"/>
                </a:lnTo>
                <a:lnTo>
                  <a:pt x="7724838" y="1534191"/>
                </a:lnTo>
                <a:lnTo>
                  <a:pt x="8195691" y="2005044"/>
                </a:lnTo>
                <a:lnTo>
                  <a:pt x="8664821" y="1535914"/>
                </a:lnTo>
                <a:lnTo>
                  <a:pt x="8664821" y="1475736"/>
                </a:lnTo>
                <a:close/>
                <a:moveTo>
                  <a:pt x="7145009" y="1006604"/>
                </a:moveTo>
                <a:lnTo>
                  <a:pt x="6674030" y="1477584"/>
                </a:lnTo>
                <a:lnTo>
                  <a:pt x="6674030" y="1534069"/>
                </a:lnTo>
                <a:lnTo>
                  <a:pt x="7145007" y="2005046"/>
                </a:lnTo>
                <a:lnTo>
                  <a:pt x="7614013" y="1536039"/>
                </a:lnTo>
                <a:lnTo>
                  <a:pt x="7614013" y="1475610"/>
                </a:lnTo>
                <a:close/>
                <a:moveTo>
                  <a:pt x="10297056" y="1006603"/>
                </a:moveTo>
                <a:lnTo>
                  <a:pt x="9826454" y="1477207"/>
                </a:lnTo>
                <a:lnTo>
                  <a:pt x="9826454" y="1534445"/>
                </a:lnTo>
                <a:lnTo>
                  <a:pt x="10297053" y="2005045"/>
                </a:lnTo>
                <a:lnTo>
                  <a:pt x="10766437" y="1535660"/>
                </a:lnTo>
                <a:lnTo>
                  <a:pt x="10766437" y="1475986"/>
                </a:lnTo>
                <a:close/>
                <a:moveTo>
                  <a:pt x="258361" y="922634"/>
                </a:moveTo>
                <a:lnTo>
                  <a:pt x="369186" y="922634"/>
                </a:lnTo>
                <a:lnTo>
                  <a:pt x="369186" y="1033459"/>
                </a:lnTo>
                <a:lnTo>
                  <a:pt x="258361" y="1033459"/>
                </a:lnTo>
                <a:close/>
                <a:moveTo>
                  <a:pt x="2359977" y="922633"/>
                </a:moveTo>
                <a:lnTo>
                  <a:pt x="2470802" y="922633"/>
                </a:lnTo>
                <a:lnTo>
                  <a:pt x="2470802" y="1033458"/>
                </a:lnTo>
                <a:lnTo>
                  <a:pt x="2359977" y="1033458"/>
                </a:lnTo>
                <a:close/>
                <a:moveTo>
                  <a:pt x="1309169" y="922633"/>
                </a:moveTo>
                <a:lnTo>
                  <a:pt x="1419993" y="922633"/>
                </a:lnTo>
                <a:lnTo>
                  <a:pt x="1419993" y="1033458"/>
                </a:lnTo>
                <a:lnTo>
                  <a:pt x="1309169" y="1033458"/>
                </a:lnTo>
                <a:close/>
                <a:moveTo>
                  <a:pt x="5512398" y="922633"/>
                </a:moveTo>
                <a:lnTo>
                  <a:pt x="5623223" y="922633"/>
                </a:lnTo>
                <a:lnTo>
                  <a:pt x="5623223" y="1033458"/>
                </a:lnTo>
                <a:lnTo>
                  <a:pt x="5512398" y="1033458"/>
                </a:lnTo>
                <a:close/>
                <a:moveTo>
                  <a:pt x="4461591" y="922633"/>
                </a:moveTo>
                <a:lnTo>
                  <a:pt x="4572415" y="922633"/>
                </a:lnTo>
                <a:lnTo>
                  <a:pt x="4572415" y="1033458"/>
                </a:lnTo>
                <a:lnTo>
                  <a:pt x="4461591" y="1033458"/>
                </a:lnTo>
                <a:close/>
                <a:moveTo>
                  <a:pt x="3410785" y="922633"/>
                </a:moveTo>
                <a:lnTo>
                  <a:pt x="3521610" y="922633"/>
                </a:lnTo>
                <a:lnTo>
                  <a:pt x="3521610" y="1033458"/>
                </a:lnTo>
                <a:lnTo>
                  <a:pt x="3410785" y="1033458"/>
                </a:lnTo>
                <a:close/>
                <a:moveTo>
                  <a:pt x="7614013" y="922633"/>
                </a:moveTo>
                <a:lnTo>
                  <a:pt x="7724838" y="922633"/>
                </a:lnTo>
                <a:lnTo>
                  <a:pt x="7724838" y="1033458"/>
                </a:lnTo>
                <a:lnTo>
                  <a:pt x="7614013" y="1033458"/>
                </a:lnTo>
                <a:close/>
                <a:moveTo>
                  <a:pt x="6563205" y="922633"/>
                </a:moveTo>
                <a:lnTo>
                  <a:pt x="6674030" y="922633"/>
                </a:lnTo>
                <a:lnTo>
                  <a:pt x="6674030" y="1033458"/>
                </a:lnTo>
                <a:lnTo>
                  <a:pt x="6563205" y="1033458"/>
                </a:lnTo>
                <a:close/>
                <a:moveTo>
                  <a:pt x="10766437" y="922633"/>
                </a:moveTo>
                <a:lnTo>
                  <a:pt x="10877262" y="922633"/>
                </a:lnTo>
                <a:lnTo>
                  <a:pt x="10877262" y="1033458"/>
                </a:lnTo>
                <a:lnTo>
                  <a:pt x="10766437" y="1033458"/>
                </a:lnTo>
                <a:close/>
                <a:moveTo>
                  <a:pt x="9715629" y="922633"/>
                </a:moveTo>
                <a:lnTo>
                  <a:pt x="9826454" y="922633"/>
                </a:lnTo>
                <a:lnTo>
                  <a:pt x="9826454" y="1033458"/>
                </a:lnTo>
                <a:lnTo>
                  <a:pt x="9715629" y="1033458"/>
                </a:lnTo>
                <a:close/>
                <a:moveTo>
                  <a:pt x="8664821" y="922633"/>
                </a:moveTo>
                <a:lnTo>
                  <a:pt x="8775646" y="922633"/>
                </a:lnTo>
                <a:lnTo>
                  <a:pt x="8775646" y="1033458"/>
                </a:lnTo>
                <a:lnTo>
                  <a:pt x="8664821" y="1033458"/>
                </a:lnTo>
                <a:close/>
                <a:moveTo>
                  <a:pt x="11817249" y="922633"/>
                </a:moveTo>
                <a:lnTo>
                  <a:pt x="11928074" y="922633"/>
                </a:lnTo>
                <a:lnTo>
                  <a:pt x="11928074" y="1033458"/>
                </a:lnTo>
                <a:lnTo>
                  <a:pt x="11817249" y="1033458"/>
                </a:lnTo>
                <a:close/>
                <a:moveTo>
                  <a:pt x="1337485" y="510062"/>
                </a:moveTo>
                <a:lnTo>
                  <a:pt x="867065" y="980486"/>
                </a:lnTo>
                <a:lnTo>
                  <a:pt x="1333712" y="1447134"/>
                </a:lnTo>
                <a:lnTo>
                  <a:pt x="1398855" y="1447134"/>
                </a:lnTo>
                <a:lnTo>
                  <a:pt x="1865501" y="980486"/>
                </a:lnTo>
                <a:lnTo>
                  <a:pt x="1395081" y="510062"/>
                </a:lnTo>
                <a:close/>
                <a:moveTo>
                  <a:pt x="2388173" y="510062"/>
                </a:moveTo>
                <a:lnTo>
                  <a:pt x="1917745" y="980486"/>
                </a:lnTo>
                <a:lnTo>
                  <a:pt x="2384399" y="1447134"/>
                </a:lnTo>
                <a:lnTo>
                  <a:pt x="2449542" y="1447134"/>
                </a:lnTo>
                <a:lnTo>
                  <a:pt x="2916189" y="980486"/>
                </a:lnTo>
                <a:lnTo>
                  <a:pt x="2445767" y="510062"/>
                </a:lnTo>
                <a:close/>
                <a:moveTo>
                  <a:pt x="3438856" y="510062"/>
                </a:moveTo>
                <a:lnTo>
                  <a:pt x="2968432" y="980486"/>
                </a:lnTo>
                <a:lnTo>
                  <a:pt x="3435083" y="1447134"/>
                </a:lnTo>
                <a:lnTo>
                  <a:pt x="3500228" y="1447134"/>
                </a:lnTo>
                <a:lnTo>
                  <a:pt x="3966865" y="980485"/>
                </a:lnTo>
                <a:lnTo>
                  <a:pt x="3496454" y="510062"/>
                </a:lnTo>
                <a:close/>
                <a:moveTo>
                  <a:pt x="4489518" y="510062"/>
                </a:moveTo>
                <a:lnTo>
                  <a:pt x="4019109" y="980485"/>
                </a:lnTo>
                <a:lnTo>
                  <a:pt x="4485744" y="1447134"/>
                </a:lnTo>
                <a:lnTo>
                  <a:pt x="4550887" y="1447134"/>
                </a:lnTo>
                <a:lnTo>
                  <a:pt x="5017543" y="980483"/>
                </a:lnTo>
                <a:lnTo>
                  <a:pt x="4547118" y="510062"/>
                </a:lnTo>
                <a:close/>
                <a:moveTo>
                  <a:pt x="5540201" y="510062"/>
                </a:moveTo>
                <a:lnTo>
                  <a:pt x="5069792" y="980483"/>
                </a:lnTo>
                <a:lnTo>
                  <a:pt x="5536431" y="1447134"/>
                </a:lnTo>
                <a:lnTo>
                  <a:pt x="5601567" y="1447134"/>
                </a:lnTo>
                <a:lnTo>
                  <a:pt x="6068204" y="980484"/>
                </a:lnTo>
                <a:lnTo>
                  <a:pt x="5597797" y="510062"/>
                </a:lnTo>
                <a:close/>
                <a:moveTo>
                  <a:pt x="6590867" y="510062"/>
                </a:moveTo>
                <a:lnTo>
                  <a:pt x="6120447" y="980484"/>
                </a:lnTo>
                <a:lnTo>
                  <a:pt x="6587095" y="1447133"/>
                </a:lnTo>
                <a:lnTo>
                  <a:pt x="6652238" y="1447133"/>
                </a:lnTo>
                <a:lnTo>
                  <a:pt x="7118887" y="980483"/>
                </a:lnTo>
                <a:lnTo>
                  <a:pt x="6648468" y="510062"/>
                </a:lnTo>
                <a:close/>
                <a:moveTo>
                  <a:pt x="7641550" y="510061"/>
                </a:moveTo>
                <a:lnTo>
                  <a:pt x="7171131" y="980482"/>
                </a:lnTo>
                <a:lnTo>
                  <a:pt x="7637780" y="1447133"/>
                </a:lnTo>
                <a:lnTo>
                  <a:pt x="7702919" y="1447133"/>
                </a:lnTo>
                <a:lnTo>
                  <a:pt x="8169568" y="980483"/>
                </a:lnTo>
                <a:lnTo>
                  <a:pt x="7699149" y="510061"/>
                </a:lnTo>
                <a:close/>
                <a:moveTo>
                  <a:pt x="8692232" y="510061"/>
                </a:moveTo>
                <a:lnTo>
                  <a:pt x="8221811" y="980484"/>
                </a:lnTo>
                <a:lnTo>
                  <a:pt x="8688459" y="1447133"/>
                </a:lnTo>
                <a:lnTo>
                  <a:pt x="8753603" y="1447133"/>
                </a:lnTo>
                <a:lnTo>
                  <a:pt x="9220250" y="980484"/>
                </a:lnTo>
                <a:lnTo>
                  <a:pt x="8749829" y="510061"/>
                </a:lnTo>
                <a:close/>
                <a:moveTo>
                  <a:pt x="10793597" y="510061"/>
                </a:moveTo>
                <a:lnTo>
                  <a:pt x="10323178" y="980482"/>
                </a:lnTo>
                <a:lnTo>
                  <a:pt x="10789828" y="1447133"/>
                </a:lnTo>
                <a:lnTo>
                  <a:pt x="10854964" y="1447133"/>
                </a:lnTo>
                <a:lnTo>
                  <a:pt x="11321613" y="980483"/>
                </a:lnTo>
                <a:lnTo>
                  <a:pt x="10851193" y="510061"/>
                </a:lnTo>
                <a:close/>
                <a:moveTo>
                  <a:pt x="9742913" y="510061"/>
                </a:moveTo>
                <a:lnTo>
                  <a:pt x="9272493" y="980483"/>
                </a:lnTo>
                <a:lnTo>
                  <a:pt x="9739141" y="1447133"/>
                </a:lnTo>
                <a:lnTo>
                  <a:pt x="9804283" y="1447133"/>
                </a:lnTo>
                <a:lnTo>
                  <a:pt x="10270933" y="980481"/>
                </a:lnTo>
                <a:lnTo>
                  <a:pt x="9800515" y="510061"/>
                </a:lnTo>
                <a:close/>
                <a:moveTo>
                  <a:pt x="783785" y="399238"/>
                </a:moveTo>
                <a:lnTo>
                  <a:pt x="894609" y="399238"/>
                </a:lnTo>
                <a:lnTo>
                  <a:pt x="894609" y="510062"/>
                </a:lnTo>
                <a:lnTo>
                  <a:pt x="783785" y="510062"/>
                </a:lnTo>
                <a:close/>
                <a:moveTo>
                  <a:pt x="2885401" y="399237"/>
                </a:moveTo>
                <a:lnTo>
                  <a:pt x="2996227" y="399237"/>
                </a:lnTo>
                <a:lnTo>
                  <a:pt x="2996227" y="510062"/>
                </a:lnTo>
                <a:lnTo>
                  <a:pt x="2885401" y="510062"/>
                </a:lnTo>
                <a:close/>
                <a:moveTo>
                  <a:pt x="1834590" y="399237"/>
                </a:moveTo>
                <a:lnTo>
                  <a:pt x="1945415" y="399237"/>
                </a:lnTo>
                <a:lnTo>
                  <a:pt x="1945415" y="510062"/>
                </a:lnTo>
                <a:lnTo>
                  <a:pt x="1834590" y="510062"/>
                </a:lnTo>
                <a:close/>
                <a:moveTo>
                  <a:pt x="3936208" y="399237"/>
                </a:moveTo>
                <a:lnTo>
                  <a:pt x="4047032" y="399237"/>
                </a:lnTo>
                <a:lnTo>
                  <a:pt x="4047032" y="510062"/>
                </a:lnTo>
                <a:lnTo>
                  <a:pt x="3936208" y="510062"/>
                </a:lnTo>
                <a:close/>
                <a:moveTo>
                  <a:pt x="4987004" y="399237"/>
                </a:moveTo>
                <a:lnTo>
                  <a:pt x="5097834" y="399237"/>
                </a:lnTo>
                <a:lnTo>
                  <a:pt x="5097834" y="510062"/>
                </a:lnTo>
                <a:lnTo>
                  <a:pt x="4987004" y="510062"/>
                </a:lnTo>
                <a:close/>
                <a:moveTo>
                  <a:pt x="6037802" y="399237"/>
                </a:moveTo>
                <a:lnTo>
                  <a:pt x="6148626" y="399237"/>
                </a:lnTo>
                <a:lnTo>
                  <a:pt x="6148626" y="510062"/>
                </a:lnTo>
                <a:lnTo>
                  <a:pt x="6037802" y="510062"/>
                </a:lnTo>
                <a:close/>
                <a:moveTo>
                  <a:pt x="7088609" y="399237"/>
                </a:moveTo>
                <a:lnTo>
                  <a:pt x="7199434" y="399237"/>
                </a:lnTo>
                <a:lnTo>
                  <a:pt x="7199434" y="510061"/>
                </a:lnTo>
                <a:lnTo>
                  <a:pt x="7088609" y="510061"/>
                </a:lnTo>
                <a:close/>
                <a:moveTo>
                  <a:pt x="8139417" y="399237"/>
                </a:moveTo>
                <a:lnTo>
                  <a:pt x="8250242" y="399237"/>
                </a:lnTo>
                <a:lnTo>
                  <a:pt x="8250242" y="510061"/>
                </a:lnTo>
                <a:lnTo>
                  <a:pt x="8139417" y="510061"/>
                </a:lnTo>
                <a:close/>
                <a:moveTo>
                  <a:pt x="9190225" y="399236"/>
                </a:moveTo>
                <a:lnTo>
                  <a:pt x="9301050" y="399236"/>
                </a:lnTo>
                <a:lnTo>
                  <a:pt x="9301050" y="510061"/>
                </a:lnTo>
                <a:lnTo>
                  <a:pt x="9190225" y="510061"/>
                </a:lnTo>
                <a:close/>
                <a:moveTo>
                  <a:pt x="10241033" y="399236"/>
                </a:moveTo>
                <a:lnTo>
                  <a:pt x="10351858" y="399236"/>
                </a:lnTo>
                <a:lnTo>
                  <a:pt x="10351858" y="510061"/>
                </a:lnTo>
                <a:lnTo>
                  <a:pt x="10241033" y="510061"/>
                </a:lnTo>
                <a:close/>
                <a:moveTo>
                  <a:pt x="11291841" y="399236"/>
                </a:moveTo>
                <a:lnTo>
                  <a:pt x="11402666" y="399236"/>
                </a:lnTo>
                <a:lnTo>
                  <a:pt x="11402666" y="510061"/>
                </a:lnTo>
                <a:lnTo>
                  <a:pt x="11291841" y="510061"/>
                </a:lnTo>
                <a:close/>
                <a:moveTo>
                  <a:pt x="6138405" y="0"/>
                </a:moveTo>
                <a:lnTo>
                  <a:pt x="6190649" y="0"/>
                </a:lnTo>
                <a:lnTo>
                  <a:pt x="6589887" y="399237"/>
                </a:lnTo>
                <a:lnTo>
                  <a:pt x="6649449" y="399237"/>
                </a:lnTo>
                <a:lnTo>
                  <a:pt x="7048684" y="2"/>
                </a:lnTo>
                <a:lnTo>
                  <a:pt x="7100928" y="2"/>
                </a:lnTo>
                <a:lnTo>
                  <a:pt x="6674030" y="426899"/>
                </a:lnTo>
                <a:lnTo>
                  <a:pt x="6674030" y="483379"/>
                </a:lnTo>
                <a:lnTo>
                  <a:pt x="7145009" y="954361"/>
                </a:lnTo>
                <a:lnTo>
                  <a:pt x="7614013" y="485355"/>
                </a:lnTo>
                <a:lnTo>
                  <a:pt x="7614013" y="424926"/>
                </a:lnTo>
                <a:lnTo>
                  <a:pt x="7189086" y="0"/>
                </a:lnTo>
                <a:lnTo>
                  <a:pt x="7241329" y="0"/>
                </a:lnTo>
                <a:lnTo>
                  <a:pt x="7640566" y="399237"/>
                </a:lnTo>
                <a:lnTo>
                  <a:pt x="7700131" y="399237"/>
                </a:lnTo>
                <a:lnTo>
                  <a:pt x="8099367" y="1"/>
                </a:lnTo>
                <a:lnTo>
                  <a:pt x="8151611" y="1"/>
                </a:lnTo>
                <a:lnTo>
                  <a:pt x="7724838" y="426774"/>
                </a:lnTo>
                <a:lnTo>
                  <a:pt x="7724838" y="483508"/>
                </a:lnTo>
                <a:lnTo>
                  <a:pt x="8195689" y="954363"/>
                </a:lnTo>
                <a:lnTo>
                  <a:pt x="8664821" y="485229"/>
                </a:lnTo>
                <a:lnTo>
                  <a:pt x="8664821" y="425053"/>
                </a:lnTo>
                <a:lnTo>
                  <a:pt x="8239767" y="0"/>
                </a:lnTo>
                <a:lnTo>
                  <a:pt x="8292011" y="0"/>
                </a:lnTo>
                <a:lnTo>
                  <a:pt x="8691248" y="399236"/>
                </a:lnTo>
                <a:lnTo>
                  <a:pt x="8750812" y="399236"/>
                </a:lnTo>
                <a:lnTo>
                  <a:pt x="9150049" y="1"/>
                </a:lnTo>
                <a:lnTo>
                  <a:pt x="9202293" y="1"/>
                </a:lnTo>
                <a:lnTo>
                  <a:pt x="8775646" y="426647"/>
                </a:lnTo>
                <a:lnTo>
                  <a:pt x="8775646" y="483635"/>
                </a:lnTo>
                <a:lnTo>
                  <a:pt x="9246372" y="954363"/>
                </a:lnTo>
                <a:lnTo>
                  <a:pt x="9715629" y="485103"/>
                </a:lnTo>
                <a:lnTo>
                  <a:pt x="9715629" y="425175"/>
                </a:lnTo>
                <a:lnTo>
                  <a:pt x="9290453" y="0"/>
                </a:lnTo>
                <a:lnTo>
                  <a:pt x="9342696" y="0"/>
                </a:lnTo>
                <a:lnTo>
                  <a:pt x="9741934" y="399236"/>
                </a:lnTo>
                <a:lnTo>
                  <a:pt x="9801496" y="399236"/>
                </a:lnTo>
                <a:lnTo>
                  <a:pt x="10200732" y="1"/>
                </a:lnTo>
                <a:lnTo>
                  <a:pt x="10252974" y="1"/>
                </a:lnTo>
                <a:lnTo>
                  <a:pt x="9826454" y="426520"/>
                </a:lnTo>
                <a:lnTo>
                  <a:pt x="9826454" y="483756"/>
                </a:lnTo>
                <a:lnTo>
                  <a:pt x="10297055" y="954360"/>
                </a:lnTo>
                <a:lnTo>
                  <a:pt x="10766437" y="484975"/>
                </a:lnTo>
                <a:lnTo>
                  <a:pt x="10766437" y="425305"/>
                </a:lnTo>
                <a:lnTo>
                  <a:pt x="10341131" y="0"/>
                </a:lnTo>
                <a:lnTo>
                  <a:pt x="10393375" y="0"/>
                </a:lnTo>
                <a:lnTo>
                  <a:pt x="10792612" y="399236"/>
                </a:lnTo>
                <a:lnTo>
                  <a:pt x="10852176" y="399236"/>
                </a:lnTo>
                <a:lnTo>
                  <a:pt x="11251411" y="3"/>
                </a:lnTo>
                <a:lnTo>
                  <a:pt x="11303657" y="3"/>
                </a:lnTo>
                <a:lnTo>
                  <a:pt x="10877262" y="426397"/>
                </a:lnTo>
                <a:lnTo>
                  <a:pt x="10877262" y="483887"/>
                </a:lnTo>
                <a:lnTo>
                  <a:pt x="11347735" y="954362"/>
                </a:lnTo>
                <a:lnTo>
                  <a:pt x="11817249" y="484846"/>
                </a:lnTo>
                <a:lnTo>
                  <a:pt x="11817249" y="425436"/>
                </a:lnTo>
                <a:lnTo>
                  <a:pt x="11391812" y="0"/>
                </a:lnTo>
                <a:lnTo>
                  <a:pt x="11444056" y="0"/>
                </a:lnTo>
                <a:lnTo>
                  <a:pt x="11843293" y="399236"/>
                </a:lnTo>
                <a:lnTo>
                  <a:pt x="11902859" y="399236"/>
                </a:lnTo>
                <a:lnTo>
                  <a:pt x="12191973" y="110123"/>
                </a:lnTo>
                <a:lnTo>
                  <a:pt x="12191973" y="162366"/>
                </a:lnTo>
                <a:lnTo>
                  <a:pt x="11928074" y="426265"/>
                </a:lnTo>
                <a:lnTo>
                  <a:pt x="11928074" y="484017"/>
                </a:lnTo>
                <a:lnTo>
                  <a:pt x="12191974" y="747926"/>
                </a:lnTo>
                <a:lnTo>
                  <a:pt x="12191974" y="800166"/>
                </a:lnTo>
                <a:lnTo>
                  <a:pt x="11901874" y="510061"/>
                </a:lnTo>
                <a:lnTo>
                  <a:pt x="11844278" y="510061"/>
                </a:lnTo>
                <a:lnTo>
                  <a:pt x="11373857" y="980483"/>
                </a:lnTo>
                <a:lnTo>
                  <a:pt x="11840505" y="1447132"/>
                </a:lnTo>
                <a:lnTo>
                  <a:pt x="11905645" y="1447132"/>
                </a:lnTo>
                <a:lnTo>
                  <a:pt x="12191976" y="1160803"/>
                </a:lnTo>
                <a:lnTo>
                  <a:pt x="12191976" y="1213046"/>
                </a:lnTo>
                <a:lnTo>
                  <a:pt x="11928074" y="1476947"/>
                </a:lnTo>
                <a:lnTo>
                  <a:pt x="11928074" y="1534702"/>
                </a:lnTo>
                <a:lnTo>
                  <a:pt x="12191975" y="1798604"/>
                </a:lnTo>
                <a:lnTo>
                  <a:pt x="12191975" y="1850847"/>
                </a:lnTo>
                <a:lnTo>
                  <a:pt x="11899087" y="1557957"/>
                </a:lnTo>
                <a:lnTo>
                  <a:pt x="11847063" y="1557957"/>
                </a:lnTo>
                <a:lnTo>
                  <a:pt x="11373858" y="2031163"/>
                </a:lnTo>
                <a:lnTo>
                  <a:pt x="11842778" y="2500070"/>
                </a:lnTo>
                <a:lnTo>
                  <a:pt x="11903378" y="2500070"/>
                </a:lnTo>
                <a:lnTo>
                  <a:pt x="12191975" y="2211473"/>
                </a:lnTo>
                <a:lnTo>
                  <a:pt x="12191974" y="2263716"/>
                </a:lnTo>
                <a:lnTo>
                  <a:pt x="11928074" y="2527616"/>
                </a:lnTo>
                <a:lnTo>
                  <a:pt x="11928074" y="2585366"/>
                </a:lnTo>
                <a:lnTo>
                  <a:pt x="12191978" y="2849270"/>
                </a:lnTo>
                <a:lnTo>
                  <a:pt x="12191977" y="2901515"/>
                </a:lnTo>
                <a:lnTo>
                  <a:pt x="11901357" y="2610895"/>
                </a:lnTo>
                <a:lnTo>
                  <a:pt x="11844795" y="2610895"/>
                </a:lnTo>
                <a:lnTo>
                  <a:pt x="11373856" y="3081835"/>
                </a:lnTo>
                <a:lnTo>
                  <a:pt x="11843230" y="3551209"/>
                </a:lnTo>
                <a:lnTo>
                  <a:pt x="11902922" y="3551209"/>
                </a:lnTo>
                <a:lnTo>
                  <a:pt x="12191974" y="3262156"/>
                </a:lnTo>
                <a:lnTo>
                  <a:pt x="12191974" y="3314400"/>
                </a:lnTo>
                <a:lnTo>
                  <a:pt x="11928074" y="3578299"/>
                </a:lnTo>
                <a:lnTo>
                  <a:pt x="11928074" y="3636053"/>
                </a:lnTo>
                <a:lnTo>
                  <a:pt x="12191975" y="3899954"/>
                </a:lnTo>
                <a:lnTo>
                  <a:pt x="12191975" y="3952198"/>
                </a:lnTo>
                <a:lnTo>
                  <a:pt x="11901811" y="3662034"/>
                </a:lnTo>
                <a:lnTo>
                  <a:pt x="11844339" y="3662034"/>
                </a:lnTo>
                <a:lnTo>
                  <a:pt x="11373856" y="4132518"/>
                </a:lnTo>
                <a:lnTo>
                  <a:pt x="11813331" y="4571992"/>
                </a:lnTo>
                <a:lnTo>
                  <a:pt x="11761089" y="4571991"/>
                </a:lnTo>
                <a:lnTo>
                  <a:pt x="11347736" y="4158638"/>
                </a:lnTo>
                <a:lnTo>
                  <a:pt x="10934382" y="4571992"/>
                </a:lnTo>
                <a:lnTo>
                  <a:pt x="10882138" y="4571992"/>
                </a:lnTo>
                <a:lnTo>
                  <a:pt x="11321614" y="4132516"/>
                </a:lnTo>
                <a:lnTo>
                  <a:pt x="10851132" y="3662034"/>
                </a:lnTo>
                <a:lnTo>
                  <a:pt x="10793656" y="3662034"/>
                </a:lnTo>
                <a:lnTo>
                  <a:pt x="10323175" y="4132515"/>
                </a:lnTo>
                <a:lnTo>
                  <a:pt x="10762651" y="4571991"/>
                </a:lnTo>
                <a:lnTo>
                  <a:pt x="10710406" y="4571992"/>
                </a:lnTo>
                <a:lnTo>
                  <a:pt x="10297052" y="4158638"/>
                </a:lnTo>
                <a:lnTo>
                  <a:pt x="9883699" y="4571992"/>
                </a:lnTo>
                <a:lnTo>
                  <a:pt x="9831456" y="4571992"/>
                </a:lnTo>
                <a:lnTo>
                  <a:pt x="10270931" y="4132517"/>
                </a:lnTo>
                <a:lnTo>
                  <a:pt x="9800448" y="3662034"/>
                </a:lnTo>
                <a:lnTo>
                  <a:pt x="9742974" y="3662034"/>
                </a:lnTo>
                <a:lnTo>
                  <a:pt x="9272491" y="4132517"/>
                </a:lnTo>
                <a:lnTo>
                  <a:pt x="9711968" y="4571993"/>
                </a:lnTo>
                <a:lnTo>
                  <a:pt x="9659723" y="4571993"/>
                </a:lnTo>
                <a:lnTo>
                  <a:pt x="9246369" y="4158639"/>
                </a:lnTo>
                <a:lnTo>
                  <a:pt x="8833016" y="4571992"/>
                </a:lnTo>
                <a:lnTo>
                  <a:pt x="8780772" y="4571992"/>
                </a:lnTo>
                <a:lnTo>
                  <a:pt x="9220247" y="4132517"/>
                </a:lnTo>
                <a:lnTo>
                  <a:pt x="8749764" y="3662034"/>
                </a:lnTo>
                <a:lnTo>
                  <a:pt x="8692294" y="3662034"/>
                </a:lnTo>
                <a:lnTo>
                  <a:pt x="8221812" y="4132516"/>
                </a:lnTo>
                <a:lnTo>
                  <a:pt x="8661288" y="4571992"/>
                </a:lnTo>
                <a:lnTo>
                  <a:pt x="8609042" y="4571992"/>
                </a:lnTo>
                <a:lnTo>
                  <a:pt x="8195689" y="4158639"/>
                </a:lnTo>
                <a:lnTo>
                  <a:pt x="7782334" y="4571994"/>
                </a:lnTo>
                <a:lnTo>
                  <a:pt x="7730092" y="4571994"/>
                </a:lnTo>
                <a:lnTo>
                  <a:pt x="8169568" y="4132518"/>
                </a:lnTo>
                <a:lnTo>
                  <a:pt x="7699085" y="3662034"/>
                </a:lnTo>
                <a:lnTo>
                  <a:pt x="7641614" y="3662034"/>
                </a:lnTo>
                <a:lnTo>
                  <a:pt x="7171129" y="4132518"/>
                </a:lnTo>
                <a:lnTo>
                  <a:pt x="7610604" y="4571993"/>
                </a:lnTo>
                <a:lnTo>
                  <a:pt x="7558360" y="4571993"/>
                </a:lnTo>
                <a:lnTo>
                  <a:pt x="7145007" y="4158640"/>
                </a:lnTo>
                <a:lnTo>
                  <a:pt x="6731655" y="4571993"/>
                </a:lnTo>
                <a:lnTo>
                  <a:pt x="6679410" y="4571993"/>
                </a:lnTo>
                <a:lnTo>
                  <a:pt x="7118885" y="4132518"/>
                </a:lnTo>
                <a:lnTo>
                  <a:pt x="6648402" y="3662034"/>
                </a:lnTo>
                <a:lnTo>
                  <a:pt x="6590932" y="3662034"/>
                </a:lnTo>
                <a:lnTo>
                  <a:pt x="6120448" y="4132519"/>
                </a:lnTo>
                <a:lnTo>
                  <a:pt x="6559922" y="4571993"/>
                </a:lnTo>
                <a:lnTo>
                  <a:pt x="6507678" y="4571993"/>
                </a:lnTo>
                <a:lnTo>
                  <a:pt x="6094326" y="4158641"/>
                </a:lnTo>
                <a:lnTo>
                  <a:pt x="5680985" y="4571992"/>
                </a:lnTo>
                <a:lnTo>
                  <a:pt x="5628744" y="4571992"/>
                </a:lnTo>
                <a:lnTo>
                  <a:pt x="6068205" y="4132519"/>
                </a:lnTo>
                <a:lnTo>
                  <a:pt x="5597731" y="3662034"/>
                </a:lnTo>
                <a:lnTo>
                  <a:pt x="5540263" y="3662034"/>
                </a:lnTo>
                <a:lnTo>
                  <a:pt x="5069789" y="4132518"/>
                </a:lnTo>
                <a:lnTo>
                  <a:pt x="5509253" y="4571993"/>
                </a:lnTo>
                <a:lnTo>
                  <a:pt x="5457012" y="4571993"/>
                </a:lnTo>
                <a:lnTo>
                  <a:pt x="5043664" y="4158640"/>
                </a:lnTo>
                <a:lnTo>
                  <a:pt x="4630303" y="4571992"/>
                </a:lnTo>
                <a:lnTo>
                  <a:pt x="4578059" y="4571992"/>
                </a:lnTo>
                <a:lnTo>
                  <a:pt x="5017539" y="4132518"/>
                </a:lnTo>
                <a:lnTo>
                  <a:pt x="4547049" y="3662034"/>
                </a:lnTo>
                <a:lnTo>
                  <a:pt x="4489581" y="3662034"/>
                </a:lnTo>
                <a:lnTo>
                  <a:pt x="4019108" y="4132519"/>
                </a:lnTo>
                <a:lnTo>
                  <a:pt x="4458568" y="4571993"/>
                </a:lnTo>
                <a:lnTo>
                  <a:pt x="4406323" y="4571993"/>
                </a:lnTo>
                <a:lnTo>
                  <a:pt x="3992985" y="4158641"/>
                </a:lnTo>
                <a:lnTo>
                  <a:pt x="3579645" y="4571992"/>
                </a:lnTo>
                <a:lnTo>
                  <a:pt x="3527403" y="4571992"/>
                </a:lnTo>
                <a:lnTo>
                  <a:pt x="3966864" y="4132520"/>
                </a:lnTo>
                <a:lnTo>
                  <a:pt x="3496388" y="3662034"/>
                </a:lnTo>
                <a:lnTo>
                  <a:pt x="3438920" y="3662034"/>
                </a:lnTo>
                <a:lnTo>
                  <a:pt x="2968432" y="4132519"/>
                </a:lnTo>
                <a:lnTo>
                  <a:pt x="3407908" y="4571992"/>
                </a:lnTo>
                <a:lnTo>
                  <a:pt x="3355663" y="4571992"/>
                </a:lnTo>
                <a:lnTo>
                  <a:pt x="2942311" y="4158641"/>
                </a:lnTo>
                <a:lnTo>
                  <a:pt x="2528961" y="4571991"/>
                </a:lnTo>
                <a:lnTo>
                  <a:pt x="2476717" y="4571991"/>
                </a:lnTo>
                <a:lnTo>
                  <a:pt x="2916189" y="4132519"/>
                </a:lnTo>
                <a:lnTo>
                  <a:pt x="2445706" y="3662034"/>
                </a:lnTo>
                <a:lnTo>
                  <a:pt x="2388237" y="3662034"/>
                </a:lnTo>
                <a:lnTo>
                  <a:pt x="1917745" y="4132520"/>
                </a:lnTo>
                <a:lnTo>
                  <a:pt x="2357225" y="4571992"/>
                </a:lnTo>
                <a:lnTo>
                  <a:pt x="2304981" y="4571993"/>
                </a:lnTo>
                <a:lnTo>
                  <a:pt x="1891623" y="4158642"/>
                </a:lnTo>
                <a:lnTo>
                  <a:pt x="1478275" y="4571991"/>
                </a:lnTo>
                <a:lnTo>
                  <a:pt x="1426031" y="4571991"/>
                </a:lnTo>
                <a:lnTo>
                  <a:pt x="1865501" y="4132520"/>
                </a:lnTo>
                <a:lnTo>
                  <a:pt x="1395017" y="3662034"/>
                </a:lnTo>
                <a:lnTo>
                  <a:pt x="1337551" y="3662034"/>
                </a:lnTo>
                <a:lnTo>
                  <a:pt x="867066" y="4132521"/>
                </a:lnTo>
                <a:lnTo>
                  <a:pt x="1306536" y="4571992"/>
                </a:lnTo>
                <a:lnTo>
                  <a:pt x="1254292" y="4571992"/>
                </a:lnTo>
                <a:lnTo>
                  <a:pt x="840944" y="4158643"/>
                </a:lnTo>
                <a:lnTo>
                  <a:pt x="427595" y="4571993"/>
                </a:lnTo>
                <a:lnTo>
                  <a:pt x="375351" y="4571993"/>
                </a:lnTo>
                <a:lnTo>
                  <a:pt x="814822" y="4132521"/>
                </a:lnTo>
                <a:lnTo>
                  <a:pt x="344336" y="3662034"/>
                </a:lnTo>
                <a:lnTo>
                  <a:pt x="286870" y="3662034"/>
                </a:lnTo>
                <a:lnTo>
                  <a:pt x="5" y="3948900"/>
                </a:lnTo>
                <a:lnTo>
                  <a:pt x="5" y="3896656"/>
                </a:lnTo>
                <a:lnTo>
                  <a:pt x="258369" y="3638291"/>
                </a:lnTo>
                <a:lnTo>
                  <a:pt x="258369" y="3576066"/>
                </a:lnTo>
                <a:lnTo>
                  <a:pt x="1" y="3317698"/>
                </a:lnTo>
                <a:lnTo>
                  <a:pt x="1" y="3265454"/>
                </a:lnTo>
                <a:lnTo>
                  <a:pt x="285756" y="3551209"/>
                </a:lnTo>
                <a:lnTo>
                  <a:pt x="345451" y="3551209"/>
                </a:lnTo>
                <a:lnTo>
                  <a:pt x="814822" y="3081838"/>
                </a:lnTo>
                <a:lnTo>
                  <a:pt x="343880" y="2610895"/>
                </a:lnTo>
                <a:lnTo>
                  <a:pt x="287328" y="2610895"/>
                </a:lnTo>
                <a:lnTo>
                  <a:pt x="6" y="2898217"/>
                </a:lnTo>
                <a:lnTo>
                  <a:pt x="6" y="2845973"/>
                </a:lnTo>
                <a:lnTo>
                  <a:pt x="258373" y="2587605"/>
                </a:lnTo>
                <a:lnTo>
                  <a:pt x="258373" y="2525388"/>
                </a:lnTo>
                <a:lnTo>
                  <a:pt x="1" y="2267015"/>
                </a:lnTo>
                <a:lnTo>
                  <a:pt x="0" y="2214770"/>
                </a:lnTo>
                <a:lnTo>
                  <a:pt x="285299" y="2500070"/>
                </a:lnTo>
                <a:lnTo>
                  <a:pt x="345909" y="2500070"/>
                </a:lnTo>
                <a:lnTo>
                  <a:pt x="814822" y="2031167"/>
                </a:lnTo>
                <a:lnTo>
                  <a:pt x="341616" y="1557959"/>
                </a:lnTo>
                <a:lnTo>
                  <a:pt x="289593" y="1557959"/>
                </a:lnTo>
                <a:lnTo>
                  <a:pt x="4" y="1847551"/>
                </a:lnTo>
                <a:lnTo>
                  <a:pt x="4" y="1795307"/>
                </a:lnTo>
                <a:lnTo>
                  <a:pt x="258377" y="1536932"/>
                </a:lnTo>
                <a:lnTo>
                  <a:pt x="258377" y="1474721"/>
                </a:lnTo>
                <a:lnTo>
                  <a:pt x="2" y="1216345"/>
                </a:lnTo>
                <a:lnTo>
                  <a:pt x="2" y="1164102"/>
                </a:lnTo>
                <a:lnTo>
                  <a:pt x="283034" y="1447135"/>
                </a:lnTo>
                <a:lnTo>
                  <a:pt x="348175" y="1447135"/>
                </a:lnTo>
                <a:lnTo>
                  <a:pt x="814821" y="980486"/>
                </a:lnTo>
                <a:lnTo>
                  <a:pt x="344401" y="510062"/>
                </a:lnTo>
                <a:lnTo>
                  <a:pt x="286805" y="510062"/>
                </a:lnTo>
                <a:lnTo>
                  <a:pt x="5" y="796868"/>
                </a:lnTo>
                <a:lnTo>
                  <a:pt x="5" y="744628"/>
                </a:lnTo>
                <a:lnTo>
                  <a:pt x="258382" y="486242"/>
                </a:lnTo>
                <a:lnTo>
                  <a:pt x="258382" y="424043"/>
                </a:lnTo>
                <a:lnTo>
                  <a:pt x="3" y="165664"/>
                </a:lnTo>
                <a:lnTo>
                  <a:pt x="3" y="113420"/>
                </a:lnTo>
                <a:lnTo>
                  <a:pt x="285820" y="399237"/>
                </a:lnTo>
                <a:lnTo>
                  <a:pt x="345386" y="399237"/>
                </a:lnTo>
                <a:lnTo>
                  <a:pt x="744622" y="2"/>
                </a:lnTo>
                <a:lnTo>
                  <a:pt x="796865" y="2"/>
                </a:lnTo>
                <a:lnTo>
                  <a:pt x="369206" y="427661"/>
                </a:lnTo>
                <a:lnTo>
                  <a:pt x="369206" y="482624"/>
                </a:lnTo>
                <a:lnTo>
                  <a:pt x="840943" y="954364"/>
                </a:lnTo>
                <a:lnTo>
                  <a:pt x="1309187" y="486116"/>
                </a:lnTo>
                <a:lnTo>
                  <a:pt x="1309187" y="424169"/>
                </a:lnTo>
                <a:lnTo>
                  <a:pt x="885019" y="0"/>
                </a:lnTo>
                <a:lnTo>
                  <a:pt x="937262" y="0"/>
                </a:lnTo>
                <a:lnTo>
                  <a:pt x="1336499" y="399237"/>
                </a:lnTo>
                <a:lnTo>
                  <a:pt x="1396066" y="399237"/>
                </a:lnTo>
                <a:lnTo>
                  <a:pt x="1795300" y="3"/>
                </a:lnTo>
                <a:lnTo>
                  <a:pt x="1847544" y="3"/>
                </a:lnTo>
                <a:lnTo>
                  <a:pt x="1420012" y="427535"/>
                </a:lnTo>
                <a:lnTo>
                  <a:pt x="1420012" y="482750"/>
                </a:lnTo>
                <a:lnTo>
                  <a:pt x="1891623" y="954365"/>
                </a:lnTo>
                <a:lnTo>
                  <a:pt x="2360001" y="485992"/>
                </a:lnTo>
                <a:lnTo>
                  <a:pt x="2360001" y="424295"/>
                </a:lnTo>
                <a:lnTo>
                  <a:pt x="1935698" y="0"/>
                </a:lnTo>
                <a:lnTo>
                  <a:pt x="1987943" y="0"/>
                </a:lnTo>
                <a:lnTo>
                  <a:pt x="2387187" y="399237"/>
                </a:lnTo>
                <a:lnTo>
                  <a:pt x="2446755" y="399237"/>
                </a:lnTo>
                <a:lnTo>
                  <a:pt x="2845991" y="2"/>
                </a:lnTo>
                <a:lnTo>
                  <a:pt x="2898236" y="2"/>
                </a:lnTo>
                <a:lnTo>
                  <a:pt x="2470825" y="427411"/>
                </a:lnTo>
                <a:lnTo>
                  <a:pt x="2470825" y="482875"/>
                </a:lnTo>
                <a:lnTo>
                  <a:pt x="2942310" y="954365"/>
                </a:lnTo>
                <a:lnTo>
                  <a:pt x="3410809" y="485866"/>
                </a:lnTo>
                <a:lnTo>
                  <a:pt x="3410809" y="424419"/>
                </a:lnTo>
                <a:lnTo>
                  <a:pt x="2986386" y="0"/>
                </a:lnTo>
                <a:lnTo>
                  <a:pt x="3038626" y="0"/>
                </a:lnTo>
                <a:lnTo>
                  <a:pt x="3437870" y="399237"/>
                </a:lnTo>
                <a:lnTo>
                  <a:pt x="3497441" y="399237"/>
                </a:lnTo>
                <a:lnTo>
                  <a:pt x="3896667" y="2"/>
                </a:lnTo>
                <a:lnTo>
                  <a:pt x="3948913" y="2"/>
                </a:lnTo>
                <a:lnTo>
                  <a:pt x="3521637" y="427285"/>
                </a:lnTo>
                <a:lnTo>
                  <a:pt x="3521637" y="483001"/>
                </a:lnTo>
                <a:lnTo>
                  <a:pt x="3992987" y="954364"/>
                </a:lnTo>
                <a:lnTo>
                  <a:pt x="4461599" y="485738"/>
                </a:lnTo>
                <a:lnTo>
                  <a:pt x="4461599" y="424543"/>
                </a:lnTo>
                <a:lnTo>
                  <a:pt x="4037068" y="1"/>
                </a:lnTo>
                <a:lnTo>
                  <a:pt x="4089312" y="1"/>
                </a:lnTo>
                <a:lnTo>
                  <a:pt x="4488534" y="399237"/>
                </a:lnTo>
                <a:lnTo>
                  <a:pt x="4548100" y="399237"/>
                </a:lnTo>
                <a:lnTo>
                  <a:pt x="4947332" y="4"/>
                </a:lnTo>
                <a:lnTo>
                  <a:pt x="4999581" y="4"/>
                </a:lnTo>
                <a:lnTo>
                  <a:pt x="4572422" y="427156"/>
                </a:lnTo>
                <a:lnTo>
                  <a:pt x="4572422" y="483126"/>
                </a:lnTo>
                <a:lnTo>
                  <a:pt x="5043667" y="954362"/>
                </a:lnTo>
                <a:lnTo>
                  <a:pt x="5512409" y="485609"/>
                </a:lnTo>
                <a:lnTo>
                  <a:pt x="5512409" y="424674"/>
                </a:lnTo>
                <a:lnTo>
                  <a:pt x="5087742" y="1"/>
                </a:lnTo>
                <a:lnTo>
                  <a:pt x="5139977" y="1"/>
                </a:lnTo>
                <a:lnTo>
                  <a:pt x="5539215" y="399237"/>
                </a:lnTo>
                <a:lnTo>
                  <a:pt x="5598781" y="399237"/>
                </a:lnTo>
                <a:lnTo>
                  <a:pt x="5998007" y="2"/>
                </a:lnTo>
                <a:lnTo>
                  <a:pt x="6050249" y="2"/>
                </a:lnTo>
                <a:lnTo>
                  <a:pt x="5623232" y="427030"/>
                </a:lnTo>
                <a:lnTo>
                  <a:pt x="5623232" y="483255"/>
                </a:lnTo>
                <a:lnTo>
                  <a:pt x="6094326" y="954363"/>
                </a:lnTo>
                <a:lnTo>
                  <a:pt x="6563205" y="485481"/>
                </a:lnTo>
                <a:lnTo>
                  <a:pt x="6563205" y="42479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0578ACC-22D6-47C1-A373-4FD133E34F3C}" type="datetimeFigureOut">
              <a:rPr lang="en-US" smtClean="0"/>
              <a:t>11/14/2024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045825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smtClean="0"/>
              <a:t>11/14/2024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8902527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5989320"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smtClean="0"/>
              <a:t>11/14/2024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01036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smtClean="0"/>
              <a:t>11/14/2024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26649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24A7AC-904D-4781-85BA-7D10C17ED021}" type="datetimeFigureOut">
              <a:rPr lang="en-US" smtClean="0"/>
              <a:t>11/14/2024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92253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331444B-B92B-4E27-8C94-BB93EAF5CB18}" type="datetimeFigureOut">
              <a:rPr lang="en-US" smtClean="0"/>
              <a:t>11/14/2024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119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63EFA5E-FA76-400D-B3DC-F0BA90E6D107}" type="datetimeFigureOut">
              <a:rPr lang="en-US" smtClean="0"/>
              <a:t>11/14/2024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1204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smtClean="0"/>
              <a:t>11/14/2024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8227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0" y="762000"/>
            <a:ext cx="75819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178E61D-D431-422C-9764-11DAFE33AB63}" type="datetimeFigureOut">
              <a:rPr lang="en-US" smtClean="0"/>
              <a:t>11/14/2024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582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1"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8" y="6470704"/>
            <a:ext cx="2154142"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D6E9DEC-419B-4CC5-A080-3B06BD5A8291}" type="datetimeFigureOut">
              <a:rPr lang="en-US" smtClean="0"/>
              <a:t>11/14/2024</a:t>
            </a:fld>
            <a:endParaRPr lang="en-US" dirty="0"/>
          </a:p>
        </p:txBody>
      </p:sp>
      <p:sp>
        <p:nvSpPr>
          <p:cNvPr id="5" name="Footer Placeholder 4"/>
          <p:cNvSpPr>
            <a:spLocks noGrp="1"/>
          </p:cNvSpPr>
          <p:nvPr>
            <p:ph type="ftr" sz="quarter" idx="3"/>
          </p:nvPr>
        </p:nvSpPr>
        <p:spPr>
          <a:xfrm>
            <a:off x="4842932" y="6470704"/>
            <a:ext cx="5901458"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4" y="6470704"/>
            <a:ext cx="973666"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D22F896-40B5-4ADD-8801-0D06FADFA095}" type="slidenum">
              <a:rPr lang="en-US" smtClean="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1296055"/>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www.oshatrain.org/courses/mods/700m6.html"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en.wikipedia.org/wiki/Emergency_management"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www.youtube.com/watch?v=Mh71hZJNoxk"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hyperlink" Target="https://creativecommons.org/licenses/by-nc-nd/3.0/" TargetMode="External"/><Relationship Id="rId4" Type="http://schemas.openxmlformats.org/officeDocument/2006/relationships/hyperlink" Target="http://www.sacerdotus.com/2012/09/september-11-2001-11-years.html" TargetMode="Externa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8386" y="4960137"/>
            <a:ext cx="6642540" cy="1463040"/>
          </a:xfrm>
        </p:spPr>
        <p:txBody>
          <a:bodyPr>
            <a:normAutofit fontScale="90000"/>
          </a:bodyPr>
          <a:lstStyle/>
          <a:p>
            <a:r>
              <a:rPr lang="en-US" dirty="0"/>
              <a:t>Crisis Communications Management</a:t>
            </a:r>
            <a:endParaRPr lang="vi-VN" dirty="0"/>
          </a:p>
        </p:txBody>
      </p:sp>
      <p:sp>
        <p:nvSpPr>
          <p:cNvPr id="3" name="Subtitle 2"/>
          <p:cNvSpPr>
            <a:spLocks noGrp="1"/>
          </p:cNvSpPr>
          <p:nvPr>
            <p:ph type="subTitle" idx="1"/>
          </p:nvPr>
        </p:nvSpPr>
        <p:spPr/>
        <p:txBody>
          <a:bodyPr/>
          <a:lstStyle/>
          <a:p>
            <a:r>
              <a:rPr lang="vi-VN" smtClean="0"/>
              <a:t>CCM</a:t>
            </a:r>
            <a:r>
              <a:rPr lang="en-US" smtClean="0">
                <a:latin typeface="Tahoma" panose="020B0604030504040204" pitchFamily="34" charset="0"/>
                <a:ea typeface="Tahoma" panose="020B0604030504040204" pitchFamily="34" charset="0"/>
                <a:cs typeface="Tahoma" panose="020B0604030504040204" pitchFamily="34" charset="0"/>
              </a:rPr>
              <a:t>3</a:t>
            </a:r>
            <a:r>
              <a:rPr lang="vi-VN" smtClean="0"/>
              <a:t>01</a:t>
            </a:r>
            <a:endParaRPr lang="vi-VN" dirty="0"/>
          </a:p>
        </p:txBody>
      </p:sp>
      <p:pic>
        <p:nvPicPr>
          <p:cNvPr id="6" name="Picture 5">
            <a:extLst>
              <a:ext uri="{FF2B5EF4-FFF2-40B4-BE49-F238E27FC236}">
                <a16:creationId xmlns:a16="http://schemas.microsoft.com/office/drawing/2014/main" id="{CBF4C11C-5D20-EE49-BF22-E27F0BD44C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4590" y="93671"/>
            <a:ext cx="2563265" cy="1293121"/>
          </a:xfrm>
          <a:prstGeom prst="rect">
            <a:avLst/>
          </a:prstGeom>
        </p:spPr>
      </p:pic>
    </p:spTree>
    <p:extLst>
      <p:ext uri="{BB962C8B-B14F-4D97-AF65-F5344CB8AC3E}">
        <p14:creationId xmlns:p14="http://schemas.microsoft.com/office/powerpoint/2010/main" val="20775264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Content</a:t>
            </a:r>
            <a:endParaRPr lang="vi-VN" dirty="0"/>
          </a:p>
        </p:txBody>
      </p:sp>
      <p:sp>
        <p:nvSpPr>
          <p:cNvPr id="3" name="Content Placeholder 2"/>
          <p:cNvSpPr>
            <a:spLocks noGrp="1"/>
          </p:cNvSpPr>
          <p:nvPr>
            <p:ph idx="1"/>
          </p:nvPr>
        </p:nvSpPr>
        <p:spPr>
          <a:xfrm>
            <a:off x="745008" y="2231572"/>
            <a:ext cx="7647878" cy="3897085"/>
          </a:xfrm>
        </p:spPr>
        <p:txBody>
          <a:bodyPr>
            <a:normAutofit lnSpcReduction="10000"/>
          </a:bodyPr>
          <a:lstStyle/>
          <a:p>
            <a:pPr marL="282575" indent="-282575">
              <a:buFont typeface="Wingdings" panose="05000000000000000000" pitchFamily="2" charset="2"/>
              <a:buChar char="q"/>
            </a:pPr>
            <a:r>
              <a:rPr lang="en-US" dirty="0" smtClean="0"/>
              <a:t>The </a:t>
            </a:r>
            <a:r>
              <a:rPr lang="en-US" dirty="0"/>
              <a:t>definitions of crisis and how they come </a:t>
            </a:r>
            <a:r>
              <a:rPr lang="en-US" dirty="0" smtClean="0"/>
              <a:t>about</a:t>
            </a:r>
          </a:p>
          <a:p>
            <a:pPr marL="282575" indent="-282575">
              <a:buFont typeface="Wingdings" panose="05000000000000000000" pitchFamily="2" charset="2"/>
              <a:buChar char="q"/>
            </a:pPr>
            <a:r>
              <a:rPr lang="en-US" dirty="0" smtClean="0"/>
              <a:t>The </a:t>
            </a:r>
            <a:r>
              <a:rPr lang="en-US" dirty="0"/>
              <a:t>importance of the Enterprise Risk Management framework in crisis prevention and </a:t>
            </a:r>
            <a:r>
              <a:rPr lang="en-US" dirty="0" smtClean="0"/>
              <a:t>preparation</a:t>
            </a:r>
          </a:p>
          <a:p>
            <a:pPr marL="282575" indent="-282575">
              <a:buFont typeface="Wingdings" panose="05000000000000000000" pitchFamily="2" charset="2"/>
              <a:buChar char="q"/>
            </a:pPr>
            <a:r>
              <a:rPr lang="en-US" dirty="0" smtClean="0"/>
              <a:t>How to </a:t>
            </a:r>
            <a:r>
              <a:rPr lang="en-US" dirty="0" err="1" smtClean="0"/>
              <a:t>recognise</a:t>
            </a:r>
            <a:r>
              <a:rPr lang="en-US" dirty="0" smtClean="0"/>
              <a:t> </a:t>
            </a:r>
            <a:r>
              <a:rPr lang="en-US" dirty="0"/>
              <a:t>and address crises in case they </a:t>
            </a:r>
            <a:r>
              <a:rPr lang="en-US" dirty="0" smtClean="0"/>
              <a:t>happen</a:t>
            </a:r>
          </a:p>
          <a:p>
            <a:pPr marL="282575" indent="-282575">
              <a:buFont typeface="Wingdings" panose="05000000000000000000" pitchFamily="2" charset="2"/>
              <a:buChar char="q"/>
            </a:pPr>
            <a:r>
              <a:rPr lang="en-US" dirty="0" smtClean="0"/>
              <a:t>The role </a:t>
            </a:r>
            <a:r>
              <a:rPr lang="en-US" dirty="0"/>
              <a:t>of communications throughout the crisis management </a:t>
            </a:r>
            <a:r>
              <a:rPr lang="en-US" dirty="0" smtClean="0"/>
              <a:t>process</a:t>
            </a:r>
          </a:p>
          <a:p>
            <a:pPr marL="282575" indent="-282575">
              <a:buFont typeface="Wingdings" panose="05000000000000000000" pitchFamily="2" charset="2"/>
              <a:buChar char="q"/>
            </a:pPr>
            <a:r>
              <a:rPr lang="en-US" dirty="0" smtClean="0"/>
              <a:t>How </a:t>
            </a:r>
            <a:r>
              <a:rPr lang="en-US" dirty="0"/>
              <a:t>to </a:t>
            </a:r>
            <a:r>
              <a:rPr lang="en-US" dirty="0" err="1"/>
              <a:t>utilise</a:t>
            </a:r>
            <a:r>
              <a:rPr lang="en-US" dirty="0"/>
              <a:t> media relations and social media to prevent and/or respond to </a:t>
            </a:r>
            <a:r>
              <a:rPr lang="en-US" dirty="0" smtClean="0"/>
              <a:t>crises</a:t>
            </a:r>
            <a:endParaRPr lang="en-US" dirty="0"/>
          </a:p>
          <a:p>
            <a:pPr marL="282575" indent="-282575">
              <a:buFont typeface="Wingdings" panose="05000000000000000000" pitchFamily="2" charset="2"/>
              <a:buChar char="q"/>
            </a:pPr>
            <a:r>
              <a:rPr lang="en-US" dirty="0" smtClean="0"/>
              <a:t>The </a:t>
            </a:r>
            <a:r>
              <a:rPr lang="en-US" dirty="0"/>
              <a:t>influence of culture on crisis </a:t>
            </a:r>
            <a:r>
              <a:rPr lang="en-US" dirty="0" smtClean="0"/>
              <a:t>communication</a:t>
            </a:r>
          </a:p>
          <a:p>
            <a:pPr marL="282575" indent="-282575">
              <a:buFont typeface="Wingdings" panose="05000000000000000000" pitchFamily="2" charset="2"/>
              <a:buChar char="q"/>
            </a:pPr>
            <a:r>
              <a:rPr lang="en-US" dirty="0" smtClean="0"/>
              <a:t>Case studies</a:t>
            </a:r>
            <a:endParaRPr lang="vi-V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08039" y="2084832"/>
            <a:ext cx="3111738" cy="3851161"/>
          </a:xfrm>
          <a:prstGeom prst="rect">
            <a:avLst/>
          </a:prstGeom>
        </p:spPr>
      </p:pic>
    </p:spTree>
    <p:extLst>
      <p:ext uri="{BB962C8B-B14F-4D97-AF65-F5344CB8AC3E}">
        <p14:creationId xmlns:p14="http://schemas.microsoft.com/office/powerpoint/2010/main" val="2013577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Outcomes</a:t>
            </a:r>
            <a:endParaRPr lang="vi-VN" dirty="0"/>
          </a:p>
        </p:txBody>
      </p:sp>
      <p:sp>
        <p:nvSpPr>
          <p:cNvPr id="3" name="Content Placeholder 2"/>
          <p:cNvSpPr>
            <a:spLocks noGrp="1"/>
          </p:cNvSpPr>
          <p:nvPr>
            <p:ph idx="1"/>
          </p:nvPr>
        </p:nvSpPr>
        <p:spPr>
          <a:xfrm>
            <a:off x="603492" y="1999139"/>
            <a:ext cx="10358421" cy="3813833"/>
          </a:xfrm>
        </p:spPr>
        <p:txBody>
          <a:bodyPr>
            <a:noAutofit/>
          </a:bodyPr>
          <a:lstStyle/>
          <a:p>
            <a:pPr marL="228600" indent="-228600">
              <a:buFont typeface="Wingdings" panose="05000000000000000000" pitchFamily="2" charset="2"/>
              <a:buChar char="q"/>
            </a:pPr>
            <a:r>
              <a:rPr lang="en-US" dirty="0"/>
              <a:t>Identify </a:t>
            </a:r>
            <a:r>
              <a:rPr lang="en-US" dirty="0" err="1"/>
              <a:t>organisational</a:t>
            </a:r>
            <a:r>
              <a:rPr lang="en-US" dirty="0"/>
              <a:t>, industrial and environmental challenges and disasters</a:t>
            </a:r>
          </a:p>
          <a:p>
            <a:pPr marL="228600" indent="-228600">
              <a:buFont typeface="Wingdings" panose="05000000000000000000" pitchFamily="2" charset="2"/>
              <a:buChar char="q"/>
            </a:pPr>
            <a:r>
              <a:rPr lang="en-US" dirty="0" smtClean="0"/>
              <a:t>Demonstrate </a:t>
            </a:r>
            <a:r>
              <a:rPr lang="en-US" dirty="0"/>
              <a:t>an understanding of the concepts, theories and practice of issues management and crisis communication.</a:t>
            </a:r>
          </a:p>
          <a:p>
            <a:pPr marL="228600" indent="-228600">
              <a:buFont typeface="Wingdings" panose="05000000000000000000" pitchFamily="2" charset="2"/>
              <a:buChar char="q"/>
            </a:pPr>
            <a:r>
              <a:rPr lang="en-US" dirty="0" err="1" smtClean="0"/>
              <a:t>Analyse</a:t>
            </a:r>
            <a:r>
              <a:rPr lang="en-US" dirty="0" smtClean="0"/>
              <a:t> </a:t>
            </a:r>
            <a:r>
              <a:rPr lang="en-US" dirty="0"/>
              <a:t>and develop strategies for </a:t>
            </a:r>
            <a:r>
              <a:rPr lang="en-US" dirty="0" err="1"/>
              <a:t>organisational</a:t>
            </a:r>
            <a:r>
              <a:rPr lang="en-US" dirty="0"/>
              <a:t> issues using the theories, models and methods of issues management and crisis communication</a:t>
            </a:r>
          </a:p>
          <a:p>
            <a:pPr marL="228600" indent="-228600">
              <a:buFont typeface="Wingdings" panose="05000000000000000000" pitchFamily="2" charset="2"/>
              <a:buChar char="q"/>
            </a:pPr>
            <a:r>
              <a:rPr lang="en-US" dirty="0" smtClean="0"/>
              <a:t>Gain </a:t>
            </a:r>
            <a:r>
              <a:rPr lang="en-US" dirty="0"/>
              <a:t>the capacity to critique </a:t>
            </a:r>
            <a:r>
              <a:rPr lang="en-US" dirty="0" err="1"/>
              <a:t>organisational</a:t>
            </a:r>
            <a:r>
              <a:rPr lang="en-US" dirty="0"/>
              <a:t> and industrial responses to issues and crises</a:t>
            </a:r>
          </a:p>
          <a:p>
            <a:pPr marL="228600" indent="-228600">
              <a:buFont typeface="Wingdings" panose="05000000000000000000" pitchFamily="2" charset="2"/>
              <a:buChar char="q"/>
            </a:pPr>
            <a:r>
              <a:rPr lang="en-US" dirty="0" smtClean="0"/>
              <a:t>Develop </a:t>
            </a:r>
            <a:r>
              <a:rPr lang="en-US" dirty="0"/>
              <a:t>a critical attitude towards crisis communications management</a:t>
            </a:r>
          </a:p>
          <a:p>
            <a:pPr marL="228600" indent="-228600">
              <a:buFont typeface="Wingdings" panose="05000000000000000000" pitchFamily="2" charset="2"/>
              <a:buChar char="q"/>
            </a:pPr>
            <a:r>
              <a:rPr lang="en-US" dirty="0" smtClean="0"/>
              <a:t>Identify </a:t>
            </a:r>
            <a:r>
              <a:rPr lang="en-US" dirty="0"/>
              <a:t>and apply ethical standards of practice when dealing with issues management and crisis communication</a:t>
            </a:r>
          </a:p>
          <a:p>
            <a:pPr marL="228600" indent="-228600">
              <a:buFont typeface="Wingdings" panose="05000000000000000000" pitchFamily="2" charset="2"/>
              <a:buChar char="q"/>
            </a:pPr>
            <a:r>
              <a:rPr lang="en-US" dirty="0" smtClean="0"/>
              <a:t>Skills </a:t>
            </a:r>
            <a:r>
              <a:rPr lang="en-US" dirty="0"/>
              <a:t>in analysis and problem solving; </a:t>
            </a:r>
            <a:r>
              <a:rPr lang="en-US" dirty="0" smtClean="0"/>
              <a:t>proficient </a:t>
            </a:r>
            <a:r>
              <a:rPr lang="en-US" dirty="0"/>
              <a:t>in presentation and teamwork skills.</a:t>
            </a:r>
            <a:endParaRPr lang="vi-VN" dirty="0"/>
          </a:p>
        </p:txBody>
      </p:sp>
    </p:spTree>
    <p:extLst>
      <p:ext uri="{BB962C8B-B14F-4D97-AF65-F5344CB8AC3E}">
        <p14:creationId xmlns:p14="http://schemas.microsoft.com/office/powerpoint/2010/main" val="4427561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Assessment Structure</a:t>
            </a:r>
            <a:endParaRPr lang="en-US" dirty="0"/>
          </a:p>
        </p:txBody>
      </p:sp>
      <p:graphicFrame>
        <p:nvGraphicFramePr>
          <p:cNvPr id="7" name="Content Placeholder 5">
            <a:extLst>
              <a:ext uri="{FF2B5EF4-FFF2-40B4-BE49-F238E27FC236}">
                <a16:creationId xmlns:a16="http://schemas.microsoft.com/office/drawing/2014/main" id="{89134684-BE79-416F-9075-F1C1E2FEC81A}"/>
              </a:ext>
            </a:extLst>
          </p:cNvPr>
          <p:cNvGraphicFramePr>
            <a:graphicFrameLocks/>
          </p:cNvGraphicFramePr>
          <p:nvPr>
            <p:extLst>
              <p:ext uri="{D42A27DB-BD31-4B8C-83A1-F6EECF244321}">
                <p14:modId xmlns:p14="http://schemas.microsoft.com/office/powerpoint/2010/main" val="2641263583"/>
              </p:ext>
            </p:extLst>
          </p:nvPr>
        </p:nvGraphicFramePr>
        <p:xfrm>
          <a:off x="1121230" y="2194419"/>
          <a:ext cx="9775371" cy="3332871"/>
        </p:xfrm>
        <a:graphic>
          <a:graphicData uri="http://schemas.openxmlformats.org/drawingml/2006/table">
            <a:tbl>
              <a:tblPr firstRow="1" bandRow="1">
                <a:tableStyleId>{5C22544A-7EE6-4342-B048-85BDC9FD1C3A}</a:tableStyleId>
              </a:tblPr>
              <a:tblGrid>
                <a:gridCol w="4842772">
                  <a:extLst>
                    <a:ext uri="{9D8B030D-6E8A-4147-A177-3AD203B41FA5}">
                      <a16:colId xmlns:a16="http://schemas.microsoft.com/office/drawing/2014/main" val="20000"/>
                    </a:ext>
                  </a:extLst>
                </a:gridCol>
                <a:gridCol w="2292517">
                  <a:extLst>
                    <a:ext uri="{9D8B030D-6E8A-4147-A177-3AD203B41FA5}">
                      <a16:colId xmlns:a16="http://schemas.microsoft.com/office/drawing/2014/main" val="20002"/>
                    </a:ext>
                  </a:extLst>
                </a:gridCol>
                <a:gridCol w="2640082">
                  <a:extLst>
                    <a:ext uri="{9D8B030D-6E8A-4147-A177-3AD203B41FA5}">
                      <a16:colId xmlns:a16="http://schemas.microsoft.com/office/drawing/2014/main" val="1454438355"/>
                    </a:ext>
                  </a:extLst>
                </a:gridCol>
              </a:tblGrid>
              <a:tr h="477028">
                <a:tc>
                  <a:txBody>
                    <a:bodyPr/>
                    <a:lstStyle/>
                    <a:p>
                      <a:pPr algn="ctr"/>
                      <a:r>
                        <a:rPr lang="en-US" sz="2200" dirty="0" smtClean="0"/>
                        <a:t>Assessment Category</a:t>
                      </a:r>
                      <a:endParaRPr lang="en-US" sz="2200" dirty="0"/>
                    </a:p>
                  </a:txBody>
                  <a:tcPr anchor="ctr"/>
                </a:tc>
                <a:tc>
                  <a:txBody>
                    <a:bodyPr/>
                    <a:lstStyle/>
                    <a:p>
                      <a:pPr algn="ctr"/>
                      <a:r>
                        <a:rPr lang="en-US" sz="2200" dirty="0" smtClean="0"/>
                        <a:t>Weight (%)</a:t>
                      </a:r>
                      <a:endParaRPr lang="en-US" sz="2200" dirty="0"/>
                    </a:p>
                  </a:txBody>
                  <a:tcPr anchor="ctr"/>
                </a:tc>
                <a:tc>
                  <a:txBody>
                    <a:bodyPr/>
                    <a:lstStyle/>
                    <a:p>
                      <a:pPr algn="ctr"/>
                      <a:r>
                        <a:rPr lang="en-US" sz="2200" dirty="0"/>
                        <a:t>Mark</a:t>
                      </a:r>
                      <a:r>
                        <a:rPr lang="en-US" sz="2200" baseline="0" dirty="0"/>
                        <a:t> to Pass</a:t>
                      </a:r>
                      <a:endParaRPr lang="en-US" sz="2200" dirty="0"/>
                    </a:p>
                  </a:txBody>
                  <a:tcPr anchor="ctr"/>
                </a:tc>
                <a:extLst>
                  <a:ext uri="{0D108BD9-81ED-4DB2-BD59-A6C34878D82A}">
                    <a16:rowId xmlns:a16="http://schemas.microsoft.com/office/drawing/2014/main" val="10000"/>
                  </a:ext>
                </a:extLst>
              </a:tr>
              <a:tr h="528953">
                <a:tc>
                  <a:txBody>
                    <a:bodyPr/>
                    <a:lstStyle/>
                    <a:p>
                      <a:pPr algn="ctr"/>
                      <a:r>
                        <a:rPr lang="en-US" sz="2200" dirty="0" smtClean="0"/>
                        <a:t>Class Participation and Preparation</a:t>
                      </a:r>
                      <a:endParaRPr lang="en-US" sz="2200" dirty="0"/>
                    </a:p>
                  </a:txBody>
                  <a:tcPr anchor="ctr"/>
                </a:tc>
                <a:tc>
                  <a:txBody>
                    <a:bodyPr/>
                    <a:lstStyle/>
                    <a:p>
                      <a:pPr algn="ctr"/>
                      <a:r>
                        <a:rPr lang="en-US" sz="2200" dirty="0"/>
                        <a:t>10</a:t>
                      </a:r>
                    </a:p>
                  </a:txBody>
                  <a:tcPr anchor="ctr"/>
                </a:tc>
                <a:tc>
                  <a:txBody>
                    <a:bodyPr/>
                    <a:lstStyle/>
                    <a:p>
                      <a:pPr algn="ctr"/>
                      <a:r>
                        <a:rPr lang="en-US" sz="2200"/>
                        <a:t>&gt; 0</a:t>
                      </a:r>
                      <a:endParaRPr lang="en-US" sz="2200" dirty="0"/>
                    </a:p>
                  </a:txBody>
                  <a:tcPr anchor="ctr"/>
                </a:tc>
                <a:extLst>
                  <a:ext uri="{0D108BD9-81ED-4DB2-BD59-A6C34878D82A}">
                    <a16:rowId xmlns:a16="http://schemas.microsoft.com/office/drawing/2014/main" val="10001"/>
                  </a:ext>
                </a:extLst>
              </a:tr>
              <a:tr h="55845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smtClean="0"/>
                        <a:t>Case Study Essay</a:t>
                      </a:r>
                      <a:endParaRPr lang="en-US" sz="2200" dirty="0"/>
                    </a:p>
                  </a:txBody>
                  <a:tcPr anchor="ctr"/>
                </a:tc>
                <a:tc>
                  <a:txBody>
                    <a:bodyPr/>
                    <a:lstStyle/>
                    <a:p>
                      <a:pPr algn="ctr"/>
                      <a:r>
                        <a:rPr lang="en-US" sz="2200" dirty="0" smtClean="0"/>
                        <a:t>15</a:t>
                      </a:r>
                      <a:endParaRPr lang="en-US" sz="2200" dirty="0"/>
                    </a:p>
                  </a:txBody>
                  <a:tcPr anchor="ctr"/>
                </a:tc>
                <a:tc>
                  <a:txBody>
                    <a:bodyPr/>
                    <a:lstStyle/>
                    <a:p>
                      <a:pPr algn="ctr"/>
                      <a:r>
                        <a:rPr lang="en-US" sz="2200" dirty="0"/>
                        <a:t>&gt; 0</a:t>
                      </a:r>
                    </a:p>
                  </a:txBody>
                  <a:tcPr anchor="ctr"/>
                </a:tc>
                <a:extLst>
                  <a:ext uri="{0D108BD9-81ED-4DB2-BD59-A6C34878D82A}">
                    <a16:rowId xmlns:a16="http://schemas.microsoft.com/office/drawing/2014/main" val="4063584277"/>
                  </a:ext>
                </a:extLst>
              </a:tr>
              <a:tr h="582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smtClean="0"/>
                        <a:t>Crisis Group Project</a:t>
                      </a:r>
                    </a:p>
                  </a:txBody>
                  <a:tcPr anchor="ctr"/>
                </a:tc>
                <a:tc>
                  <a:txBody>
                    <a:bodyPr/>
                    <a:lstStyle/>
                    <a:p>
                      <a:pPr algn="ctr"/>
                      <a:r>
                        <a:rPr lang="en-US" sz="2200" smtClean="0"/>
                        <a:t>25</a:t>
                      </a:r>
                      <a:endParaRPr lang="en-US" sz="2200" dirty="0"/>
                    </a:p>
                  </a:txBody>
                  <a:tcPr anchor="ctr"/>
                </a:tc>
                <a:tc>
                  <a:txBody>
                    <a:bodyPr/>
                    <a:lstStyle/>
                    <a:p>
                      <a:pPr algn="ctr"/>
                      <a:r>
                        <a:rPr lang="en-US" sz="2200"/>
                        <a:t>&gt; 0</a:t>
                      </a:r>
                      <a:endParaRPr lang="en-US" sz="2200" dirty="0"/>
                    </a:p>
                  </a:txBody>
                  <a:tcPr anchor="ctr"/>
                </a:tc>
                <a:extLst>
                  <a:ext uri="{0D108BD9-81ED-4DB2-BD59-A6C34878D82A}">
                    <a16:rowId xmlns:a16="http://schemas.microsoft.com/office/drawing/2014/main" val="3662803926"/>
                  </a:ext>
                </a:extLst>
              </a:tr>
              <a:tr h="558456">
                <a:tc>
                  <a:txBody>
                    <a:bodyPr/>
                    <a:lstStyle/>
                    <a:p>
                      <a:pPr algn="ctr"/>
                      <a:r>
                        <a:rPr lang="en-US" sz="2200" dirty="0" smtClean="0"/>
                        <a:t>Simulated Media Conference</a:t>
                      </a:r>
                      <a:endParaRPr lang="en-US" sz="2200" dirty="0"/>
                    </a:p>
                  </a:txBody>
                  <a:tcPr anchor="ctr"/>
                </a:tc>
                <a:tc>
                  <a:txBody>
                    <a:bodyPr/>
                    <a:lstStyle/>
                    <a:p>
                      <a:pPr algn="ctr"/>
                      <a:r>
                        <a:rPr lang="en-US" sz="2200" dirty="0"/>
                        <a:t>20</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200" dirty="0"/>
                        <a:t>&gt; 0</a:t>
                      </a:r>
                    </a:p>
                  </a:txBody>
                  <a:tcPr anchor="ctr"/>
                </a:tc>
                <a:extLst>
                  <a:ext uri="{0D108BD9-81ED-4DB2-BD59-A6C34878D82A}">
                    <a16:rowId xmlns:a16="http://schemas.microsoft.com/office/drawing/2014/main" val="10002"/>
                  </a:ext>
                </a:extLst>
              </a:tr>
              <a:tr h="627938">
                <a:tc>
                  <a:txBody>
                    <a:bodyPr/>
                    <a:lstStyle/>
                    <a:p>
                      <a:pPr algn="ctr"/>
                      <a:r>
                        <a:rPr lang="en-US" sz="2200" smtClean="0"/>
                        <a:t>Final Exam</a:t>
                      </a:r>
                      <a:endParaRPr lang="en-US" sz="2200" dirty="0"/>
                    </a:p>
                  </a:txBody>
                  <a:tcPr anchor="ctr"/>
                </a:tc>
                <a:tc>
                  <a:txBody>
                    <a:bodyPr/>
                    <a:lstStyle/>
                    <a:p>
                      <a:pPr algn="ctr"/>
                      <a:r>
                        <a:rPr lang="en-US" sz="2200" smtClean="0"/>
                        <a:t>30</a:t>
                      </a:r>
                      <a:endParaRPr lang="en-US" sz="2200"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200" dirty="0" smtClean="0"/>
                        <a:t>4</a:t>
                      </a:r>
                      <a:endParaRPr lang="en-US" sz="2200" dirty="0"/>
                    </a:p>
                  </a:txBody>
                  <a:tcPr anchor="ctr"/>
                </a:tc>
                <a:extLst>
                  <a:ext uri="{0D108BD9-81ED-4DB2-BD59-A6C34878D82A}">
                    <a16:rowId xmlns:a16="http://schemas.microsoft.com/office/drawing/2014/main" val="10003"/>
                  </a:ext>
                </a:extLst>
              </a:tr>
            </a:tbl>
          </a:graphicData>
        </a:graphic>
      </p:graphicFrame>
      <p:sp>
        <p:nvSpPr>
          <p:cNvPr id="8" name="TextBox 7">
            <a:extLst>
              <a:ext uri="{FF2B5EF4-FFF2-40B4-BE49-F238E27FC236}">
                <a16:creationId xmlns:a16="http://schemas.microsoft.com/office/drawing/2014/main" id="{A60EB082-771E-488A-9588-563D8234A3AA}"/>
              </a:ext>
            </a:extLst>
          </p:cNvPr>
          <p:cNvSpPr txBox="1"/>
          <p:nvPr/>
        </p:nvSpPr>
        <p:spPr>
          <a:xfrm>
            <a:off x="3081599" y="5563646"/>
            <a:ext cx="5605130" cy="523220"/>
          </a:xfrm>
          <a:prstGeom prst="rect">
            <a:avLst/>
          </a:prstGeom>
          <a:noFill/>
        </p:spPr>
        <p:txBody>
          <a:bodyPr wrap="square" rtlCol="0">
            <a:spAutoFit/>
          </a:bodyPr>
          <a:lstStyle/>
          <a:p>
            <a:pPr algn="ctr"/>
            <a:r>
              <a:rPr lang="en-US" sz="2800" dirty="0"/>
              <a:t>Min Average Mark to Pass:</a:t>
            </a:r>
            <a:r>
              <a:rPr lang="en-US" sz="2800" b="1" dirty="0"/>
              <a:t> 5</a:t>
            </a:r>
          </a:p>
        </p:txBody>
      </p:sp>
    </p:spTree>
    <p:extLst>
      <p:ext uri="{BB962C8B-B14F-4D97-AF65-F5344CB8AC3E}">
        <p14:creationId xmlns:p14="http://schemas.microsoft.com/office/powerpoint/2010/main" val="35187733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036339"/>
            <a:ext cx="7772400" cy="1463040"/>
          </a:xfrm>
        </p:spPr>
        <p:txBody>
          <a:bodyPr>
            <a:normAutofit fontScale="90000"/>
          </a:bodyPr>
          <a:lstStyle/>
          <a:p>
            <a:r>
              <a:rPr lang="en-US" dirty="0" smtClean="0"/>
              <a:t>A </a:t>
            </a:r>
            <a:r>
              <a:rPr lang="en-US" dirty="0"/>
              <a:t>Need for More Crisis Management Knowledge</a:t>
            </a:r>
            <a:endParaRPr lang="vi-VN" dirty="0"/>
          </a:p>
        </p:txBody>
      </p:sp>
      <p:sp>
        <p:nvSpPr>
          <p:cNvPr id="3" name="Subtitle 2"/>
          <p:cNvSpPr>
            <a:spLocks noGrp="1"/>
          </p:cNvSpPr>
          <p:nvPr>
            <p:ph type="subTitle" idx="1"/>
          </p:nvPr>
        </p:nvSpPr>
        <p:spPr/>
        <p:txBody>
          <a:bodyPr>
            <a:normAutofit/>
          </a:bodyPr>
          <a:lstStyle/>
          <a:p>
            <a:r>
              <a:rPr lang="en-US" sz="4000" b="1" dirty="0" smtClean="0"/>
              <a:t>CHAPTER </a:t>
            </a:r>
            <a:r>
              <a:rPr lang="en-US" sz="4000" b="1" dirty="0"/>
              <a:t>1</a:t>
            </a:r>
            <a:endParaRPr lang="vi-VN" sz="4000" b="1"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2679" y="0"/>
            <a:ext cx="2846692" cy="1329492"/>
          </a:xfrm>
          <a:prstGeom prst="rect">
            <a:avLst/>
          </a:prstGeom>
        </p:spPr>
      </p:pic>
    </p:spTree>
    <p:extLst>
      <p:ext uri="{BB962C8B-B14F-4D97-AF65-F5344CB8AC3E}">
        <p14:creationId xmlns:p14="http://schemas.microsoft.com/office/powerpoint/2010/main" val="27540417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 content</a:t>
            </a:r>
            <a:endParaRPr lang="vi-VN" dirty="0"/>
          </a:p>
        </p:txBody>
      </p:sp>
      <p:sp>
        <p:nvSpPr>
          <p:cNvPr id="3" name="Content Placeholder 2"/>
          <p:cNvSpPr>
            <a:spLocks noGrp="1"/>
          </p:cNvSpPr>
          <p:nvPr>
            <p:ph idx="1"/>
          </p:nvPr>
        </p:nvSpPr>
        <p:spPr>
          <a:xfrm>
            <a:off x="1024128" y="2084832"/>
            <a:ext cx="9720071" cy="3331029"/>
          </a:xfrm>
        </p:spPr>
        <p:txBody>
          <a:bodyPr>
            <a:normAutofit/>
          </a:bodyPr>
          <a:lstStyle/>
          <a:p>
            <a:pPr>
              <a:buFont typeface="Wingdings" panose="05000000000000000000" pitchFamily="2" charset="2"/>
              <a:buChar char="q"/>
            </a:pPr>
            <a:r>
              <a:rPr lang="en-US" sz="2800" dirty="0" smtClean="0"/>
              <a:t> Crisis </a:t>
            </a:r>
            <a:r>
              <a:rPr lang="en-US" sz="2800" dirty="0"/>
              <a:t>Management Defined</a:t>
            </a:r>
          </a:p>
          <a:p>
            <a:pPr>
              <a:buFont typeface="Wingdings" panose="05000000000000000000" pitchFamily="2" charset="2"/>
              <a:buChar char="q"/>
            </a:pPr>
            <a:r>
              <a:rPr lang="en-US" sz="2800" dirty="0" smtClean="0"/>
              <a:t> The </a:t>
            </a:r>
            <a:r>
              <a:rPr lang="en-US" sz="2800" dirty="0"/>
              <a:t>Initial Crisis Management </a:t>
            </a:r>
            <a:r>
              <a:rPr lang="en-US" sz="2800" dirty="0" smtClean="0"/>
              <a:t>Framework</a:t>
            </a:r>
            <a:endParaRPr lang="en-US" sz="2800" dirty="0"/>
          </a:p>
          <a:p>
            <a:pPr>
              <a:buFont typeface="Wingdings" panose="05000000000000000000" pitchFamily="2" charset="2"/>
              <a:buChar char="q"/>
            </a:pPr>
            <a:r>
              <a:rPr lang="en-US" sz="2800" dirty="0" smtClean="0"/>
              <a:t> Outline </a:t>
            </a:r>
            <a:r>
              <a:rPr lang="en-US" sz="2800" dirty="0"/>
              <a:t>of the Three-Stage </a:t>
            </a:r>
            <a:r>
              <a:rPr lang="en-US" sz="2800" dirty="0" smtClean="0"/>
              <a:t>Approach</a:t>
            </a:r>
            <a:endParaRPr lang="en-US" sz="2800" dirty="0"/>
          </a:p>
          <a:p>
            <a:pPr>
              <a:buFont typeface="Wingdings" panose="05000000000000000000" pitchFamily="2" charset="2"/>
              <a:buChar char="q"/>
            </a:pPr>
            <a:r>
              <a:rPr lang="en-US" sz="2800" dirty="0" smtClean="0"/>
              <a:t> Importance </a:t>
            </a:r>
            <a:r>
              <a:rPr lang="en-US" sz="2800" dirty="0"/>
              <a:t>of Crisis Management</a:t>
            </a:r>
          </a:p>
          <a:p>
            <a:pPr>
              <a:buFont typeface="Wingdings" panose="05000000000000000000" pitchFamily="2" charset="2"/>
              <a:buChar char="q"/>
            </a:pPr>
            <a:r>
              <a:rPr lang="en-US" sz="2800" dirty="0" smtClean="0"/>
              <a:t> Crisis </a:t>
            </a:r>
            <a:r>
              <a:rPr lang="en-US" sz="2800" dirty="0"/>
              <a:t>Leadership: An Overlooked Resource</a:t>
            </a:r>
          </a:p>
        </p:txBody>
      </p:sp>
    </p:spTree>
    <p:extLst>
      <p:ext uri="{BB962C8B-B14F-4D97-AF65-F5344CB8AC3E}">
        <p14:creationId xmlns:p14="http://schemas.microsoft.com/office/powerpoint/2010/main" val="20610749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Outcome</a:t>
            </a:r>
            <a:endParaRPr lang="vi-VN"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sz="2800" dirty="0" smtClean="0"/>
              <a:t> LO1</a:t>
            </a:r>
            <a:r>
              <a:rPr lang="en-US" sz="2800" dirty="0"/>
              <a:t>: Identify </a:t>
            </a:r>
            <a:r>
              <a:rPr lang="en-US" sz="2800" dirty="0" err="1"/>
              <a:t>organisational</a:t>
            </a:r>
            <a:r>
              <a:rPr lang="en-US" sz="2800" dirty="0"/>
              <a:t>, industrial and environmental challenges and </a:t>
            </a:r>
            <a:r>
              <a:rPr lang="en-US" sz="2800" dirty="0" smtClean="0"/>
              <a:t>disasters</a:t>
            </a:r>
          </a:p>
          <a:p>
            <a:pPr>
              <a:buFont typeface="Wingdings" panose="05000000000000000000" pitchFamily="2" charset="2"/>
              <a:buChar char="q"/>
            </a:pPr>
            <a:r>
              <a:rPr lang="en-US" sz="2800" dirty="0"/>
              <a:t> </a:t>
            </a:r>
            <a:r>
              <a:rPr lang="en-US" sz="2800" dirty="0" smtClean="0"/>
              <a:t>LO5: </a:t>
            </a:r>
            <a:r>
              <a:rPr lang="en-US" sz="2800" dirty="0"/>
              <a:t>Develop a critical attitude towards crisis communications management</a:t>
            </a:r>
            <a:endParaRPr lang="vi-VN" sz="2800" dirty="0"/>
          </a:p>
        </p:txBody>
      </p:sp>
    </p:spTree>
    <p:extLst>
      <p:ext uri="{BB962C8B-B14F-4D97-AF65-F5344CB8AC3E}">
        <p14:creationId xmlns:p14="http://schemas.microsoft.com/office/powerpoint/2010/main" val="31020542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CRISIS MANAGEMENT </a:t>
            </a:r>
            <a:r>
              <a:rPr lang="en-US" dirty="0"/>
              <a:t>DEFINED</a:t>
            </a:r>
            <a:endParaRPr lang="vi-VN" dirty="0"/>
          </a:p>
        </p:txBody>
      </p:sp>
      <p:pic>
        <p:nvPicPr>
          <p:cNvPr id="5" name="image5.jpeg"/>
          <p:cNvPicPr>
            <a:picLocks noGrp="1"/>
          </p:cNvPicPr>
          <p:nvPr>
            <p:ph idx="1"/>
          </p:nvPr>
        </p:nvPicPr>
        <p:blipFill>
          <a:blip r:embed="rId3" cstate="print"/>
          <a:stretch>
            <a:fillRect/>
          </a:stretch>
        </p:blipFill>
        <p:spPr>
          <a:xfrm>
            <a:off x="3532972" y="3093592"/>
            <a:ext cx="5581650" cy="2495550"/>
          </a:xfrm>
          <a:prstGeom prst="rect">
            <a:avLst/>
          </a:prstGeom>
        </p:spPr>
      </p:pic>
      <p:sp>
        <p:nvSpPr>
          <p:cNvPr id="6" name="Rectangle 5"/>
          <p:cNvSpPr/>
          <p:nvPr/>
        </p:nvSpPr>
        <p:spPr>
          <a:xfrm>
            <a:off x="3532972" y="5726915"/>
            <a:ext cx="5852160" cy="369332"/>
          </a:xfrm>
          <a:prstGeom prst="rect">
            <a:avLst/>
          </a:prstGeom>
        </p:spPr>
        <p:txBody>
          <a:bodyPr wrap="square">
            <a:spAutoFit/>
          </a:bodyPr>
          <a:lstStyle/>
          <a:p>
            <a:pPr marL="34290" marR="0" algn="ctr">
              <a:spcBef>
                <a:spcPts val="0"/>
              </a:spcBef>
              <a:spcAft>
                <a:spcPts val="0"/>
              </a:spcAft>
            </a:pPr>
            <a:r>
              <a:rPr lang="en-US" dirty="0">
                <a:latin typeface="Times New Roman" panose="02020603050405020304" pitchFamily="18" charset="0"/>
                <a:ea typeface="Times New Roman" panose="02020603050405020304" pitchFamily="18" charset="0"/>
              </a:rPr>
              <a:t>Figure 1.1 Types of Crises</a:t>
            </a:r>
            <a:endParaRPr lang="vi-VN" sz="1400" dirty="0">
              <a:effectLst/>
              <a:latin typeface="Times New Roman" panose="02020603050405020304" pitchFamily="18" charset="0"/>
              <a:ea typeface="Times New Roman" panose="02020603050405020304" pitchFamily="18" charset="0"/>
            </a:endParaRPr>
          </a:p>
        </p:txBody>
      </p:sp>
      <p:sp>
        <p:nvSpPr>
          <p:cNvPr id="7" name="Content Placeholder 2"/>
          <p:cNvSpPr txBox="1">
            <a:spLocks/>
          </p:cNvSpPr>
          <p:nvPr/>
        </p:nvSpPr>
        <p:spPr>
          <a:xfrm>
            <a:off x="712746" y="2128837"/>
            <a:ext cx="11222103" cy="341630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sz="2800" b="1" dirty="0" smtClean="0"/>
              <a:t>Crisis:</a:t>
            </a:r>
            <a:r>
              <a:rPr lang="en-US" sz="2800" dirty="0" smtClean="0"/>
              <a:t> some </a:t>
            </a:r>
            <a:r>
              <a:rPr lang="en-US" sz="2800" dirty="0"/>
              <a:t>breakdown in a system that creates shared stress (Perry, 2007). </a:t>
            </a:r>
            <a:endParaRPr lang="vi-VN" sz="2800" dirty="0"/>
          </a:p>
        </p:txBody>
      </p:sp>
    </p:spTree>
    <p:extLst>
      <p:ext uri="{BB962C8B-B14F-4D97-AF65-F5344CB8AC3E}">
        <p14:creationId xmlns:p14="http://schemas.microsoft.com/office/powerpoint/2010/main" val="18926032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CRISIS </a:t>
            </a:r>
            <a:r>
              <a:rPr lang="en-US" dirty="0"/>
              <a:t>MANAGEMENT DEFINED</a:t>
            </a:r>
            <a:endParaRPr lang="vi-VN" dirty="0"/>
          </a:p>
        </p:txBody>
      </p:sp>
      <p:sp>
        <p:nvSpPr>
          <p:cNvPr id="3" name="Content Placeholder 2"/>
          <p:cNvSpPr>
            <a:spLocks noGrp="1"/>
          </p:cNvSpPr>
          <p:nvPr>
            <p:ph idx="1"/>
          </p:nvPr>
        </p:nvSpPr>
        <p:spPr>
          <a:xfrm>
            <a:off x="752183" y="2194701"/>
            <a:ext cx="5772971" cy="3416300"/>
          </a:xfrm>
        </p:spPr>
        <p:txBody>
          <a:bodyPr>
            <a:normAutofit fontScale="92500" lnSpcReduction="10000"/>
          </a:bodyPr>
          <a:lstStyle/>
          <a:p>
            <a:r>
              <a:rPr lang="en-US" sz="2800" b="1" dirty="0" smtClean="0"/>
              <a:t>Disasters:</a:t>
            </a:r>
            <a:r>
              <a:rPr lang="en-US" sz="2800" dirty="0" smtClean="0"/>
              <a:t> </a:t>
            </a:r>
          </a:p>
          <a:p>
            <a:pPr>
              <a:buFont typeface="Wingdings" panose="05000000000000000000" pitchFamily="2" charset="2"/>
              <a:buChar char="Ø"/>
            </a:pPr>
            <a:r>
              <a:rPr lang="en-US" sz="2800" dirty="0"/>
              <a:t> </a:t>
            </a:r>
            <a:r>
              <a:rPr lang="en-US" sz="2800" dirty="0" smtClean="0"/>
              <a:t>sudden events </a:t>
            </a:r>
          </a:p>
          <a:p>
            <a:pPr>
              <a:buFont typeface="Wingdings" panose="05000000000000000000" pitchFamily="2" charset="2"/>
              <a:buChar char="Ø"/>
            </a:pPr>
            <a:r>
              <a:rPr lang="en-US" sz="2800" dirty="0" smtClean="0"/>
              <a:t> seriously </a:t>
            </a:r>
            <a:r>
              <a:rPr lang="en-US" sz="2800" dirty="0"/>
              <a:t>disrupt routines of </a:t>
            </a:r>
            <a:r>
              <a:rPr lang="en-US" sz="2800" dirty="0" smtClean="0"/>
              <a:t>systems</a:t>
            </a:r>
          </a:p>
          <a:p>
            <a:pPr>
              <a:buFont typeface="Wingdings" panose="05000000000000000000" pitchFamily="2" charset="2"/>
              <a:buChar char="Ø"/>
            </a:pPr>
            <a:r>
              <a:rPr lang="en-US" sz="2800" dirty="0"/>
              <a:t> </a:t>
            </a:r>
            <a:r>
              <a:rPr lang="en-US" sz="2800" dirty="0" smtClean="0"/>
              <a:t>require </a:t>
            </a:r>
            <a:r>
              <a:rPr lang="en-US" sz="2800" dirty="0"/>
              <a:t>new courses of action to cope with the </a:t>
            </a:r>
            <a:r>
              <a:rPr lang="en-US" sz="2800" dirty="0" smtClean="0"/>
              <a:t>disruption</a:t>
            </a:r>
          </a:p>
          <a:p>
            <a:pPr>
              <a:buFont typeface="Wingdings" panose="05000000000000000000" pitchFamily="2" charset="2"/>
              <a:buChar char="Ø"/>
            </a:pPr>
            <a:r>
              <a:rPr lang="en-US" sz="2800" dirty="0"/>
              <a:t> </a:t>
            </a:r>
            <a:r>
              <a:rPr lang="en-US" sz="2800" dirty="0" smtClean="0"/>
              <a:t>pose </a:t>
            </a:r>
            <a:r>
              <a:rPr lang="en-US" sz="2800" dirty="0"/>
              <a:t>a danger to values and social goals </a:t>
            </a:r>
          </a:p>
          <a:p>
            <a:pPr marL="0" indent="0">
              <a:buNone/>
            </a:pPr>
            <a:r>
              <a:rPr lang="vi-VN" sz="2800" i="1" dirty="0" smtClean="0">
                <a:latin typeface="Calibri" panose="020F0502020204030204" pitchFamily="34" charset="0"/>
                <a:cs typeface="Calibri" panose="020F0502020204030204" pitchFamily="34" charset="0"/>
              </a:rPr>
              <a:t>(Quarantelli, 2005)</a:t>
            </a:r>
            <a:endParaRPr lang="vi-VN" sz="2800" i="1" dirty="0">
              <a:latin typeface="Calibri" panose="020F0502020204030204" pitchFamily="34" charset="0"/>
              <a:cs typeface="Calibri" panose="020F0502020204030204" pitchFamily="34" charset="0"/>
            </a:endParaRPr>
          </a:p>
        </p:txBody>
      </p:sp>
      <p:sp>
        <p:nvSpPr>
          <p:cNvPr id="8" name="Content Placeholder 2"/>
          <p:cNvSpPr txBox="1">
            <a:spLocks/>
          </p:cNvSpPr>
          <p:nvPr/>
        </p:nvSpPr>
        <p:spPr>
          <a:xfrm>
            <a:off x="6935266" y="2084832"/>
            <a:ext cx="5772971" cy="341630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sz="2600" dirty="0" smtClean="0"/>
              <a:t> </a:t>
            </a:r>
          </a:p>
          <a:p>
            <a:pPr>
              <a:buFont typeface="Wingdings" panose="05000000000000000000" pitchFamily="2" charset="2"/>
              <a:buChar char="Ø"/>
            </a:pPr>
            <a:r>
              <a:rPr lang="en-US" sz="2600" dirty="0"/>
              <a:t> large </a:t>
            </a:r>
            <a:r>
              <a:rPr lang="en-US" sz="2600" dirty="0" smtClean="0"/>
              <a:t>in scale</a:t>
            </a:r>
          </a:p>
          <a:p>
            <a:pPr>
              <a:buFont typeface="Wingdings" panose="05000000000000000000" pitchFamily="2" charset="2"/>
              <a:buChar char="Ø"/>
            </a:pPr>
            <a:r>
              <a:rPr lang="en-US" sz="2600" dirty="0"/>
              <a:t> </a:t>
            </a:r>
            <a:r>
              <a:rPr lang="en-US" sz="2600" dirty="0" smtClean="0"/>
              <a:t>require </a:t>
            </a:r>
            <a:r>
              <a:rPr lang="en-US" sz="2600" dirty="0"/>
              <a:t>response from multiple governmental </a:t>
            </a:r>
            <a:r>
              <a:rPr lang="en-US" sz="2600" dirty="0" smtClean="0"/>
              <a:t>units</a:t>
            </a:r>
          </a:p>
          <a:p>
            <a:pPr>
              <a:buFont typeface="Wingdings" panose="05000000000000000000" pitchFamily="2" charset="2"/>
              <a:buChar char="Ø"/>
            </a:pPr>
            <a:r>
              <a:rPr lang="en-US" sz="2600" dirty="0"/>
              <a:t> </a:t>
            </a:r>
            <a:r>
              <a:rPr lang="en-US" sz="2600" dirty="0" smtClean="0"/>
              <a:t>can </a:t>
            </a:r>
            <a:r>
              <a:rPr lang="en-US" sz="2600" dirty="0"/>
              <a:t>spawn organizational </a:t>
            </a:r>
            <a:r>
              <a:rPr lang="en-US" sz="2600" dirty="0" smtClean="0"/>
              <a:t>crises</a:t>
            </a:r>
          </a:p>
        </p:txBody>
      </p:sp>
    </p:spTree>
    <p:extLst>
      <p:ext uri="{BB962C8B-B14F-4D97-AF65-F5344CB8AC3E}">
        <p14:creationId xmlns:p14="http://schemas.microsoft.com/office/powerpoint/2010/main" val="26091887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CRISIS </a:t>
            </a:r>
            <a:r>
              <a:rPr lang="en-US" dirty="0"/>
              <a:t>MANAGEMENT DEFINED</a:t>
            </a:r>
            <a:endParaRPr lang="vi-VN" dirty="0"/>
          </a:p>
        </p:txBody>
      </p:sp>
      <p:sp>
        <p:nvSpPr>
          <p:cNvPr id="3" name="Content Placeholder 2"/>
          <p:cNvSpPr>
            <a:spLocks noGrp="1"/>
          </p:cNvSpPr>
          <p:nvPr>
            <p:ph idx="1"/>
          </p:nvPr>
        </p:nvSpPr>
        <p:spPr>
          <a:xfrm>
            <a:off x="672354" y="2583542"/>
            <a:ext cx="5467189" cy="2639786"/>
          </a:xfrm>
        </p:spPr>
        <p:txBody>
          <a:bodyPr>
            <a:normAutofit/>
          </a:bodyPr>
          <a:lstStyle/>
          <a:p>
            <a:r>
              <a:rPr lang="en-US" sz="2800" b="1" dirty="0"/>
              <a:t>Organizational </a:t>
            </a:r>
            <a:r>
              <a:rPr lang="en-US" sz="2800" b="1" dirty="0" smtClean="0"/>
              <a:t>Crisis:</a:t>
            </a:r>
            <a:r>
              <a:rPr lang="en-US" sz="2800" dirty="0" smtClean="0"/>
              <a:t> </a:t>
            </a:r>
            <a:r>
              <a:rPr lang="en-US" sz="2800" dirty="0"/>
              <a:t>the </a:t>
            </a:r>
            <a:r>
              <a:rPr lang="en-US" sz="2800" dirty="0" smtClean="0"/>
              <a:t>perceived violation </a:t>
            </a:r>
            <a:r>
              <a:rPr lang="en-US" sz="2800" dirty="0"/>
              <a:t>of salience </a:t>
            </a:r>
            <a:r>
              <a:rPr lang="en-US" sz="2800" dirty="0" smtClean="0"/>
              <a:t>stakeholder expectations </a:t>
            </a:r>
            <a:r>
              <a:rPr lang="en-US" sz="2800" dirty="0"/>
              <a:t>that can create </a:t>
            </a:r>
            <a:r>
              <a:rPr lang="en-US" sz="2800" dirty="0" smtClean="0"/>
              <a:t>negative outcomes for stakeholders </a:t>
            </a:r>
            <a:r>
              <a:rPr lang="en-US" sz="2800" dirty="0"/>
              <a:t>and/or the organization.</a:t>
            </a:r>
            <a:endParaRPr lang="vi-VN" sz="2800" dirty="0"/>
          </a:p>
        </p:txBody>
      </p:sp>
      <p:pic>
        <p:nvPicPr>
          <p:cNvPr id="6" name="Picture 5">
            <a:extLst>
              <a:ext uri="{FF2B5EF4-FFF2-40B4-BE49-F238E27FC236}">
                <a16:creationId xmlns:a16="http://schemas.microsoft.com/office/drawing/2014/main" id="{1A81ABAA-8532-3C43-B282-27A281B63A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2316" y="2084832"/>
            <a:ext cx="5039480" cy="3416459"/>
          </a:xfrm>
          <a:prstGeom prst="rect">
            <a:avLst/>
          </a:prstGeom>
        </p:spPr>
      </p:pic>
      <p:sp>
        <p:nvSpPr>
          <p:cNvPr id="7" name="TextBox 6">
            <a:extLst>
              <a:ext uri="{FF2B5EF4-FFF2-40B4-BE49-F238E27FC236}">
                <a16:creationId xmlns:a16="http://schemas.microsoft.com/office/drawing/2014/main" id="{DBE2D027-9EC0-5249-B905-F312FB2752C6}"/>
              </a:ext>
            </a:extLst>
          </p:cNvPr>
          <p:cNvSpPr txBox="1"/>
          <p:nvPr/>
        </p:nvSpPr>
        <p:spPr>
          <a:xfrm>
            <a:off x="6790136" y="5617605"/>
            <a:ext cx="4543839" cy="600164"/>
          </a:xfrm>
          <a:prstGeom prst="rect">
            <a:avLst/>
          </a:prstGeom>
          <a:noFill/>
        </p:spPr>
        <p:txBody>
          <a:bodyPr wrap="square" rtlCol="0">
            <a:spAutoFit/>
          </a:bodyPr>
          <a:lstStyle/>
          <a:p>
            <a:pPr algn="ctr"/>
            <a:r>
              <a:rPr lang="en-US" i="1" dirty="0" smtClean="0"/>
              <a:t>H&amp;M’s crisis in Vietnam (2021)</a:t>
            </a:r>
          </a:p>
          <a:p>
            <a:pPr algn="ctr"/>
            <a:r>
              <a:rPr lang="en-US" sz="1500" i="1" dirty="0" smtClean="0"/>
              <a:t>Source: thanhnien.vn</a:t>
            </a:r>
            <a:endParaRPr lang="en-VN" sz="1500" i="1" dirty="0"/>
          </a:p>
        </p:txBody>
      </p:sp>
    </p:spTree>
    <p:extLst>
      <p:ext uri="{BB962C8B-B14F-4D97-AF65-F5344CB8AC3E}">
        <p14:creationId xmlns:p14="http://schemas.microsoft.com/office/powerpoint/2010/main" val="29591772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CRISIS </a:t>
            </a:r>
            <a:r>
              <a:rPr lang="en-US" dirty="0"/>
              <a:t>MANAGEMENT DEFINED</a:t>
            </a:r>
            <a:endParaRPr lang="vi-VN" dirty="0"/>
          </a:p>
        </p:txBody>
      </p:sp>
      <p:sp>
        <p:nvSpPr>
          <p:cNvPr id="3" name="Content Placeholder 2"/>
          <p:cNvSpPr>
            <a:spLocks noGrp="1"/>
          </p:cNvSpPr>
          <p:nvPr>
            <p:ph idx="1"/>
          </p:nvPr>
        </p:nvSpPr>
        <p:spPr>
          <a:xfrm>
            <a:off x="752183" y="2194701"/>
            <a:ext cx="10786674" cy="3748899"/>
          </a:xfrm>
        </p:spPr>
        <p:txBody>
          <a:bodyPr>
            <a:normAutofit/>
          </a:bodyPr>
          <a:lstStyle/>
          <a:p>
            <a:r>
              <a:rPr lang="en-US" sz="2800" b="1" dirty="0"/>
              <a:t>Organizational Crisis</a:t>
            </a:r>
            <a:r>
              <a:rPr lang="en-US" sz="2800" b="1" dirty="0" smtClean="0"/>
              <a:t>:</a:t>
            </a:r>
            <a:r>
              <a:rPr lang="en-US" sz="2800" dirty="0" smtClean="0"/>
              <a:t> </a:t>
            </a:r>
          </a:p>
          <a:p>
            <a:pPr>
              <a:buFont typeface="Wingdings" panose="05000000000000000000" pitchFamily="2" charset="2"/>
              <a:buChar char="Ø"/>
            </a:pPr>
            <a:r>
              <a:rPr lang="en-US" sz="2800" dirty="0"/>
              <a:t> </a:t>
            </a:r>
            <a:r>
              <a:rPr lang="en-US" sz="2800" i="1" dirty="0" smtClean="0"/>
              <a:t>Perceptual</a:t>
            </a:r>
            <a:r>
              <a:rPr lang="en-US" sz="2800" dirty="0"/>
              <a:t>: perceptions </a:t>
            </a:r>
            <a:r>
              <a:rPr lang="en-US" sz="2800" dirty="0" smtClean="0"/>
              <a:t>of stakeholders help </a:t>
            </a:r>
            <a:r>
              <a:rPr lang="en-US" sz="2800" dirty="0"/>
              <a:t>to define an event as a </a:t>
            </a:r>
            <a:r>
              <a:rPr lang="en-US" sz="2800" dirty="0" smtClean="0"/>
              <a:t>crisis</a:t>
            </a:r>
          </a:p>
          <a:p>
            <a:pPr>
              <a:buFont typeface="Wingdings" panose="05000000000000000000" pitchFamily="2" charset="2"/>
              <a:buChar char="Ø"/>
            </a:pPr>
            <a:r>
              <a:rPr lang="en-US" sz="2800" i="1" dirty="0" smtClean="0"/>
              <a:t>Unpredictable</a:t>
            </a:r>
            <a:r>
              <a:rPr lang="en-US" sz="2800" dirty="0" smtClean="0"/>
              <a:t> </a:t>
            </a:r>
            <a:r>
              <a:rPr lang="en-US" sz="2800" dirty="0"/>
              <a:t>but </a:t>
            </a:r>
            <a:r>
              <a:rPr lang="en-US" sz="2800" i="1" dirty="0"/>
              <a:t>not </a:t>
            </a:r>
            <a:r>
              <a:rPr lang="en-US" sz="2800" i="1" dirty="0" smtClean="0"/>
              <a:t>unexpected</a:t>
            </a:r>
          </a:p>
        </p:txBody>
      </p:sp>
    </p:spTree>
    <p:extLst>
      <p:ext uri="{BB962C8B-B14F-4D97-AF65-F5344CB8AC3E}">
        <p14:creationId xmlns:p14="http://schemas.microsoft.com/office/powerpoint/2010/main" val="6459828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CRISIS </a:t>
            </a:r>
            <a:r>
              <a:rPr lang="en-US" dirty="0"/>
              <a:t>MANAGEMENT DEFINED</a:t>
            </a:r>
            <a:endParaRPr lang="vi-VN" dirty="0"/>
          </a:p>
        </p:txBody>
      </p:sp>
      <p:sp>
        <p:nvSpPr>
          <p:cNvPr id="3" name="Content Placeholder 2"/>
          <p:cNvSpPr>
            <a:spLocks noGrp="1"/>
          </p:cNvSpPr>
          <p:nvPr>
            <p:ph idx="1"/>
          </p:nvPr>
        </p:nvSpPr>
        <p:spPr>
          <a:xfrm>
            <a:off x="752183" y="2194701"/>
            <a:ext cx="10786674" cy="3748899"/>
          </a:xfrm>
        </p:spPr>
        <p:txBody>
          <a:bodyPr>
            <a:normAutofit/>
          </a:bodyPr>
          <a:lstStyle/>
          <a:p>
            <a:r>
              <a:rPr lang="en-US" sz="2800" b="1" dirty="0" smtClean="0"/>
              <a:t>Organizational Crisis Damage:</a:t>
            </a:r>
            <a:r>
              <a:rPr lang="en-US" sz="2800" dirty="0" smtClean="0"/>
              <a:t> </a:t>
            </a:r>
          </a:p>
          <a:p>
            <a:pPr>
              <a:buFont typeface="Wingdings" panose="05000000000000000000" pitchFamily="2" charset="2"/>
              <a:buChar char="Ø"/>
            </a:pPr>
            <a:r>
              <a:rPr lang="en-US" sz="2800" dirty="0" smtClean="0"/>
              <a:t> Financial loss</a:t>
            </a:r>
          </a:p>
          <a:p>
            <a:pPr>
              <a:buFont typeface="Wingdings" panose="05000000000000000000" pitchFamily="2" charset="2"/>
              <a:buChar char="Ø"/>
            </a:pPr>
            <a:r>
              <a:rPr lang="en-US" sz="2800" dirty="0" smtClean="0"/>
              <a:t> Injuries </a:t>
            </a:r>
            <a:r>
              <a:rPr lang="en-US" sz="2800" dirty="0"/>
              <a:t>or deaths to </a:t>
            </a:r>
            <a:r>
              <a:rPr lang="en-US" sz="2800" dirty="0" smtClean="0"/>
              <a:t>stakeholders</a:t>
            </a:r>
          </a:p>
          <a:p>
            <a:pPr marL="347663" indent="-347663">
              <a:buFont typeface="Wingdings" panose="05000000000000000000" pitchFamily="2" charset="2"/>
              <a:buChar char="Ø"/>
            </a:pPr>
            <a:r>
              <a:rPr lang="en-US" sz="2800" dirty="0" smtClean="0"/>
              <a:t>Structural </a:t>
            </a:r>
            <a:r>
              <a:rPr lang="en-US" sz="2800" dirty="0"/>
              <a:t>or property damage </a:t>
            </a:r>
            <a:r>
              <a:rPr lang="en-US" sz="2800" dirty="0" smtClean="0"/>
              <a:t/>
            </a:r>
            <a:br>
              <a:rPr lang="en-US" sz="2800" dirty="0" smtClean="0"/>
            </a:br>
            <a:r>
              <a:rPr lang="en-US" sz="2800" dirty="0" smtClean="0"/>
              <a:t>(</a:t>
            </a:r>
            <a:r>
              <a:rPr lang="en-US" sz="2800" dirty="0"/>
              <a:t>on and off </a:t>
            </a:r>
            <a:r>
              <a:rPr lang="en-US" sz="2800" dirty="0" smtClean="0"/>
              <a:t>site)</a:t>
            </a:r>
          </a:p>
          <a:p>
            <a:pPr marL="347663" indent="-347663">
              <a:buFont typeface="Wingdings" panose="05000000000000000000" pitchFamily="2" charset="2"/>
              <a:buChar char="Ø"/>
            </a:pPr>
            <a:r>
              <a:rPr lang="en-US" sz="2800" dirty="0"/>
              <a:t>T</a:t>
            </a:r>
            <a:r>
              <a:rPr lang="en-US" sz="2800" dirty="0" smtClean="0"/>
              <a:t>arnishing </a:t>
            </a:r>
            <a:r>
              <a:rPr lang="en-US" sz="2800" dirty="0"/>
              <a:t>of </a:t>
            </a:r>
            <a:r>
              <a:rPr lang="en-US" sz="2800" dirty="0" smtClean="0"/>
              <a:t>a reputation   </a:t>
            </a:r>
          </a:p>
        </p:txBody>
      </p:sp>
      <p:sp>
        <p:nvSpPr>
          <p:cNvPr id="5" name="Content Placeholder 2"/>
          <p:cNvSpPr txBox="1">
            <a:spLocks/>
          </p:cNvSpPr>
          <p:nvPr/>
        </p:nvSpPr>
        <p:spPr>
          <a:xfrm>
            <a:off x="6313714" y="2842400"/>
            <a:ext cx="5388429" cy="2453499"/>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919163" indent="-342900">
              <a:buFont typeface="Wingdings" panose="05000000000000000000" pitchFamily="2" charset="2"/>
              <a:buChar char="Ø"/>
            </a:pPr>
            <a:r>
              <a:rPr lang="en-US" sz="2800" dirty="0" smtClean="0"/>
              <a:t>Damage to a brand</a:t>
            </a:r>
          </a:p>
          <a:p>
            <a:pPr marL="919163" indent="-342900">
              <a:buFont typeface="Wingdings" panose="05000000000000000000" pitchFamily="2" charset="2"/>
              <a:buChar char="Ø"/>
            </a:pPr>
            <a:r>
              <a:rPr lang="en-US" sz="2800" dirty="0"/>
              <a:t>E</a:t>
            </a:r>
            <a:r>
              <a:rPr lang="en-US" sz="2800" dirty="0" smtClean="0"/>
              <a:t>nvironmental harm</a:t>
            </a:r>
          </a:p>
          <a:p>
            <a:pPr marL="919163" indent="-342900">
              <a:buFont typeface="Wingdings" panose="05000000000000000000" pitchFamily="2" charset="2"/>
              <a:buChar char="Ø"/>
            </a:pPr>
            <a:r>
              <a:rPr lang="en-US" sz="2800" dirty="0"/>
              <a:t>A</a:t>
            </a:r>
            <a:r>
              <a:rPr lang="en-US" sz="2800" dirty="0" smtClean="0"/>
              <a:t>n entire industry can be affected by a crisis in one of its member organizations</a:t>
            </a:r>
          </a:p>
        </p:txBody>
      </p:sp>
    </p:spTree>
    <p:extLst>
      <p:ext uri="{BB962C8B-B14F-4D97-AF65-F5344CB8AC3E}">
        <p14:creationId xmlns:p14="http://schemas.microsoft.com/office/powerpoint/2010/main" val="31197815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CRISIS MANAGEMENT DEFINED</a:t>
            </a:r>
            <a:endParaRPr lang="vi-VN" dirty="0"/>
          </a:p>
        </p:txBody>
      </p:sp>
      <p:sp>
        <p:nvSpPr>
          <p:cNvPr id="3" name="Content Placeholder 2"/>
          <p:cNvSpPr>
            <a:spLocks noGrp="1"/>
          </p:cNvSpPr>
          <p:nvPr>
            <p:ph idx="1"/>
          </p:nvPr>
        </p:nvSpPr>
        <p:spPr>
          <a:xfrm>
            <a:off x="5033897" y="2610221"/>
            <a:ext cx="6798874" cy="3115061"/>
          </a:xfrm>
        </p:spPr>
        <p:txBody>
          <a:bodyPr>
            <a:normAutofit/>
          </a:bodyPr>
          <a:lstStyle/>
          <a:p>
            <a:pPr marL="0" indent="0">
              <a:buNone/>
            </a:pPr>
            <a:r>
              <a:rPr lang="en-US" sz="2800" dirty="0"/>
              <a:t>The difference between incidents and crises illustrates the meaning of </a:t>
            </a:r>
            <a:r>
              <a:rPr lang="en-US" sz="2800" b="1" dirty="0"/>
              <a:t>serious </a:t>
            </a:r>
            <a:r>
              <a:rPr lang="en-US" sz="2800" b="1" dirty="0" smtClean="0"/>
              <a:t>impact</a:t>
            </a:r>
            <a:r>
              <a:rPr lang="en-US" sz="2800" dirty="0" smtClean="0"/>
              <a:t>: </a:t>
            </a:r>
            <a:endParaRPr lang="en-US" sz="2800" dirty="0"/>
          </a:p>
          <a:p>
            <a:pPr>
              <a:buFont typeface="Wingdings" panose="05000000000000000000" pitchFamily="2" charset="2"/>
              <a:buChar char="Ø"/>
            </a:pPr>
            <a:r>
              <a:rPr lang="en-US" sz="2800" dirty="0" smtClean="0"/>
              <a:t> </a:t>
            </a:r>
            <a:r>
              <a:rPr lang="en-US" sz="2800" b="1" dirty="0" smtClean="0"/>
              <a:t>Incident</a:t>
            </a:r>
            <a:r>
              <a:rPr lang="en-US" sz="2800" dirty="0" smtClean="0"/>
              <a:t>: </a:t>
            </a:r>
            <a:r>
              <a:rPr lang="en-US" sz="2800" dirty="0"/>
              <a:t>minor, localized </a:t>
            </a:r>
            <a:r>
              <a:rPr lang="en-US" sz="2800" dirty="0" smtClean="0"/>
              <a:t>disruption</a:t>
            </a:r>
            <a:endParaRPr lang="en-US" sz="2800" dirty="0"/>
          </a:p>
          <a:p>
            <a:pPr>
              <a:buFont typeface="Wingdings" panose="05000000000000000000" pitchFamily="2" charset="2"/>
              <a:buChar char="Ø"/>
            </a:pPr>
            <a:r>
              <a:rPr lang="en-US" sz="2800" dirty="0" smtClean="0"/>
              <a:t> </a:t>
            </a:r>
            <a:r>
              <a:rPr lang="en-US" sz="2800" b="1" dirty="0" smtClean="0"/>
              <a:t>Crisis:</a:t>
            </a:r>
            <a:r>
              <a:rPr lang="en-US" sz="2800" dirty="0" smtClean="0"/>
              <a:t> </a:t>
            </a:r>
            <a:r>
              <a:rPr lang="en-US" sz="2800" dirty="0"/>
              <a:t>serious impact, negative or undesirable </a:t>
            </a:r>
            <a:r>
              <a:rPr lang="en-US" sz="2800" dirty="0" smtClean="0"/>
              <a:t>outcomes</a:t>
            </a:r>
            <a:endParaRPr lang="en-US" sz="2800" dirty="0"/>
          </a:p>
        </p:txBody>
      </p:sp>
      <p:pic>
        <p:nvPicPr>
          <p:cNvPr id="9" name="Picture 8">
            <a:extLst>
              <a:ext uri="{FF2B5EF4-FFF2-40B4-BE49-F238E27FC236}">
                <a16:creationId xmlns:a16="http://schemas.microsoft.com/office/drawing/2014/main" id="{D46BD8B4-F3EF-A04F-920E-1923E6D8536D}"/>
              </a:ext>
            </a:extLst>
          </p:cNvPr>
          <p:cNvPicPr>
            <a:picLocks noChangeAspect="1"/>
          </p:cNvPicPr>
          <p:nvPr/>
        </p:nvPicPr>
        <p:blipFill>
          <a:blip r:embed="rId3">
            <a:extLst>
              <a:ext uri="{837473B0-CC2E-450A-ABE3-18F120FF3D39}">
                <a1611:picAttrSrcUrl xmlns="" xmlns:a1611="http://schemas.microsoft.com/office/drawing/2016/11/main" r:id="rId5"/>
              </a:ext>
            </a:extLst>
          </a:blip>
          <a:stretch>
            <a:fillRect/>
          </a:stretch>
        </p:blipFill>
        <p:spPr>
          <a:xfrm>
            <a:off x="846088" y="1953003"/>
            <a:ext cx="3584397" cy="4647212"/>
          </a:xfrm>
          <a:prstGeom prst="rect">
            <a:avLst/>
          </a:prstGeom>
        </p:spPr>
      </p:pic>
    </p:spTree>
    <p:extLst>
      <p:ext uri="{BB962C8B-B14F-4D97-AF65-F5344CB8AC3E}">
        <p14:creationId xmlns:p14="http://schemas.microsoft.com/office/powerpoint/2010/main" val="33419652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CRISIS </a:t>
            </a:r>
            <a:r>
              <a:rPr lang="en-US" dirty="0"/>
              <a:t>MANAGEMENT DEFINED</a:t>
            </a:r>
            <a:endParaRPr lang="vi-VN" dirty="0"/>
          </a:p>
        </p:txBody>
      </p:sp>
      <p:sp>
        <p:nvSpPr>
          <p:cNvPr id="3" name="Content Placeholder 2"/>
          <p:cNvSpPr>
            <a:spLocks noGrp="1"/>
          </p:cNvSpPr>
          <p:nvPr>
            <p:ph idx="1"/>
          </p:nvPr>
        </p:nvSpPr>
        <p:spPr>
          <a:xfrm>
            <a:off x="708640" y="1987872"/>
            <a:ext cx="10786674" cy="3748899"/>
          </a:xfrm>
        </p:spPr>
        <p:txBody>
          <a:bodyPr>
            <a:normAutofit/>
          </a:bodyPr>
          <a:lstStyle/>
          <a:p>
            <a:r>
              <a:rPr lang="en-US" sz="2800" b="1" dirty="0" smtClean="0"/>
              <a:t>Organizational Crisis:</a:t>
            </a:r>
            <a:r>
              <a:rPr lang="en-US" sz="2800" dirty="0" smtClean="0"/>
              <a:t> </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6062" t="32515" r="48160" b="25926"/>
          <a:stretch/>
        </p:blipFill>
        <p:spPr>
          <a:xfrm>
            <a:off x="4613731" y="2324323"/>
            <a:ext cx="6616788" cy="3378785"/>
          </a:xfrm>
          <a:prstGeom prst="rect">
            <a:avLst/>
          </a:prstGeom>
        </p:spPr>
      </p:pic>
    </p:spTree>
    <p:extLst>
      <p:ext uri="{BB962C8B-B14F-4D97-AF65-F5344CB8AC3E}">
        <p14:creationId xmlns:p14="http://schemas.microsoft.com/office/powerpoint/2010/main" val="88746766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CRISIS </a:t>
            </a:r>
            <a:r>
              <a:rPr lang="en-US" dirty="0"/>
              <a:t>MANAGEMENT DEFINED</a:t>
            </a:r>
            <a:endParaRPr lang="vi-VN" dirty="0"/>
          </a:p>
        </p:txBody>
      </p:sp>
      <p:sp>
        <p:nvSpPr>
          <p:cNvPr id="3" name="Content Placeholder 2"/>
          <p:cNvSpPr>
            <a:spLocks noGrp="1"/>
          </p:cNvSpPr>
          <p:nvPr>
            <p:ph idx="1"/>
          </p:nvPr>
        </p:nvSpPr>
        <p:spPr>
          <a:xfrm>
            <a:off x="730412" y="2400518"/>
            <a:ext cx="5855445" cy="3748899"/>
          </a:xfrm>
        </p:spPr>
        <p:txBody>
          <a:bodyPr>
            <a:normAutofit/>
          </a:bodyPr>
          <a:lstStyle/>
          <a:p>
            <a:r>
              <a:rPr lang="en-US" sz="2800" b="1" dirty="0"/>
              <a:t>Operational </a:t>
            </a:r>
            <a:r>
              <a:rPr lang="en-US" sz="2800" b="1" dirty="0" smtClean="0"/>
              <a:t>crises:</a:t>
            </a:r>
            <a:r>
              <a:rPr lang="en-US" sz="2800" dirty="0" smtClean="0"/>
              <a:t> </a:t>
            </a:r>
          </a:p>
          <a:p>
            <a:pPr>
              <a:buFont typeface="Wingdings" panose="05000000000000000000" pitchFamily="2" charset="2"/>
              <a:buChar char="Ø"/>
            </a:pPr>
            <a:r>
              <a:rPr lang="en-US" sz="2800" dirty="0"/>
              <a:t> </a:t>
            </a:r>
            <a:r>
              <a:rPr lang="en-US" sz="2800" dirty="0" smtClean="0"/>
              <a:t>There </a:t>
            </a:r>
            <a:r>
              <a:rPr lang="en-US" sz="2800" dirty="0"/>
              <a:t>is actual </a:t>
            </a:r>
            <a:r>
              <a:rPr lang="en-US" sz="2800" dirty="0" smtClean="0"/>
              <a:t>or potential disruption to </a:t>
            </a:r>
            <a:r>
              <a:rPr lang="en-US" sz="2800" dirty="0"/>
              <a:t>organizational </a:t>
            </a:r>
            <a:r>
              <a:rPr lang="en-US" sz="2800" dirty="0" smtClean="0"/>
              <a:t>operations</a:t>
            </a:r>
          </a:p>
          <a:p>
            <a:pPr>
              <a:buFont typeface="Wingdings" panose="05000000000000000000" pitchFamily="2" charset="2"/>
              <a:buChar char="Ø"/>
            </a:pPr>
            <a:r>
              <a:rPr lang="en-US" sz="2800" dirty="0"/>
              <a:t> </a:t>
            </a:r>
            <a:r>
              <a:rPr lang="en-US" sz="2800" dirty="0" smtClean="0"/>
              <a:t>Crisis </a:t>
            </a:r>
            <a:r>
              <a:rPr lang="en-US" sz="2800" dirty="0"/>
              <a:t>managers </a:t>
            </a:r>
            <a:r>
              <a:rPr lang="en-US" sz="2800" dirty="0" smtClean="0"/>
              <a:t>must consider </a:t>
            </a:r>
            <a:r>
              <a:rPr lang="en-US" sz="2800" dirty="0"/>
              <a:t>various </a:t>
            </a:r>
            <a:r>
              <a:rPr lang="en-US" sz="2800" dirty="0" smtClean="0"/>
              <a:t>stakeholders’ </a:t>
            </a:r>
            <a:r>
              <a:rPr lang="en-US" sz="2800" dirty="0"/>
              <a:t>information needs </a:t>
            </a:r>
            <a:r>
              <a:rPr lang="en-US" sz="2800" dirty="0" smtClean="0"/>
              <a:t>when </a:t>
            </a:r>
            <a:r>
              <a:rPr lang="en-US" sz="2800" dirty="0"/>
              <a:t>there are </a:t>
            </a:r>
            <a:r>
              <a:rPr lang="en-US" sz="2800" dirty="0" smtClean="0"/>
              <a:t>disruptions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7026" y="2184343"/>
            <a:ext cx="4256314" cy="3192236"/>
          </a:xfrm>
          <a:prstGeom prst="rect">
            <a:avLst/>
          </a:prstGeom>
        </p:spPr>
      </p:pic>
      <p:sp>
        <p:nvSpPr>
          <p:cNvPr id="7" name="TextBox 6">
            <a:extLst>
              <a:ext uri="{FF2B5EF4-FFF2-40B4-BE49-F238E27FC236}">
                <a16:creationId xmlns:a16="http://schemas.microsoft.com/office/drawing/2014/main" id="{DBE2D027-9EC0-5249-B905-F312FB2752C6}"/>
              </a:ext>
            </a:extLst>
          </p:cNvPr>
          <p:cNvSpPr txBox="1"/>
          <p:nvPr/>
        </p:nvSpPr>
        <p:spPr>
          <a:xfrm>
            <a:off x="7313263" y="5465780"/>
            <a:ext cx="4543839" cy="600164"/>
          </a:xfrm>
          <a:prstGeom prst="rect">
            <a:avLst/>
          </a:prstGeom>
          <a:noFill/>
        </p:spPr>
        <p:txBody>
          <a:bodyPr wrap="square" rtlCol="0">
            <a:spAutoFit/>
          </a:bodyPr>
          <a:lstStyle/>
          <a:p>
            <a:pPr algn="ctr"/>
            <a:r>
              <a:rPr lang="en-US" i="1" dirty="0"/>
              <a:t>Rang Dong warehouse </a:t>
            </a:r>
            <a:r>
              <a:rPr lang="en-US" i="1" dirty="0" smtClean="0"/>
              <a:t>fire (2019)</a:t>
            </a:r>
            <a:endParaRPr lang="en-US" i="1" dirty="0"/>
          </a:p>
          <a:p>
            <a:pPr algn="ctr"/>
            <a:r>
              <a:rPr lang="en-US" sz="1500" i="1" dirty="0" smtClean="0"/>
              <a:t>Source: vov.vn</a:t>
            </a:r>
            <a:endParaRPr lang="en-VN" sz="1500" i="1" dirty="0"/>
          </a:p>
        </p:txBody>
      </p:sp>
    </p:spTree>
    <p:extLst>
      <p:ext uri="{BB962C8B-B14F-4D97-AF65-F5344CB8AC3E}">
        <p14:creationId xmlns:p14="http://schemas.microsoft.com/office/powerpoint/2010/main" val="33135387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CRISIS </a:t>
            </a:r>
            <a:r>
              <a:rPr lang="en-US" dirty="0"/>
              <a:t>MANAGEMENT DEFINED</a:t>
            </a:r>
            <a:endParaRPr lang="vi-VN" dirty="0"/>
          </a:p>
        </p:txBody>
      </p:sp>
      <p:sp>
        <p:nvSpPr>
          <p:cNvPr id="3" name="Content Placeholder 2"/>
          <p:cNvSpPr>
            <a:spLocks noGrp="1"/>
          </p:cNvSpPr>
          <p:nvPr>
            <p:ph idx="1"/>
          </p:nvPr>
        </p:nvSpPr>
        <p:spPr>
          <a:xfrm>
            <a:off x="599784" y="2106608"/>
            <a:ext cx="5615959" cy="3748899"/>
          </a:xfrm>
        </p:spPr>
        <p:txBody>
          <a:bodyPr>
            <a:normAutofit/>
          </a:bodyPr>
          <a:lstStyle/>
          <a:p>
            <a:r>
              <a:rPr lang="en-US" sz="2800" b="1" dirty="0" err="1" smtClean="0"/>
              <a:t>Paracrises</a:t>
            </a:r>
            <a:r>
              <a:rPr lang="en-US" sz="2800" b="1" dirty="0" smtClean="0"/>
              <a:t>:</a:t>
            </a:r>
            <a:r>
              <a:rPr lang="en-US" sz="2800" dirty="0" smtClean="0"/>
              <a:t> </a:t>
            </a:r>
          </a:p>
          <a:p>
            <a:pPr>
              <a:buFont typeface="Wingdings" panose="05000000000000000000" pitchFamily="2" charset="2"/>
              <a:buChar char="Ø"/>
            </a:pPr>
            <a:r>
              <a:rPr lang="en-US" sz="2800" dirty="0"/>
              <a:t> </a:t>
            </a:r>
            <a:r>
              <a:rPr lang="en-US" sz="2800" dirty="0" smtClean="0"/>
              <a:t>Situations </a:t>
            </a:r>
            <a:r>
              <a:rPr lang="en-US" sz="2800" dirty="0"/>
              <a:t>where crisis managers must </a:t>
            </a:r>
            <a:r>
              <a:rPr lang="en-US" sz="2800" i="1" dirty="0"/>
              <a:t>manage a crisis risk</a:t>
            </a:r>
            <a:r>
              <a:rPr lang="en-US" sz="2800" dirty="0"/>
              <a:t> in full view of its </a:t>
            </a:r>
            <a:r>
              <a:rPr lang="en-US" sz="2800" dirty="0" smtClean="0"/>
              <a:t>stakeholders</a:t>
            </a:r>
          </a:p>
          <a:p>
            <a:pPr>
              <a:buFont typeface="Wingdings" panose="05000000000000000000" pitchFamily="2" charset="2"/>
              <a:buChar char="Ø"/>
            </a:pPr>
            <a:r>
              <a:rPr lang="en-US" sz="2800" dirty="0"/>
              <a:t> </a:t>
            </a:r>
            <a:r>
              <a:rPr lang="en-US" sz="2800" dirty="0" smtClean="0"/>
              <a:t>Specific </a:t>
            </a:r>
            <a:r>
              <a:rPr lang="en-US" sz="2800" dirty="0"/>
              <a:t>type of crisis warning </a:t>
            </a:r>
            <a:r>
              <a:rPr lang="en-US" sz="2800" dirty="0" smtClean="0"/>
              <a:t>sign</a:t>
            </a:r>
          </a:p>
          <a:p>
            <a:pPr>
              <a:buFont typeface="Wingdings" panose="05000000000000000000" pitchFamily="2" charset="2"/>
              <a:buChar char="Ø"/>
            </a:pPr>
            <a:r>
              <a:rPr lang="en-US" sz="2800" dirty="0"/>
              <a:t> Resemble a crisis: threaten the organization’s reputation and related assets</a:t>
            </a:r>
            <a:r>
              <a:rPr lang="en-US" sz="2800" dirty="0" smtClean="0"/>
              <a:t> </a:t>
            </a:r>
          </a:p>
        </p:txBody>
      </p:sp>
      <p:sp>
        <p:nvSpPr>
          <p:cNvPr id="6" name="Content Placeholder 2"/>
          <p:cNvSpPr txBox="1">
            <a:spLocks/>
          </p:cNvSpPr>
          <p:nvPr/>
        </p:nvSpPr>
        <p:spPr>
          <a:xfrm>
            <a:off x="6608696" y="2166479"/>
            <a:ext cx="5387361" cy="3748899"/>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sz="2800" dirty="0" smtClean="0"/>
              <a:t> </a:t>
            </a:r>
          </a:p>
          <a:p>
            <a:pPr>
              <a:buFont typeface="Wingdings" panose="05000000000000000000" pitchFamily="2" charset="2"/>
              <a:buChar char="Ø"/>
            </a:pPr>
            <a:r>
              <a:rPr lang="en-US" sz="2800" dirty="0"/>
              <a:t> </a:t>
            </a:r>
            <a:r>
              <a:rPr lang="en-US" sz="2800" dirty="0" smtClean="0"/>
              <a:t>Not </a:t>
            </a:r>
            <a:r>
              <a:rPr lang="en-US" sz="2800" dirty="0"/>
              <a:t>require the </a:t>
            </a:r>
            <a:r>
              <a:rPr lang="en-US" sz="2800" dirty="0" smtClean="0"/>
              <a:t>activation of </a:t>
            </a:r>
            <a:r>
              <a:rPr lang="en-US" sz="2800" dirty="0"/>
              <a:t>the crisis team </a:t>
            </a:r>
            <a:endParaRPr lang="en-US" sz="2800" dirty="0" smtClean="0"/>
          </a:p>
          <a:p>
            <a:pPr>
              <a:buFont typeface="Wingdings" panose="05000000000000000000" pitchFamily="2" charset="2"/>
              <a:buChar char="Ø"/>
            </a:pPr>
            <a:r>
              <a:rPr lang="en-US" sz="2800" dirty="0"/>
              <a:t> </a:t>
            </a:r>
            <a:r>
              <a:rPr lang="en-US" sz="2800" dirty="0" smtClean="0"/>
              <a:t>Not disrupt </a:t>
            </a:r>
            <a:r>
              <a:rPr lang="en-US" sz="2800" dirty="0"/>
              <a:t>the </a:t>
            </a:r>
            <a:r>
              <a:rPr lang="en-US" sz="2800" dirty="0" smtClean="0"/>
              <a:t>organization</a:t>
            </a:r>
          </a:p>
          <a:p>
            <a:pPr>
              <a:buFont typeface="Wingdings" panose="05000000000000000000" pitchFamily="2" charset="2"/>
              <a:buChar char="Ø"/>
            </a:pPr>
            <a:r>
              <a:rPr lang="en-US" sz="2800" dirty="0" smtClean="0"/>
              <a:t> Warrants </a:t>
            </a:r>
            <a:r>
              <a:rPr lang="en-US" sz="2800" dirty="0"/>
              <a:t>attention: neglect or mismanagement could escalate into an operational crisis</a:t>
            </a:r>
            <a:endParaRPr lang="en-US" sz="2800" dirty="0" smtClean="0"/>
          </a:p>
        </p:txBody>
      </p:sp>
    </p:spTree>
    <p:extLst>
      <p:ext uri="{BB962C8B-B14F-4D97-AF65-F5344CB8AC3E}">
        <p14:creationId xmlns:p14="http://schemas.microsoft.com/office/powerpoint/2010/main" val="42921024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CRISIS </a:t>
            </a:r>
            <a:r>
              <a:rPr lang="en-US" dirty="0"/>
              <a:t>MANAGEMENT DEFINED</a:t>
            </a:r>
            <a:endParaRPr lang="vi-VN" dirty="0"/>
          </a:p>
        </p:txBody>
      </p:sp>
      <p:sp>
        <p:nvSpPr>
          <p:cNvPr id="3" name="Content Placeholder 2"/>
          <p:cNvSpPr>
            <a:spLocks noGrp="1"/>
          </p:cNvSpPr>
          <p:nvPr>
            <p:ph idx="1"/>
          </p:nvPr>
        </p:nvSpPr>
        <p:spPr>
          <a:xfrm>
            <a:off x="6592804" y="2650889"/>
            <a:ext cx="5202302" cy="2889939"/>
          </a:xfrm>
        </p:spPr>
        <p:txBody>
          <a:bodyPr>
            <a:normAutofit/>
          </a:bodyPr>
          <a:lstStyle/>
          <a:p>
            <a:r>
              <a:rPr lang="en-US" sz="2800" b="1" dirty="0" err="1" smtClean="0"/>
              <a:t>Paracrises</a:t>
            </a:r>
            <a:r>
              <a:rPr lang="en-US" sz="2800" b="1" dirty="0" smtClean="0"/>
              <a:t>:</a:t>
            </a:r>
            <a:r>
              <a:rPr lang="en-US" sz="2800" dirty="0" smtClean="0"/>
              <a:t> </a:t>
            </a:r>
          </a:p>
          <a:p>
            <a:pPr>
              <a:buFont typeface="Wingdings" panose="05000000000000000000" pitchFamily="2" charset="2"/>
              <a:buChar char="Ø"/>
            </a:pPr>
            <a:r>
              <a:rPr lang="en-US" sz="2800" dirty="0"/>
              <a:t> Visibility </a:t>
            </a:r>
            <a:r>
              <a:rPr lang="en-US" sz="2800" dirty="0" smtClean="0"/>
              <a:t>gives </a:t>
            </a:r>
            <a:r>
              <a:rPr lang="en-US" sz="2800" dirty="0"/>
              <a:t>a </a:t>
            </a:r>
            <a:r>
              <a:rPr lang="en-US" sz="2800" dirty="0" err="1"/>
              <a:t>paracrisis</a:t>
            </a:r>
            <a:r>
              <a:rPr lang="en-US" sz="2800" dirty="0"/>
              <a:t> its </a:t>
            </a:r>
            <a:r>
              <a:rPr lang="en-US" sz="2800" dirty="0" smtClean="0"/>
              <a:t>impact</a:t>
            </a:r>
          </a:p>
          <a:p>
            <a:pPr>
              <a:buFont typeface="Wingdings" panose="05000000000000000000" pitchFamily="2" charset="2"/>
              <a:buChar char="Ø"/>
            </a:pPr>
            <a:r>
              <a:rPr lang="en-US" sz="2800" dirty="0"/>
              <a:t> </a:t>
            </a:r>
            <a:r>
              <a:rPr lang="en-US" sz="2800" dirty="0" smtClean="0"/>
              <a:t>Blur </a:t>
            </a:r>
            <a:r>
              <a:rPr lang="en-US" sz="2800" dirty="0"/>
              <a:t>the line between </a:t>
            </a:r>
            <a:r>
              <a:rPr lang="en-US" sz="2800" dirty="0" err="1"/>
              <a:t>precrisis</a:t>
            </a:r>
            <a:r>
              <a:rPr lang="en-US" sz="2800" dirty="0"/>
              <a:t> and </a:t>
            </a:r>
            <a:r>
              <a:rPr lang="en-US" sz="2800" dirty="0" smtClean="0"/>
              <a:t>crisis response </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r="15195" b="19870"/>
          <a:stretch/>
        </p:blipFill>
        <p:spPr>
          <a:xfrm>
            <a:off x="938893" y="2171698"/>
            <a:ext cx="5331279" cy="3358243"/>
          </a:xfrm>
          <a:prstGeom prst="rect">
            <a:avLst/>
          </a:prstGeom>
        </p:spPr>
      </p:pic>
      <p:sp>
        <p:nvSpPr>
          <p:cNvPr id="7" name="TextBox 6">
            <a:extLst>
              <a:ext uri="{FF2B5EF4-FFF2-40B4-BE49-F238E27FC236}">
                <a16:creationId xmlns:a16="http://schemas.microsoft.com/office/drawing/2014/main" id="{DBE2D027-9EC0-5249-B905-F312FB2752C6}"/>
              </a:ext>
            </a:extLst>
          </p:cNvPr>
          <p:cNvSpPr txBox="1"/>
          <p:nvPr/>
        </p:nvSpPr>
        <p:spPr>
          <a:xfrm>
            <a:off x="1332612" y="5693005"/>
            <a:ext cx="4543839" cy="600164"/>
          </a:xfrm>
          <a:prstGeom prst="rect">
            <a:avLst/>
          </a:prstGeom>
          <a:noFill/>
        </p:spPr>
        <p:txBody>
          <a:bodyPr wrap="square" rtlCol="0">
            <a:spAutoFit/>
          </a:bodyPr>
          <a:lstStyle/>
          <a:p>
            <a:pPr algn="ctr"/>
            <a:r>
              <a:rPr lang="en-US" i="1" dirty="0" smtClean="0"/>
              <a:t>Coca-Cola’s </a:t>
            </a:r>
            <a:r>
              <a:rPr lang="en-US" i="1" dirty="0" err="1" smtClean="0"/>
              <a:t>paracrisis</a:t>
            </a:r>
            <a:r>
              <a:rPr lang="en-US" i="1" dirty="0" smtClean="0"/>
              <a:t> (2019)</a:t>
            </a:r>
            <a:endParaRPr lang="en-US" i="1" dirty="0"/>
          </a:p>
          <a:p>
            <a:pPr algn="ctr"/>
            <a:r>
              <a:rPr lang="en-US" sz="1500" i="1" dirty="0" smtClean="0"/>
              <a:t>Source: thanhnien.vn</a:t>
            </a:r>
            <a:endParaRPr lang="en-VN" sz="1500" i="1" dirty="0"/>
          </a:p>
        </p:txBody>
      </p:sp>
    </p:spTree>
    <p:extLst>
      <p:ext uri="{BB962C8B-B14F-4D97-AF65-F5344CB8AC3E}">
        <p14:creationId xmlns:p14="http://schemas.microsoft.com/office/powerpoint/2010/main" val="26935319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Discussion</a:t>
            </a:r>
            <a:endParaRPr lang="vi-VN" dirty="0"/>
          </a:p>
        </p:txBody>
      </p:sp>
      <p:sp>
        <p:nvSpPr>
          <p:cNvPr id="3" name="Content Placeholder 2"/>
          <p:cNvSpPr>
            <a:spLocks noGrp="1"/>
          </p:cNvSpPr>
          <p:nvPr>
            <p:ph idx="1"/>
          </p:nvPr>
        </p:nvSpPr>
        <p:spPr/>
        <p:txBody>
          <a:bodyPr>
            <a:normAutofit/>
          </a:bodyPr>
          <a:lstStyle/>
          <a:p>
            <a:pPr lvl="0"/>
            <a:r>
              <a:rPr lang="en-US" sz="2800" dirty="0" smtClean="0"/>
              <a:t>1. Do </a:t>
            </a:r>
            <a:r>
              <a:rPr lang="en-US" sz="2800" dirty="0"/>
              <a:t>you agree or disagree with the idea that a crisis is </a:t>
            </a:r>
            <a:r>
              <a:rPr lang="en-US" sz="2800" dirty="0" smtClean="0"/>
              <a:t>perceptual?</a:t>
            </a:r>
          </a:p>
          <a:p>
            <a:pPr lvl="0"/>
            <a:r>
              <a:rPr lang="en-US" sz="2800" dirty="0" smtClean="0"/>
              <a:t>2. What </a:t>
            </a:r>
            <a:r>
              <a:rPr lang="en-US" sz="2800" dirty="0"/>
              <a:t>do you think makes an event a crisis? How do crises differ from disasters</a:t>
            </a:r>
            <a:r>
              <a:rPr lang="en-US" sz="2800" dirty="0" smtClean="0"/>
              <a:t>?</a:t>
            </a:r>
          </a:p>
          <a:p>
            <a:pPr lvl="0"/>
            <a:r>
              <a:rPr lang="en-US" sz="2800" dirty="0"/>
              <a:t>3. Why bother differentiating between crises and </a:t>
            </a:r>
            <a:r>
              <a:rPr lang="en-US" sz="2800" dirty="0" err="1"/>
              <a:t>paracrises</a:t>
            </a:r>
            <a:r>
              <a:rPr lang="en-US" sz="2800" dirty="0"/>
              <a:t>?</a:t>
            </a:r>
          </a:p>
        </p:txBody>
      </p:sp>
    </p:spTree>
    <p:extLst>
      <p:ext uri="{BB962C8B-B14F-4D97-AF65-F5344CB8AC3E}">
        <p14:creationId xmlns:p14="http://schemas.microsoft.com/office/powerpoint/2010/main" val="3462518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CRISIS MANAGEMENT DEFINED</a:t>
            </a:r>
            <a:endParaRPr lang="vi-VN" dirty="0"/>
          </a:p>
        </p:txBody>
      </p:sp>
      <p:sp>
        <p:nvSpPr>
          <p:cNvPr id="3" name="Content Placeholder 2"/>
          <p:cNvSpPr>
            <a:spLocks noGrp="1"/>
          </p:cNvSpPr>
          <p:nvPr>
            <p:ph idx="1"/>
          </p:nvPr>
        </p:nvSpPr>
        <p:spPr>
          <a:xfrm>
            <a:off x="832722" y="2325987"/>
            <a:ext cx="9737307" cy="3616077"/>
          </a:xfrm>
        </p:spPr>
        <p:txBody>
          <a:bodyPr>
            <a:normAutofit/>
          </a:bodyPr>
          <a:lstStyle/>
          <a:p>
            <a:pPr marL="0" indent="0">
              <a:buNone/>
            </a:pPr>
            <a:r>
              <a:rPr lang="en-US" sz="2800" b="1" dirty="0" smtClean="0"/>
              <a:t>Crisis Management: </a:t>
            </a:r>
            <a:r>
              <a:rPr lang="en-US" sz="2800" dirty="0" smtClean="0"/>
              <a:t>a </a:t>
            </a:r>
            <a:r>
              <a:rPr lang="en-US" sz="2800" dirty="0"/>
              <a:t>set of factors designed to </a:t>
            </a:r>
          </a:p>
          <a:p>
            <a:pPr>
              <a:buFont typeface="Wingdings" panose="05000000000000000000" pitchFamily="2" charset="2"/>
              <a:buChar char="Ø"/>
            </a:pPr>
            <a:r>
              <a:rPr lang="en-US" sz="2800" dirty="0" smtClean="0"/>
              <a:t> combat </a:t>
            </a:r>
            <a:r>
              <a:rPr lang="en-US" sz="2800" dirty="0"/>
              <a:t>crises </a:t>
            </a:r>
            <a:endParaRPr lang="en-US" sz="2800" dirty="0" smtClean="0"/>
          </a:p>
          <a:p>
            <a:pPr marL="347663" indent="-347663">
              <a:buFont typeface="Wingdings" panose="05000000000000000000" pitchFamily="2" charset="2"/>
              <a:buChar char="Ø"/>
            </a:pPr>
            <a:r>
              <a:rPr lang="en-US" sz="2800" dirty="0" smtClean="0"/>
              <a:t>prevent </a:t>
            </a:r>
            <a:r>
              <a:rPr lang="en-US" sz="2800" dirty="0"/>
              <a:t>or lessen the negative outcomes of a </a:t>
            </a:r>
            <a:r>
              <a:rPr lang="en-US" sz="2800" dirty="0" smtClean="0"/>
              <a:t>crisis/ </a:t>
            </a:r>
            <a:r>
              <a:rPr lang="en-US" sz="2800" dirty="0"/>
              <a:t>actual damage </a:t>
            </a:r>
            <a:r>
              <a:rPr lang="en-US" sz="2800" dirty="0" smtClean="0"/>
              <a:t>inflicted </a:t>
            </a:r>
          </a:p>
          <a:p>
            <a:pPr>
              <a:buFont typeface="Wingdings" panose="05000000000000000000" pitchFamily="2" charset="2"/>
              <a:buChar char="Ø"/>
            </a:pPr>
            <a:r>
              <a:rPr lang="en-US" sz="2800" dirty="0"/>
              <a:t> </a:t>
            </a:r>
            <a:r>
              <a:rPr lang="en-US" sz="2800" dirty="0" smtClean="0"/>
              <a:t>protect </a:t>
            </a:r>
            <a:r>
              <a:rPr lang="en-US" sz="2800" dirty="0"/>
              <a:t>the organization, stakeholders, and industry from </a:t>
            </a:r>
            <a:r>
              <a:rPr lang="en-US" sz="2800" dirty="0" smtClean="0"/>
              <a:t>harm</a:t>
            </a:r>
            <a:endParaRPr lang="vi-VN" sz="2800" dirty="0"/>
          </a:p>
        </p:txBody>
      </p:sp>
    </p:spTree>
    <p:extLst>
      <p:ext uri="{BB962C8B-B14F-4D97-AF65-F5344CB8AC3E}">
        <p14:creationId xmlns:p14="http://schemas.microsoft.com/office/powerpoint/2010/main" val="292601490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CRISIS MANAGEMENT DEFINED</a:t>
            </a:r>
            <a:endParaRPr lang="vi-VN" dirty="0"/>
          </a:p>
        </p:txBody>
      </p:sp>
      <p:sp>
        <p:nvSpPr>
          <p:cNvPr id="3" name="Content Placeholder 2"/>
          <p:cNvSpPr>
            <a:spLocks noGrp="1"/>
          </p:cNvSpPr>
          <p:nvPr>
            <p:ph idx="1"/>
          </p:nvPr>
        </p:nvSpPr>
        <p:spPr>
          <a:xfrm>
            <a:off x="1024128" y="2360874"/>
            <a:ext cx="6449821" cy="3616077"/>
          </a:xfrm>
        </p:spPr>
        <p:txBody>
          <a:bodyPr>
            <a:normAutofit/>
          </a:bodyPr>
          <a:lstStyle/>
          <a:p>
            <a:pPr marL="0" indent="0">
              <a:buNone/>
            </a:pPr>
            <a:r>
              <a:rPr lang="en-US" sz="2800" b="1" dirty="0" smtClean="0"/>
              <a:t>Crisis Management’s Factors</a:t>
            </a:r>
            <a:r>
              <a:rPr lang="en-US" sz="2800" dirty="0" smtClean="0"/>
              <a:t>: </a:t>
            </a:r>
            <a:endParaRPr lang="en-US" sz="2800" dirty="0"/>
          </a:p>
          <a:p>
            <a:pPr>
              <a:buFont typeface="Wingdings" panose="05000000000000000000" pitchFamily="2" charset="2"/>
              <a:buChar char="Ø"/>
            </a:pPr>
            <a:r>
              <a:rPr lang="en-US" sz="2800" dirty="0"/>
              <a:t> Prevention</a:t>
            </a:r>
          </a:p>
          <a:p>
            <a:pPr>
              <a:buFont typeface="Wingdings" panose="05000000000000000000" pitchFamily="2" charset="2"/>
              <a:buChar char="Ø"/>
            </a:pPr>
            <a:r>
              <a:rPr lang="en-US" sz="2800" dirty="0" smtClean="0"/>
              <a:t> Preparation</a:t>
            </a:r>
            <a:endParaRPr lang="en-US" sz="2800" dirty="0"/>
          </a:p>
          <a:p>
            <a:pPr>
              <a:buFont typeface="Wingdings" panose="05000000000000000000" pitchFamily="2" charset="2"/>
              <a:buChar char="Ø"/>
            </a:pPr>
            <a:r>
              <a:rPr lang="en-US" sz="2800" dirty="0" smtClean="0"/>
              <a:t> Response</a:t>
            </a:r>
            <a:endParaRPr lang="en-US" sz="2800" dirty="0"/>
          </a:p>
          <a:p>
            <a:pPr>
              <a:buFont typeface="Wingdings" panose="05000000000000000000" pitchFamily="2" charset="2"/>
              <a:buChar char="Ø"/>
            </a:pPr>
            <a:r>
              <a:rPr lang="en-US" sz="2800" dirty="0" smtClean="0"/>
              <a:t> Revision</a:t>
            </a:r>
            <a:endParaRPr lang="vi-VN" sz="2800" dirty="0"/>
          </a:p>
        </p:txBody>
      </p:sp>
      <p:pic>
        <p:nvPicPr>
          <p:cNvPr id="8" name="Picture 7">
            <a:extLst>
              <a:ext uri="{FF2B5EF4-FFF2-40B4-BE49-F238E27FC236}">
                <a16:creationId xmlns:a16="http://schemas.microsoft.com/office/drawing/2014/main" id="{52C4F77D-9CFC-9142-A559-8E21CE005488}"/>
              </a:ext>
            </a:extLst>
          </p:cNvPr>
          <p:cNvPicPr>
            <a:picLocks noChangeAspect="1"/>
          </p:cNvPicPr>
          <p:nvPr/>
        </p:nvPicPr>
        <p:blipFill>
          <a:blip r:embed="rId3">
            <a:extLst>
              <a:ext uri="{837473B0-CC2E-450A-ABE3-18F120FF3D39}">
                <a1611:picAttrSrcUrl xmlns="" xmlns:a1611="http://schemas.microsoft.com/office/drawing/2016/11/main" r:id="rId4"/>
              </a:ext>
            </a:extLst>
          </a:blip>
          <a:stretch>
            <a:fillRect/>
          </a:stretch>
        </p:blipFill>
        <p:spPr>
          <a:xfrm>
            <a:off x="6644783" y="2130041"/>
            <a:ext cx="4204923" cy="3597545"/>
          </a:xfrm>
          <a:prstGeom prst="rect">
            <a:avLst/>
          </a:prstGeom>
        </p:spPr>
      </p:pic>
      <p:sp>
        <p:nvSpPr>
          <p:cNvPr id="9" name="TextBox 8">
            <a:extLst>
              <a:ext uri="{FF2B5EF4-FFF2-40B4-BE49-F238E27FC236}">
                <a16:creationId xmlns:a16="http://schemas.microsoft.com/office/drawing/2014/main" id="{CEE25B38-2C20-CB4A-B13C-3B7AD8CD0342}"/>
              </a:ext>
            </a:extLst>
          </p:cNvPr>
          <p:cNvSpPr txBox="1"/>
          <p:nvPr/>
        </p:nvSpPr>
        <p:spPr>
          <a:xfrm>
            <a:off x="7423457" y="5746119"/>
            <a:ext cx="3426250" cy="230832"/>
          </a:xfrm>
          <a:prstGeom prst="rect">
            <a:avLst/>
          </a:prstGeom>
          <a:noFill/>
        </p:spPr>
        <p:txBody>
          <a:bodyPr wrap="square" rtlCol="0">
            <a:spAutoFit/>
          </a:bodyPr>
          <a:lstStyle/>
          <a:p>
            <a:r>
              <a:rPr lang="en-VN" sz="900" dirty="0">
                <a:hlinkClick r:id="rId4" tooltip="https://en.wikipedia.org/wiki/Emergency_management"/>
              </a:rPr>
              <a:t>This Photo</a:t>
            </a:r>
            <a:r>
              <a:rPr lang="en-VN" sz="900" dirty="0"/>
              <a:t> by Unknown Author is licensed under </a:t>
            </a:r>
            <a:r>
              <a:rPr lang="en-VN" sz="900" dirty="0">
                <a:hlinkClick r:id="rId5" tooltip="https://creativecommons.org/licenses/by-sa/3.0/"/>
              </a:rPr>
              <a:t>CC BY-SA</a:t>
            </a:r>
            <a:endParaRPr lang="en-VN" sz="900" dirty="0"/>
          </a:p>
        </p:txBody>
      </p:sp>
    </p:spTree>
    <p:extLst>
      <p:ext uri="{BB962C8B-B14F-4D97-AF65-F5344CB8AC3E}">
        <p14:creationId xmlns:p14="http://schemas.microsoft.com/office/powerpoint/2010/main" val="17511447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CRISIS MANAGEMENT DEFINED</a:t>
            </a:r>
            <a:endParaRPr lang="vi-VN" dirty="0"/>
          </a:p>
        </p:txBody>
      </p:sp>
      <p:sp>
        <p:nvSpPr>
          <p:cNvPr id="3" name="Content Placeholder 2"/>
          <p:cNvSpPr>
            <a:spLocks noGrp="1"/>
          </p:cNvSpPr>
          <p:nvPr>
            <p:ph idx="1"/>
          </p:nvPr>
        </p:nvSpPr>
        <p:spPr>
          <a:xfrm>
            <a:off x="773758" y="2197588"/>
            <a:ext cx="4560242" cy="3616077"/>
          </a:xfrm>
        </p:spPr>
        <p:txBody>
          <a:bodyPr>
            <a:normAutofit lnSpcReduction="10000"/>
          </a:bodyPr>
          <a:lstStyle/>
          <a:p>
            <a:pPr marL="0" indent="0">
              <a:buNone/>
            </a:pPr>
            <a:r>
              <a:rPr lang="en-US" sz="2800" b="1" dirty="0" smtClean="0"/>
              <a:t>Prevention</a:t>
            </a:r>
            <a:r>
              <a:rPr lang="en-US" sz="2800" b="1" i="1" dirty="0"/>
              <a:t> </a:t>
            </a:r>
            <a:r>
              <a:rPr lang="en-US" sz="2800" b="1" i="1" dirty="0" smtClean="0"/>
              <a:t>(Mitigation)</a:t>
            </a:r>
            <a:r>
              <a:rPr lang="en-US" sz="2800" dirty="0" smtClean="0"/>
              <a:t>:</a:t>
            </a:r>
            <a:endParaRPr lang="en-US" sz="2800" dirty="0"/>
          </a:p>
          <a:p>
            <a:pPr>
              <a:buFont typeface="Wingdings" panose="05000000000000000000" pitchFamily="2" charset="2"/>
              <a:buChar char="Ø"/>
            </a:pPr>
            <a:r>
              <a:rPr lang="en-US" sz="2800" dirty="0"/>
              <a:t> </a:t>
            </a:r>
            <a:r>
              <a:rPr lang="en-US" sz="2800" dirty="0" smtClean="0"/>
              <a:t>Steps </a:t>
            </a:r>
            <a:r>
              <a:rPr lang="en-US" sz="2800" dirty="0"/>
              <a:t>taken to avoid </a:t>
            </a:r>
            <a:r>
              <a:rPr lang="en-US" sz="2800" dirty="0" smtClean="0"/>
              <a:t>crises</a:t>
            </a:r>
          </a:p>
          <a:p>
            <a:pPr>
              <a:buFont typeface="Wingdings" panose="05000000000000000000" pitchFamily="2" charset="2"/>
              <a:buChar char="Ø"/>
            </a:pPr>
            <a:r>
              <a:rPr lang="en-US" sz="2800" dirty="0"/>
              <a:t> Crisis </a:t>
            </a:r>
            <a:r>
              <a:rPr lang="en-US" sz="2800" dirty="0" smtClean="0"/>
              <a:t>managers: </a:t>
            </a:r>
          </a:p>
          <a:p>
            <a:pPr marL="914400" indent="0">
              <a:buFont typeface="Wingdings" panose="05000000000000000000" pitchFamily="2" charset="2"/>
              <a:buChar char="§"/>
            </a:pPr>
            <a:r>
              <a:rPr lang="en-US" sz="2800" dirty="0"/>
              <a:t> </a:t>
            </a:r>
            <a:r>
              <a:rPr lang="en-US" sz="2800" dirty="0" smtClean="0"/>
              <a:t>detect warning signs</a:t>
            </a:r>
          </a:p>
          <a:p>
            <a:pPr marL="1143000" indent="-228600">
              <a:buFont typeface="Wingdings" panose="05000000000000000000" pitchFamily="2" charset="2"/>
              <a:buChar char="§"/>
            </a:pPr>
            <a:r>
              <a:rPr lang="en-US" sz="2800" dirty="0" smtClean="0"/>
              <a:t>take </a:t>
            </a:r>
            <a:r>
              <a:rPr lang="en-US" sz="2800" dirty="0"/>
              <a:t>actions designed to prevent </a:t>
            </a:r>
            <a:r>
              <a:rPr lang="en-US" sz="2800" dirty="0" smtClean="0"/>
              <a:t>the crisis</a:t>
            </a:r>
          </a:p>
          <a:p>
            <a:pPr>
              <a:buFont typeface="Wingdings" panose="05000000000000000000" pitchFamily="2" charset="2"/>
              <a:buChar char="Ø"/>
            </a:pPr>
            <a:r>
              <a:rPr lang="en-US" sz="2800" dirty="0" smtClean="0"/>
              <a:t>largely </a:t>
            </a:r>
            <a:r>
              <a:rPr lang="en-US" sz="2800" dirty="0"/>
              <a:t>unseen by the </a:t>
            </a:r>
            <a:r>
              <a:rPr lang="en-US" sz="2800" dirty="0" smtClean="0"/>
              <a:t>public</a:t>
            </a:r>
            <a:endParaRPr lang="en-US" sz="2800" dirty="0"/>
          </a:p>
        </p:txBody>
      </p:sp>
      <p:pic>
        <p:nvPicPr>
          <p:cNvPr id="6" name="Content Placeholder 3">
            <a:extLst>
              <a:ext uri="{FF2B5EF4-FFF2-40B4-BE49-F238E27FC236}">
                <a16:creationId xmlns:a16="http://schemas.microsoft.com/office/drawing/2014/main" id="{6B345560-E8F3-A04A-9B23-3A103BF84423}"/>
              </a:ext>
            </a:extLst>
          </p:cNvPr>
          <p:cNvPicPr>
            <a:picLocks noChangeAspect="1"/>
          </p:cNvPicPr>
          <p:nvPr/>
        </p:nvPicPr>
        <p:blipFill>
          <a:blip r:embed="rId3">
            <a:extLst>
              <a:ext uri="{837473B0-CC2E-450A-ABE3-18F120FF3D39}">
                <a1611:picAttrSrcUrl xmlns="" xmlns:a1611="http://schemas.microsoft.com/office/drawing/2016/11/main" r:id="rId4"/>
              </a:ext>
            </a:extLst>
          </a:blip>
          <a:stretch>
            <a:fillRect/>
          </a:stretch>
        </p:blipFill>
        <p:spPr>
          <a:xfrm>
            <a:off x="5793641" y="2084832"/>
            <a:ext cx="5853670" cy="3292689"/>
          </a:xfrm>
          <a:prstGeom prst="rect">
            <a:avLst/>
          </a:prstGeom>
        </p:spPr>
      </p:pic>
    </p:spTree>
    <p:extLst>
      <p:ext uri="{BB962C8B-B14F-4D97-AF65-F5344CB8AC3E}">
        <p14:creationId xmlns:p14="http://schemas.microsoft.com/office/powerpoint/2010/main" val="202156402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CRISIS MANAGEMENT DEFINED</a:t>
            </a:r>
            <a:endParaRPr lang="vi-VN" dirty="0"/>
          </a:p>
        </p:txBody>
      </p:sp>
      <p:sp>
        <p:nvSpPr>
          <p:cNvPr id="3" name="Content Placeholder 2"/>
          <p:cNvSpPr>
            <a:spLocks noGrp="1"/>
          </p:cNvSpPr>
          <p:nvPr>
            <p:ph idx="1"/>
          </p:nvPr>
        </p:nvSpPr>
        <p:spPr>
          <a:xfrm>
            <a:off x="1024128" y="2360874"/>
            <a:ext cx="10373215" cy="3616077"/>
          </a:xfrm>
        </p:spPr>
        <p:txBody>
          <a:bodyPr>
            <a:normAutofit/>
          </a:bodyPr>
          <a:lstStyle/>
          <a:p>
            <a:pPr marL="0" indent="0">
              <a:buNone/>
            </a:pPr>
            <a:r>
              <a:rPr lang="en-US" sz="2800" b="1" dirty="0"/>
              <a:t>Preparation</a:t>
            </a:r>
            <a:r>
              <a:rPr lang="en-US" sz="2800" dirty="0" smtClean="0"/>
              <a:t>:</a:t>
            </a:r>
            <a:endParaRPr lang="en-US" sz="2800" dirty="0"/>
          </a:p>
          <a:p>
            <a:pPr>
              <a:buFont typeface="Wingdings" panose="05000000000000000000" pitchFamily="2" charset="2"/>
              <a:buChar char="Ø"/>
            </a:pPr>
            <a:r>
              <a:rPr lang="en-US" sz="2800" dirty="0"/>
              <a:t> </a:t>
            </a:r>
            <a:r>
              <a:rPr lang="en-US" sz="2800" dirty="0" smtClean="0"/>
              <a:t>Preparing the crisis </a:t>
            </a:r>
            <a:r>
              <a:rPr lang="en-US" sz="2800" dirty="0"/>
              <a:t>communication plan (</a:t>
            </a:r>
            <a:r>
              <a:rPr lang="en-US" sz="2800" dirty="0" smtClean="0"/>
              <a:t>CCP)</a:t>
            </a:r>
          </a:p>
          <a:p>
            <a:pPr>
              <a:buFont typeface="Wingdings" panose="05000000000000000000" pitchFamily="2" charset="2"/>
              <a:buChar char="Ø"/>
            </a:pPr>
            <a:r>
              <a:rPr lang="en-US" sz="2800" dirty="0" smtClean="0"/>
              <a:t> Diagnosing </a:t>
            </a:r>
            <a:r>
              <a:rPr lang="en-US" sz="2800" dirty="0"/>
              <a:t>crisis </a:t>
            </a:r>
            <a:r>
              <a:rPr lang="en-US" sz="2800" dirty="0" smtClean="0"/>
              <a:t>vulnerabilities</a:t>
            </a:r>
          </a:p>
          <a:p>
            <a:pPr>
              <a:buFont typeface="Wingdings" panose="05000000000000000000" pitchFamily="2" charset="2"/>
              <a:buChar char="Ø"/>
            </a:pPr>
            <a:r>
              <a:rPr lang="en-US" sz="2800" dirty="0"/>
              <a:t> </a:t>
            </a:r>
            <a:r>
              <a:rPr lang="en-US" sz="2800" dirty="0" smtClean="0"/>
              <a:t>Selecting </a:t>
            </a:r>
            <a:r>
              <a:rPr lang="en-US" sz="2800" dirty="0"/>
              <a:t>and </a:t>
            </a:r>
            <a:r>
              <a:rPr lang="en-US" sz="2800" dirty="0" smtClean="0"/>
              <a:t>training </a:t>
            </a:r>
            <a:r>
              <a:rPr lang="en-US" sz="2800" dirty="0"/>
              <a:t>a crisis management team and </a:t>
            </a:r>
            <a:r>
              <a:rPr lang="en-US" sz="2800" dirty="0" smtClean="0"/>
              <a:t>spokespersons</a:t>
            </a:r>
          </a:p>
          <a:p>
            <a:pPr>
              <a:buFont typeface="Wingdings" panose="05000000000000000000" pitchFamily="2" charset="2"/>
              <a:buChar char="Ø"/>
            </a:pPr>
            <a:r>
              <a:rPr lang="en-US" sz="2800" dirty="0"/>
              <a:t> </a:t>
            </a:r>
            <a:r>
              <a:rPr lang="en-US" sz="2800" dirty="0" smtClean="0"/>
              <a:t>Creating </a:t>
            </a:r>
            <a:r>
              <a:rPr lang="en-US" sz="2800" dirty="0"/>
              <a:t>a crisis </a:t>
            </a:r>
            <a:r>
              <a:rPr lang="en-US" sz="2800" dirty="0" smtClean="0"/>
              <a:t>portfolio</a:t>
            </a:r>
          </a:p>
          <a:p>
            <a:pPr>
              <a:buFont typeface="Wingdings" panose="05000000000000000000" pitchFamily="2" charset="2"/>
              <a:buChar char="Ø"/>
            </a:pPr>
            <a:r>
              <a:rPr lang="en-US" sz="2800" dirty="0" smtClean="0"/>
              <a:t> Refining a crisis </a:t>
            </a:r>
            <a:r>
              <a:rPr lang="en-US" sz="2800" dirty="0"/>
              <a:t>communication </a:t>
            </a:r>
            <a:r>
              <a:rPr lang="en-US" sz="2800" dirty="0" smtClean="0"/>
              <a:t>system</a:t>
            </a:r>
            <a:endParaRPr lang="en-US" sz="2800" dirty="0"/>
          </a:p>
        </p:txBody>
      </p:sp>
    </p:spTree>
    <p:extLst>
      <p:ext uri="{BB962C8B-B14F-4D97-AF65-F5344CB8AC3E}">
        <p14:creationId xmlns:p14="http://schemas.microsoft.com/office/powerpoint/2010/main" val="25643263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CRISIS MANAGEMENT DEFINED</a:t>
            </a:r>
            <a:endParaRPr lang="vi-VN" dirty="0"/>
          </a:p>
        </p:txBody>
      </p:sp>
      <p:sp>
        <p:nvSpPr>
          <p:cNvPr id="3" name="Content Placeholder 2"/>
          <p:cNvSpPr>
            <a:spLocks noGrp="1"/>
          </p:cNvSpPr>
          <p:nvPr>
            <p:ph idx="1"/>
          </p:nvPr>
        </p:nvSpPr>
        <p:spPr>
          <a:xfrm>
            <a:off x="1024128" y="2306447"/>
            <a:ext cx="10928386" cy="3616077"/>
          </a:xfrm>
        </p:spPr>
        <p:txBody>
          <a:bodyPr>
            <a:normAutofit/>
          </a:bodyPr>
          <a:lstStyle/>
          <a:p>
            <a:pPr marL="0" indent="0">
              <a:buNone/>
            </a:pPr>
            <a:r>
              <a:rPr lang="en-US" sz="2800" b="1" dirty="0"/>
              <a:t>Response</a:t>
            </a:r>
            <a:r>
              <a:rPr lang="en-US" sz="2800" dirty="0" smtClean="0"/>
              <a:t>:</a:t>
            </a:r>
            <a:endParaRPr lang="en-US" sz="2800" dirty="0"/>
          </a:p>
          <a:p>
            <a:pPr>
              <a:buFont typeface="Wingdings" panose="05000000000000000000" pitchFamily="2" charset="2"/>
              <a:buChar char="Ø"/>
            </a:pPr>
            <a:r>
              <a:rPr lang="en-US" sz="2800" dirty="0"/>
              <a:t> </a:t>
            </a:r>
            <a:r>
              <a:rPr lang="en-US" sz="2800" dirty="0" smtClean="0"/>
              <a:t>Application </a:t>
            </a:r>
            <a:r>
              <a:rPr lang="en-US" sz="2800" dirty="0"/>
              <a:t>of the preparation components to a </a:t>
            </a:r>
            <a:r>
              <a:rPr lang="en-US" sz="2800" dirty="0" smtClean="0"/>
              <a:t>simulated or </a:t>
            </a:r>
            <a:r>
              <a:rPr lang="en-US" sz="2800" dirty="0"/>
              <a:t>real </a:t>
            </a:r>
            <a:r>
              <a:rPr lang="en-US" sz="2800" dirty="0" smtClean="0"/>
              <a:t>crisis</a:t>
            </a:r>
          </a:p>
          <a:p>
            <a:pPr>
              <a:buFont typeface="Wingdings" panose="05000000000000000000" pitchFamily="2" charset="2"/>
              <a:buChar char="Ø"/>
            </a:pPr>
            <a:r>
              <a:rPr lang="en-US" sz="2800" dirty="0"/>
              <a:t> </a:t>
            </a:r>
            <a:r>
              <a:rPr lang="en-US" sz="2800" dirty="0" smtClean="0"/>
              <a:t>Running </a:t>
            </a:r>
            <a:r>
              <a:rPr lang="en-US" sz="2800" dirty="0"/>
              <a:t>simulated crises and </a:t>
            </a:r>
            <a:r>
              <a:rPr lang="en-US" sz="2800" dirty="0" smtClean="0"/>
              <a:t>drills: determine </a:t>
            </a:r>
            <a:r>
              <a:rPr lang="en-US" sz="2800" dirty="0"/>
              <a:t>the fitness of the preparation </a:t>
            </a:r>
            <a:r>
              <a:rPr lang="en-US" sz="2800" dirty="0" smtClean="0"/>
              <a:t>components:</a:t>
            </a:r>
          </a:p>
          <a:p>
            <a:pPr marL="914400" indent="-109538">
              <a:buFont typeface="Wingdings" panose="05000000000000000000" pitchFamily="2" charset="2"/>
              <a:buChar char="§"/>
            </a:pPr>
            <a:r>
              <a:rPr lang="en-US" sz="2800" dirty="0" smtClean="0"/>
              <a:t> CCP</a:t>
            </a:r>
          </a:p>
          <a:p>
            <a:pPr marL="914400" indent="-109538">
              <a:buFont typeface="Wingdings" panose="05000000000000000000" pitchFamily="2" charset="2"/>
              <a:buChar char="§"/>
            </a:pPr>
            <a:r>
              <a:rPr lang="en-US" sz="2800" dirty="0"/>
              <a:t> </a:t>
            </a:r>
            <a:r>
              <a:rPr lang="en-US" sz="2800" dirty="0" smtClean="0"/>
              <a:t>Crisis </a:t>
            </a:r>
            <a:r>
              <a:rPr lang="en-US" sz="2800" dirty="0"/>
              <a:t>team </a:t>
            </a:r>
            <a:r>
              <a:rPr lang="en-US" sz="2800" dirty="0" smtClean="0"/>
              <a:t>members</a:t>
            </a:r>
          </a:p>
          <a:p>
            <a:pPr marL="804862" indent="0">
              <a:buNone/>
            </a:pPr>
            <a:endParaRPr lang="en-US" sz="2800" dirty="0"/>
          </a:p>
        </p:txBody>
      </p:sp>
      <p:sp>
        <p:nvSpPr>
          <p:cNvPr id="4" name="Content Placeholder 2"/>
          <p:cNvSpPr txBox="1">
            <a:spLocks/>
          </p:cNvSpPr>
          <p:nvPr/>
        </p:nvSpPr>
        <p:spPr>
          <a:xfrm>
            <a:off x="6118643" y="3829753"/>
            <a:ext cx="4767072" cy="201587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Font typeface="Tw Cen MT" panose="020B0602020104020603" pitchFamily="34" charset="0"/>
              <a:buNone/>
            </a:pPr>
            <a:endParaRPr lang="en-US" sz="2800" dirty="0" smtClean="0"/>
          </a:p>
          <a:p>
            <a:pPr marL="914400" indent="-109538">
              <a:buFont typeface="Wingdings" panose="05000000000000000000" pitchFamily="2" charset="2"/>
              <a:buChar char="§"/>
            </a:pPr>
            <a:r>
              <a:rPr lang="en-US" sz="2800" dirty="0" smtClean="0"/>
              <a:t> Spokespersons</a:t>
            </a:r>
          </a:p>
          <a:p>
            <a:pPr marL="914400" indent="-109538">
              <a:buFont typeface="Wingdings" panose="05000000000000000000" pitchFamily="2" charset="2"/>
              <a:buChar char="§"/>
            </a:pPr>
            <a:r>
              <a:rPr lang="en-US" sz="2800" dirty="0" smtClean="0"/>
              <a:t> Communication system</a:t>
            </a:r>
            <a:endParaRPr lang="en-US" sz="2800" dirty="0"/>
          </a:p>
        </p:txBody>
      </p:sp>
    </p:spTree>
    <p:extLst>
      <p:ext uri="{BB962C8B-B14F-4D97-AF65-F5344CB8AC3E}">
        <p14:creationId xmlns:p14="http://schemas.microsoft.com/office/powerpoint/2010/main" val="425656991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CRISIS MANAGEMENT DEFINED</a:t>
            </a:r>
            <a:endParaRPr lang="vi-VN" dirty="0"/>
          </a:p>
        </p:txBody>
      </p:sp>
      <p:sp>
        <p:nvSpPr>
          <p:cNvPr id="3" name="Content Placeholder 2"/>
          <p:cNvSpPr>
            <a:spLocks noGrp="1"/>
          </p:cNvSpPr>
          <p:nvPr>
            <p:ph idx="1"/>
          </p:nvPr>
        </p:nvSpPr>
        <p:spPr>
          <a:xfrm>
            <a:off x="926157" y="1925445"/>
            <a:ext cx="10460301" cy="3616077"/>
          </a:xfrm>
        </p:spPr>
        <p:txBody>
          <a:bodyPr>
            <a:noAutofit/>
          </a:bodyPr>
          <a:lstStyle/>
          <a:p>
            <a:pPr marL="0" indent="0">
              <a:buNone/>
            </a:pPr>
            <a:r>
              <a:rPr lang="en-US" sz="2800" b="1" dirty="0" smtClean="0"/>
              <a:t>Responses </a:t>
            </a:r>
            <a:r>
              <a:rPr lang="en-US" sz="2800" b="1" dirty="0"/>
              <a:t>in an actual crisis</a:t>
            </a:r>
            <a:r>
              <a:rPr lang="en-US" sz="2800" dirty="0" smtClean="0"/>
              <a:t>:</a:t>
            </a:r>
            <a:endParaRPr lang="en-US" sz="2800" dirty="0"/>
          </a:p>
          <a:p>
            <a:pPr>
              <a:buFont typeface="Wingdings" panose="05000000000000000000" pitchFamily="2" charset="2"/>
              <a:buChar char="Ø"/>
            </a:pPr>
            <a:r>
              <a:rPr lang="en-US" sz="2800" dirty="0"/>
              <a:t> </a:t>
            </a:r>
            <a:r>
              <a:rPr lang="en-US" sz="2800" dirty="0" smtClean="0"/>
              <a:t>The </a:t>
            </a:r>
            <a:r>
              <a:rPr lang="en-US" sz="2800" dirty="0"/>
              <a:t>execution of the same crisis management </a:t>
            </a:r>
            <a:r>
              <a:rPr lang="en-US" sz="2800" dirty="0" smtClean="0"/>
              <a:t>resources with the real outcomes</a:t>
            </a:r>
          </a:p>
          <a:p>
            <a:pPr>
              <a:buFont typeface="Wingdings" panose="05000000000000000000" pitchFamily="2" charset="2"/>
              <a:buChar char="Ø"/>
            </a:pPr>
            <a:r>
              <a:rPr lang="en-US" sz="2800" dirty="0" smtClean="0"/>
              <a:t> Very </a:t>
            </a:r>
            <a:r>
              <a:rPr lang="en-US" sz="2800" i="1" dirty="0" smtClean="0"/>
              <a:t>public</a:t>
            </a:r>
            <a:r>
              <a:rPr lang="en-US" sz="2800" dirty="0" smtClean="0"/>
              <a:t>: frequently </a:t>
            </a:r>
            <a:r>
              <a:rPr lang="en-US" sz="2800" dirty="0"/>
              <a:t>reported and critiqued in the news </a:t>
            </a:r>
            <a:r>
              <a:rPr lang="en-US" sz="2800" dirty="0" smtClean="0"/>
              <a:t>media</a:t>
            </a:r>
          </a:p>
          <a:p>
            <a:pPr>
              <a:buFont typeface="Wingdings" panose="05000000000000000000" pitchFamily="2" charset="2"/>
              <a:buChar char="Ø"/>
            </a:pPr>
            <a:r>
              <a:rPr lang="en-US" sz="2800" dirty="0"/>
              <a:t> </a:t>
            </a:r>
            <a:r>
              <a:rPr lang="en-US" sz="2800" dirty="0" smtClean="0"/>
              <a:t>Seek </a:t>
            </a:r>
            <a:r>
              <a:rPr lang="en-US" sz="2800" dirty="0"/>
              <a:t>to achieve outcomes related to </a:t>
            </a:r>
            <a:r>
              <a:rPr lang="en-US" sz="2800" i="1" dirty="0"/>
              <a:t>reducing the negative impact</a:t>
            </a:r>
            <a:r>
              <a:rPr lang="en-US" sz="2800" dirty="0"/>
              <a:t> of a crisis </a:t>
            </a:r>
            <a:r>
              <a:rPr lang="en-US" sz="2800" dirty="0" smtClean="0"/>
              <a:t>on stakeholders </a:t>
            </a:r>
            <a:r>
              <a:rPr lang="en-US" sz="2800" dirty="0"/>
              <a:t>and the </a:t>
            </a:r>
            <a:r>
              <a:rPr lang="en-US" sz="2800" dirty="0" smtClean="0"/>
              <a:t>organization or even </a:t>
            </a:r>
            <a:r>
              <a:rPr lang="en-US" sz="2800" i="1" dirty="0" smtClean="0"/>
              <a:t>leading </a:t>
            </a:r>
            <a:r>
              <a:rPr lang="en-US" sz="2800" i="1" dirty="0"/>
              <a:t>to an improved </a:t>
            </a:r>
            <a:r>
              <a:rPr lang="en-US" sz="2800" i="1" dirty="0" smtClean="0"/>
              <a:t>organization</a:t>
            </a:r>
          </a:p>
          <a:p>
            <a:pPr>
              <a:buFont typeface="Wingdings" panose="05000000000000000000" pitchFamily="2" charset="2"/>
              <a:buChar char="Ø"/>
            </a:pPr>
            <a:r>
              <a:rPr lang="en-US" sz="2800" i="1" dirty="0"/>
              <a:t> </a:t>
            </a:r>
            <a:r>
              <a:rPr lang="en-US" sz="2800" i="1" dirty="0" smtClean="0"/>
              <a:t>Recovery: </a:t>
            </a:r>
            <a:r>
              <a:rPr lang="en-US" sz="2800" dirty="0"/>
              <a:t>the organization’s attempts to return to normal operations as </a:t>
            </a:r>
            <a:r>
              <a:rPr lang="en-US" sz="2800" dirty="0" smtClean="0"/>
              <a:t>soon as </a:t>
            </a:r>
            <a:r>
              <a:rPr lang="en-US" sz="2800" dirty="0"/>
              <a:t>possible following a </a:t>
            </a:r>
            <a:r>
              <a:rPr lang="en-US" sz="2800" dirty="0" smtClean="0"/>
              <a:t>crisis</a:t>
            </a:r>
            <a:endParaRPr lang="en-US" sz="2800" dirty="0"/>
          </a:p>
        </p:txBody>
      </p:sp>
    </p:spTree>
    <p:extLst>
      <p:ext uri="{BB962C8B-B14F-4D97-AF65-F5344CB8AC3E}">
        <p14:creationId xmlns:p14="http://schemas.microsoft.com/office/powerpoint/2010/main" val="183532963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CRISIS MANAGEMENT DEFINED</a:t>
            </a:r>
            <a:endParaRPr lang="vi-VN" dirty="0"/>
          </a:p>
        </p:txBody>
      </p:sp>
      <p:sp>
        <p:nvSpPr>
          <p:cNvPr id="3" name="Content Placeholder 2"/>
          <p:cNvSpPr>
            <a:spLocks noGrp="1"/>
          </p:cNvSpPr>
          <p:nvPr>
            <p:ph idx="1"/>
          </p:nvPr>
        </p:nvSpPr>
        <p:spPr>
          <a:xfrm>
            <a:off x="926157" y="2186707"/>
            <a:ext cx="10460301" cy="3616077"/>
          </a:xfrm>
        </p:spPr>
        <p:txBody>
          <a:bodyPr>
            <a:noAutofit/>
          </a:bodyPr>
          <a:lstStyle/>
          <a:p>
            <a:pPr marL="0" indent="0">
              <a:buNone/>
            </a:pPr>
            <a:r>
              <a:rPr lang="en-US" sz="2800" b="1" dirty="0"/>
              <a:t>Revision</a:t>
            </a:r>
            <a:r>
              <a:rPr lang="en-US" sz="2800" dirty="0" smtClean="0"/>
              <a:t>:</a:t>
            </a:r>
            <a:endParaRPr lang="en-US" sz="2800" dirty="0"/>
          </a:p>
          <a:p>
            <a:pPr>
              <a:buFont typeface="Wingdings" panose="05000000000000000000" pitchFamily="2" charset="2"/>
              <a:buChar char="Ø"/>
            </a:pPr>
            <a:r>
              <a:rPr lang="en-US" sz="2800" dirty="0"/>
              <a:t> </a:t>
            </a:r>
            <a:r>
              <a:rPr lang="en-US" sz="2800" dirty="0" smtClean="0"/>
              <a:t>Evaluating </a:t>
            </a:r>
            <a:r>
              <a:rPr lang="en-US" sz="2800" dirty="0"/>
              <a:t>the organization’s </a:t>
            </a:r>
            <a:r>
              <a:rPr lang="en-US" sz="2800" dirty="0" smtClean="0"/>
              <a:t>response</a:t>
            </a:r>
          </a:p>
          <a:p>
            <a:pPr>
              <a:buFont typeface="Wingdings" panose="05000000000000000000" pitchFamily="2" charset="2"/>
              <a:buChar char="Ø"/>
            </a:pPr>
            <a:r>
              <a:rPr lang="en-US" sz="2800" dirty="0"/>
              <a:t> </a:t>
            </a:r>
            <a:r>
              <a:rPr lang="en-US" sz="2800" dirty="0" smtClean="0"/>
              <a:t>Revising </a:t>
            </a:r>
            <a:r>
              <a:rPr lang="en-US" sz="2800" dirty="0"/>
              <a:t>the organization’s</a:t>
            </a:r>
            <a:r>
              <a:rPr lang="en-US" sz="2800" dirty="0" smtClean="0"/>
              <a:t> </a:t>
            </a:r>
            <a:r>
              <a:rPr lang="en-US" sz="2800" dirty="0"/>
              <a:t>prevention, preparation, and response </a:t>
            </a:r>
            <a:r>
              <a:rPr lang="en-US" sz="2800" dirty="0" smtClean="0"/>
              <a:t>efforts</a:t>
            </a:r>
          </a:p>
          <a:p>
            <a:pPr>
              <a:buFont typeface="Wingdings" panose="05000000000000000000" pitchFamily="2" charset="2"/>
              <a:buChar char="Ø"/>
            </a:pPr>
            <a:r>
              <a:rPr lang="en-US" sz="2800" dirty="0" smtClean="0"/>
              <a:t> Expanding </a:t>
            </a:r>
            <a:r>
              <a:rPr lang="en-US" sz="2800" dirty="0"/>
              <a:t>the organization’s perception of crises and its response capacity </a:t>
            </a:r>
            <a:endParaRPr lang="en-US" sz="2800" dirty="0" smtClean="0"/>
          </a:p>
          <a:p>
            <a:pPr marL="0" indent="0">
              <a:buNone/>
            </a:pPr>
            <a:r>
              <a:rPr lang="en-US" sz="2800" dirty="0" smtClean="0">
                <a:sym typeface="Wingdings" panose="05000000000000000000" pitchFamily="2" charset="2"/>
              </a:rPr>
              <a:t> </a:t>
            </a:r>
            <a:r>
              <a:rPr lang="en-US" sz="2800" dirty="0" smtClean="0"/>
              <a:t>Improve </a:t>
            </a:r>
            <a:r>
              <a:rPr lang="en-US" sz="2800" dirty="0"/>
              <a:t>the effectiveness of </a:t>
            </a:r>
            <a:r>
              <a:rPr lang="en-US" sz="2800" dirty="0" smtClean="0"/>
              <a:t>crisis management</a:t>
            </a:r>
            <a:endParaRPr lang="en-US" sz="2800" dirty="0"/>
          </a:p>
        </p:txBody>
      </p:sp>
    </p:spTree>
    <p:extLst>
      <p:ext uri="{BB962C8B-B14F-4D97-AF65-F5344CB8AC3E}">
        <p14:creationId xmlns:p14="http://schemas.microsoft.com/office/powerpoint/2010/main" val="165340685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INITIAL </a:t>
            </a:r>
            <a:r>
              <a:rPr lang="en-US" dirty="0"/>
              <a:t>CRISIS </a:t>
            </a:r>
            <a:r>
              <a:rPr lang="en-US" dirty="0" smtClean="0"/>
              <a:t>MANAGEMENT FRAMEWORK</a:t>
            </a:r>
            <a:endParaRPr lang="vi-VN" dirty="0"/>
          </a:p>
        </p:txBody>
      </p:sp>
      <p:sp>
        <p:nvSpPr>
          <p:cNvPr id="3" name="Content Placeholder 2"/>
          <p:cNvSpPr>
            <a:spLocks noGrp="1"/>
          </p:cNvSpPr>
          <p:nvPr>
            <p:ph idx="1"/>
          </p:nvPr>
        </p:nvSpPr>
        <p:spPr>
          <a:xfrm>
            <a:off x="820848" y="2603500"/>
            <a:ext cx="10337010" cy="3416300"/>
          </a:xfrm>
        </p:spPr>
        <p:txBody>
          <a:bodyPr>
            <a:normAutofit/>
          </a:bodyPr>
          <a:lstStyle/>
          <a:p>
            <a:pPr>
              <a:buFont typeface="Wingdings" panose="05000000000000000000" pitchFamily="2" charset="2"/>
              <a:buChar char="Ø"/>
            </a:pPr>
            <a:r>
              <a:rPr lang="en-US" sz="2800" dirty="0" smtClean="0"/>
              <a:t> Crisis </a:t>
            </a:r>
            <a:r>
              <a:rPr lang="en-US" sz="2800" dirty="0"/>
              <a:t>management: appropriately viewed as an ongoing </a:t>
            </a:r>
            <a:r>
              <a:rPr lang="en-US" sz="2800" dirty="0" smtClean="0"/>
              <a:t>process</a:t>
            </a:r>
            <a:endParaRPr lang="en-US" sz="2800" dirty="0"/>
          </a:p>
          <a:p>
            <a:pPr>
              <a:buFont typeface="Wingdings" panose="05000000000000000000" pitchFamily="2" charset="2"/>
              <a:buChar char="Ø"/>
            </a:pPr>
            <a:r>
              <a:rPr lang="en-US" sz="2800" dirty="0" smtClean="0"/>
              <a:t> Crisis </a:t>
            </a:r>
            <a:r>
              <a:rPr lang="en-US" sz="2800" dirty="0"/>
              <a:t>life </a:t>
            </a:r>
            <a:r>
              <a:rPr lang="en-US" sz="2800" dirty="0" smtClean="0"/>
              <a:t>cycle: </a:t>
            </a:r>
            <a:r>
              <a:rPr lang="en-US" sz="2800" dirty="0"/>
              <a:t>“staged approaches” to crisis </a:t>
            </a:r>
            <a:r>
              <a:rPr lang="en-US" sz="2800" dirty="0" smtClean="0"/>
              <a:t>management </a:t>
            </a:r>
            <a:endParaRPr lang="en-US" sz="2800" dirty="0"/>
          </a:p>
          <a:p>
            <a:pPr marL="631825" indent="-228600">
              <a:buFont typeface="Wingdings" panose="05000000000000000000" pitchFamily="2" charset="2"/>
              <a:buChar char="§"/>
            </a:pPr>
            <a:r>
              <a:rPr lang="en-US" sz="2800" dirty="0" smtClean="0"/>
              <a:t>The </a:t>
            </a:r>
            <a:r>
              <a:rPr lang="en-US" sz="2800" dirty="0"/>
              <a:t>crisis management function is divided into </a:t>
            </a:r>
            <a:r>
              <a:rPr lang="en-US" sz="2800" i="1" dirty="0"/>
              <a:t>discrete segments</a:t>
            </a:r>
            <a:r>
              <a:rPr lang="en-US" sz="2800" dirty="0"/>
              <a:t> that are executed in a </a:t>
            </a:r>
            <a:r>
              <a:rPr lang="en-US" sz="2800" i="1" dirty="0"/>
              <a:t>specific </a:t>
            </a:r>
            <a:r>
              <a:rPr lang="en-US" sz="2800" i="1" dirty="0" smtClean="0"/>
              <a:t>order</a:t>
            </a:r>
          </a:p>
        </p:txBody>
      </p:sp>
    </p:spTree>
    <p:extLst>
      <p:ext uri="{BB962C8B-B14F-4D97-AF65-F5344CB8AC3E}">
        <p14:creationId xmlns:p14="http://schemas.microsoft.com/office/powerpoint/2010/main" val="271816009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INITIAL </a:t>
            </a:r>
            <a:r>
              <a:rPr lang="en-US" dirty="0"/>
              <a:t>CRISIS </a:t>
            </a:r>
            <a:r>
              <a:rPr lang="en-US" dirty="0" smtClean="0"/>
              <a:t>MANAGEMENT FRAMEWORK</a:t>
            </a:r>
            <a:endParaRPr lang="vi-VN" dirty="0"/>
          </a:p>
        </p:txBody>
      </p:sp>
      <p:sp>
        <p:nvSpPr>
          <p:cNvPr id="3" name="Content Placeholder 2"/>
          <p:cNvSpPr>
            <a:spLocks noGrp="1"/>
          </p:cNvSpPr>
          <p:nvPr>
            <p:ph idx="1"/>
          </p:nvPr>
        </p:nvSpPr>
        <p:spPr>
          <a:xfrm>
            <a:off x="820848" y="2603500"/>
            <a:ext cx="10337010" cy="3416300"/>
          </a:xfrm>
        </p:spPr>
        <p:txBody>
          <a:bodyPr>
            <a:normAutofit/>
          </a:bodyPr>
          <a:lstStyle/>
          <a:p>
            <a:pPr marL="0" indent="0">
              <a:buNone/>
            </a:pPr>
            <a:r>
              <a:rPr lang="en-US" sz="2800" b="1" dirty="0"/>
              <a:t> Past Staged Approaches to Crisis </a:t>
            </a:r>
            <a:r>
              <a:rPr lang="en-US" sz="2800" b="1" dirty="0" smtClean="0"/>
              <a:t>Management:</a:t>
            </a:r>
            <a:endParaRPr lang="en-US" sz="2800" b="1" dirty="0"/>
          </a:p>
          <a:p>
            <a:pPr>
              <a:buFont typeface="Wingdings" panose="05000000000000000000" pitchFamily="2" charset="2"/>
              <a:buChar char="Ø"/>
            </a:pPr>
            <a:r>
              <a:rPr lang="en-US" sz="2800" dirty="0" smtClean="0"/>
              <a:t> Fink’s four-stage model </a:t>
            </a:r>
            <a:r>
              <a:rPr lang="en-US" sz="2800" dirty="0"/>
              <a:t>(1986) </a:t>
            </a:r>
          </a:p>
          <a:p>
            <a:pPr>
              <a:buFont typeface="Wingdings" panose="05000000000000000000" pitchFamily="2" charset="2"/>
              <a:buChar char="Ø"/>
            </a:pPr>
            <a:r>
              <a:rPr lang="en-US" sz="2800" dirty="0" smtClean="0"/>
              <a:t> </a:t>
            </a:r>
            <a:r>
              <a:rPr lang="en-US" sz="2800" dirty="0" err="1" smtClean="0"/>
              <a:t>Mitroff’s</a:t>
            </a:r>
            <a:r>
              <a:rPr lang="en-US" sz="2800" dirty="0" smtClean="0"/>
              <a:t> five-stage model </a:t>
            </a:r>
            <a:r>
              <a:rPr lang="en-US" sz="2800" dirty="0"/>
              <a:t>(1994) </a:t>
            </a:r>
          </a:p>
          <a:p>
            <a:pPr>
              <a:buFont typeface="Wingdings" panose="05000000000000000000" pitchFamily="2" charset="2"/>
              <a:buChar char="Ø"/>
            </a:pPr>
            <a:r>
              <a:rPr lang="en-US" sz="2800" dirty="0" smtClean="0"/>
              <a:t> Basic </a:t>
            </a:r>
            <a:r>
              <a:rPr lang="en-US" sz="2800" dirty="0"/>
              <a:t>three-stage model</a:t>
            </a:r>
          </a:p>
        </p:txBody>
      </p:sp>
    </p:spTree>
    <p:extLst>
      <p:ext uri="{BB962C8B-B14F-4D97-AF65-F5344CB8AC3E}">
        <p14:creationId xmlns:p14="http://schemas.microsoft.com/office/powerpoint/2010/main" val="331422543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INITIAL </a:t>
            </a:r>
            <a:r>
              <a:rPr lang="en-US" dirty="0"/>
              <a:t>CRISIS </a:t>
            </a:r>
            <a:r>
              <a:rPr lang="en-US" dirty="0" smtClean="0"/>
              <a:t>MANAGEMENT FRAMEWORK</a:t>
            </a:r>
            <a:endParaRPr lang="vi-VN" dirty="0"/>
          </a:p>
        </p:txBody>
      </p:sp>
      <p:pic>
        <p:nvPicPr>
          <p:cNvPr id="5" name="Content Placeholder 4"/>
          <p:cNvPicPr>
            <a:picLocks noChangeAspect="1"/>
          </p:cNvPicPr>
          <p:nvPr/>
        </p:nvPicPr>
        <p:blipFill>
          <a:blip r:embed="rId3">
            <a:duotone>
              <a:prstClr val="black"/>
              <a:schemeClr val="accent1">
                <a:tint val="45000"/>
                <a:satMod val="400000"/>
              </a:schemeClr>
            </a:duotone>
          </a:blip>
          <a:stretch>
            <a:fillRect/>
          </a:stretch>
        </p:blipFill>
        <p:spPr>
          <a:xfrm>
            <a:off x="2068285" y="2084832"/>
            <a:ext cx="8175172" cy="4125907"/>
          </a:xfrm>
          <a:prstGeom prst="rect">
            <a:avLst/>
          </a:prstGeom>
        </p:spPr>
      </p:pic>
    </p:spTree>
    <p:extLst>
      <p:ext uri="{BB962C8B-B14F-4D97-AF65-F5344CB8AC3E}">
        <p14:creationId xmlns:p14="http://schemas.microsoft.com/office/powerpoint/2010/main" val="225634834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INITIAL </a:t>
            </a:r>
            <a:r>
              <a:rPr lang="en-US" dirty="0"/>
              <a:t>CRISIS </a:t>
            </a:r>
            <a:r>
              <a:rPr lang="en-US" dirty="0" smtClean="0"/>
              <a:t>MANAGEMENT FRAMEWORK</a:t>
            </a:r>
            <a:endParaRPr lang="vi-VN" dirty="0"/>
          </a:p>
        </p:txBody>
      </p:sp>
      <p:pic>
        <p:nvPicPr>
          <p:cNvPr id="3" name="Picture 2"/>
          <p:cNvPicPr>
            <a:picLocks noChangeAspect="1"/>
          </p:cNvPicPr>
          <p:nvPr/>
        </p:nvPicPr>
        <p:blipFill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rcRect r="37496"/>
          <a:stretch/>
        </p:blipFill>
        <p:spPr>
          <a:xfrm>
            <a:off x="6413046" y="1538840"/>
            <a:ext cx="4897211" cy="4589818"/>
          </a:xfrm>
          <a:prstGeom prst="rect">
            <a:avLst/>
          </a:prstGeom>
        </p:spPr>
      </p:pic>
      <p:sp>
        <p:nvSpPr>
          <p:cNvPr id="6" name="Content Placeholder 2"/>
          <p:cNvSpPr>
            <a:spLocks noGrp="1"/>
          </p:cNvSpPr>
          <p:nvPr>
            <p:ph idx="1"/>
          </p:nvPr>
        </p:nvSpPr>
        <p:spPr>
          <a:xfrm>
            <a:off x="1024128" y="2712358"/>
            <a:ext cx="10337010" cy="3416300"/>
          </a:xfrm>
        </p:spPr>
        <p:txBody>
          <a:bodyPr>
            <a:normAutofit/>
          </a:bodyPr>
          <a:lstStyle/>
          <a:p>
            <a:pPr marL="0" indent="0">
              <a:buNone/>
            </a:pPr>
            <a:r>
              <a:rPr lang="en-US" sz="2800" b="1" dirty="0" smtClean="0"/>
              <a:t>Basic </a:t>
            </a:r>
            <a:r>
              <a:rPr lang="en-US" sz="2800" b="1" dirty="0"/>
              <a:t>three-stage </a:t>
            </a:r>
            <a:r>
              <a:rPr lang="en-US" sz="2800" b="1" dirty="0" smtClean="0"/>
              <a:t>model:</a:t>
            </a:r>
            <a:endParaRPr lang="en-US" sz="2800" b="1" dirty="0"/>
          </a:p>
          <a:p>
            <a:pPr marL="0" indent="0">
              <a:buNone/>
            </a:pPr>
            <a:r>
              <a:rPr lang="en-US" sz="2800" dirty="0" smtClean="0"/>
              <a:t>(1) </a:t>
            </a:r>
            <a:r>
              <a:rPr lang="en-US" sz="2800" dirty="0" err="1" smtClean="0"/>
              <a:t>Precrisis</a:t>
            </a:r>
            <a:r>
              <a:rPr lang="en-US" sz="2800" dirty="0" smtClean="0"/>
              <a:t>/</a:t>
            </a:r>
            <a:r>
              <a:rPr lang="en-US" sz="2800" dirty="0" err="1" smtClean="0"/>
              <a:t>predisaster</a:t>
            </a:r>
            <a:r>
              <a:rPr lang="en-US" sz="2800" dirty="0" smtClean="0"/>
              <a:t> phase</a:t>
            </a:r>
          </a:p>
          <a:p>
            <a:pPr marL="0" indent="0">
              <a:buNone/>
            </a:pPr>
            <a:r>
              <a:rPr lang="en-US" sz="2800" dirty="0" smtClean="0"/>
              <a:t>(2) Crisis impact/rescue phase</a:t>
            </a:r>
          </a:p>
          <a:p>
            <a:pPr marL="0" indent="0">
              <a:buNone/>
            </a:pPr>
            <a:r>
              <a:rPr lang="en-US" sz="2800" dirty="0" smtClean="0"/>
              <a:t>(</a:t>
            </a:r>
            <a:r>
              <a:rPr lang="en-US" sz="2800" dirty="0"/>
              <a:t>3) </a:t>
            </a:r>
            <a:r>
              <a:rPr lang="en-US" sz="2800" dirty="0" smtClean="0"/>
              <a:t>Recovery/demise phase</a:t>
            </a:r>
          </a:p>
          <a:p>
            <a:pPr marL="0" indent="0">
              <a:buNone/>
            </a:pPr>
            <a:r>
              <a:rPr lang="en-US" sz="2800" i="1" dirty="0" smtClean="0"/>
              <a:t>(Richardson, 1994</a:t>
            </a:r>
            <a:r>
              <a:rPr lang="en-US" sz="2800" i="1" dirty="0"/>
              <a:t>)</a:t>
            </a:r>
          </a:p>
        </p:txBody>
      </p:sp>
    </p:spTree>
    <p:extLst>
      <p:ext uri="{BB962C8B-B14F-4D97-AF65-F5344CB8AC3E}">
        <p14:creationId xmlns:p14="http://schemas.microsoft.com/office/powerpoint/2010/main" val="422555439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INITIAL </a:t>
            </a:r>
            <a:r>
              <a:rPr lang="en-US" dirty="0"/>
              <a:t>CRISIS </a:t>
            </a:r>
            <a:r>
              <a:rPr lang="en-US" dirty="0" smtClean="0"/>
              <a:t>MANAGEMENT FRAMEWORK</a:t>
            </a:r>
            <a:endParaRPr lang="vi-VN" dirty="0"/>
          </a:p>
        </p:txBody>
      </p:sp>
      <p:graphicFrame>
        <p:nvGraphicFramePr>
          <p:cNvPr id="7" name="Content Placeholder 5"/>
          <p:cNvGraphicFramePr>
            <a:graphicFrameLocks noGrp="1"/>
          </p:cNvGraphicFramePr>
          <p:nvPr>
            <p:ph idx="1"/>
            <p:extLst>
              <p:ext uri="{D42A27DB-BD31-4B8C-83A1-F6EECF244321}">
                <p14:modId xmlns:p14="http://schemas.microsoft.com/office/powerpoint/2010/main" val="978573513"/>
              </p:ext>
            </p:extLst>
          </p:nvPr>
        </p:nvGraphicFramePr>
        <p:xfrm>
          <a:off x="865634" y="2226346"/>
          <a:ext cx="10640567" cy="3571652"/>
        </p:xfrm>
        <a:graphic>
          <a:graphicData uri="http://schemas.openxmlformats.org/drawingml/2006/table">
            <a:tbl>
              <a:tblPr firstRow="1" bandRow="1">
                <a:tableStyleId>{5C22544A-7EE6-4342-B048-85BDC9FD1C3A}</a:tableStyleId>
              </a:tblPr>
              <a:tblGrid>
                <a:gridCol w="2891181">
                  <a:extLst>
                    <a:ext uri="{9D8B030D-6E8A-4147-A177-3AD203B41FA5}">
                      <a16:colId xmlns:a16="http://schemas.microsoft.com/office/drawing/2014/main" val="20000"/>
                    </a:ext>
                  </a:extLst>
                </a:gridCol>
                <a:gridCol w="4544497">
                  <a:extLst>
                    <a:ext uri="{9D8B030D-6E8A-4147-A177-3AD203B41FA5}">
                      <a16:colId xmlns:a16="http://schemas.microsoft.com/office/drawing/2014/main" val="20001"/>
                    </a:ext>
                  </a:extLst>
                </a:gridCol>
                <a:gridCol w="3204889">
                  <a:extLst>
                    <a:ext uri="{9D8B030D-6E8A-4147-A177-3AD203B41FA5}">
                      <a16:colId xmlns:a16="http://schemas.microsoft.com/office/drawing/2014/main" val="20002"/>
                    </a:ext>
                  </a:extLst>
                </a:gridCol>
              </a:tblGrid>
              <a:tr h="522572">
                <a:tc>
                  <a:txBody>
                    <a:bodyPr/>
                    <a:lstStyle/>
                    <a:p>
                      <a:pPr algn="ctr"/>
                      <a:r>
                        <a:rPr lang="en-US" sz="2800" dirty="0"/>
                        <a:t>Fink</a:t>
                      </a:r>
                      <a:endParaRPr lang="vi-VN" sz="2800" dirty="0"/>
                    </a:p>
                  </a:txBody>
                  <a:tcPr anchor="ctr"/>
                </a:tc>
                <a:tc>
                  <a:txBody>
                    <a:bodyPr/>
                    <a:lstStyle/>
                    <a:p>
                      <a:pPr algn="ctr"/>
                      <a:r>
                        <a:rPr lang="en-US" sz="2800" dirty="0" err="1"/>
                        <a:t>Mitroff</a:t>
                      </a:r>
                      <a:endParaRPr lang="vi-VN" sz="2800" dirty="0"/>
                    </a:p>
                  </a:txBody>
                  <a:tcPr anchor="ctr"/>
                </a:tc>
                <a:tc>
                  <a:txBody>
                    <a:bodyPr/>
                    <a:lstStyle/>
                    <a:p>
                      <a:pPr algn="ctr"/>
                      <a:r>
                        <a:rPr lang="en-US" sz="2800" dirty="0" smtClean="0"/>
                        <a:t>Three-stage</a:t>
                      </a:r>
                      <a:endParaRPr lang="vi-VN" sz="2800" dirty="0"/>
                    </a:p>
                  </a:txBody>
                  <a:tcPr anchor="ctr"/>
                </a:tc>
                <a:extLst>
                  <a:ext uri="{0D108BD9-81ED-4DB2-BD59-A6C34878D82A}">
                    <a16:rowId xmlns:a16="http://schemas.microsoft.com/office/drawing/2014/main" val="10000"/>
                  </a:ext>
                </a:extLst>
              </a:tr>
              <a:tr h="648353">
                <a:tc rowSpan="2">
                  <a:txBody>
                    <a:bodyPr/>
                    <a:lstStyle/>
                    <a:p>
                      <a:pPr algn="ctr"/>
                      <a:r>
                        <a:rPr lang="en-US" sz="2800" dirty="0"/>
                        <a:t>Prodromal</a:t>
                      </a:r>
                      <a:endParaRPr lang="vi-VN" sz="2800" dirty="0"/>
                    </a:p>
                  </a:txBody>
                  <a:tcPr anchor="ctr"/>
                </a:tc>
                <a:tc>
                  <a:txBody>
                    <a:bodyPr/>
                    <a:lstStyle/>
                    <a:p>
                      <a:pPr algn="ctr"/>
                      <a:r>
                        <a:rPr lang="en-US" sz="2800" dirty="0"/>
                        <a:t>Signal </a:t>
                      </a:r>
                      <a:r>
                        <a:rPr lang="en-US" sz="2800" dirty="0" smtClean="0"/>
                        <a:t>detection</a:t>
                      </a:r>
                      <a:endParaRPr lang="en-US" sz="2800" dirty="0"/>
                    </a:p>
                  </a:txBody>
                  <a:tcPr anchor="ctr"/>
                </a:tc>
                <a:tc rowSpan="2">
                  <a:txBody>
                    <a:bodyPr/>
                    <a:lstStyle/>
                    <a:p>
                      <a:pPr algn="ctr"/>
                      <a:r>
                        <a:rPr lang="en-US" sz="2800" dirty="0"/>
                        <a:t>Pre crisis</a:t>
                      </a:r>
                      <a:endParaRPr lang="vi-VN" sz="2800" dirty="0"/>
                    </a:p>
                  </a:txBody>
                  <a:tcPr anchor="ctr"/>
                </a:tc>
                <a:extLst>
                  <a:ext uri="{0D108BD9-81ED-4DB2-BD59-A6C34878D82A}">
                    <a16:rowId xmlns:a16="http://schemas.microsoft.com/office/drawing/2014/main" val="10001"/>
                  </a:ext>
                </a:extLst>
              </a:tr>
              <a:tr h="628652">
                <a:tc vMerge="1">
                  <a:txBody>
                    <a:bodyPr/>
                    <a:lstStyle/>
                    <a:p>
                      <a:endParaRPr lang="en-US"/>
                    </a:p>
                  </a:txBody>
                  <a:tcPr/>
                </a:tc>
                <a:tc>
                  <a:txBody>
                    <a:bodyPr/>
                    <a:lstStyle/>
                    <a:p>
                      <a:pPr algn="ctr"/>
                      <a:r>
                        <a:rPr lang="en-US" sz="2800" dirty="0" smtClean="0"/>
                        <a:t>Probing and prevention</a:t>
                      </a:r>
                      <a:endParaRPr lang="vi-VN" sz="2800" dirty="0"/>
                    </a:p>
                  </a:txBody>
                  <a:tcPr anchor="ctr"/>
                </a:tc>
                <a:tc vMerge="1">
                  <a:txBody>
                    <a:bodyPr/>
                    <a:lstStyle/>
                    <a:p>
                      <a:endParaRPr lang="en-US"/>
                    </a:p>
                  </a:txBody>
                  <a:tcPr/>
                </a:tc>
                <a:extLst>
                  <a:ext uri="{0D108BD9-81ED-4DB2-BD59-A6C34878D82A}">
                    <a16:rowId xmlns:a16="http://schemas.microsoft.com/office/drawing/2014/main" val="3335428544"/>
                  </a:ext>
                </a:extLst>
              </a:tr>
              <a:tr h="627089">
                <a:tc>
                  <a:txBody>
                    <a:bodyPr/>
                    <a:lstStyle/>
                    <a:p>
                      <a:pPr algn="ctr"/>
                      <a:r>
                        <a:rPr lang="en-US" sz="2800" dirty="0"/>
                        <a:t>Crisis</a:t>
                      </a:r>
                      <a:r>
                        <a:rPr lang="en-US" sz="2800" baseline="0" dirty="0"/>
                        <a:t> breakout</a:t>
                      </a:r>
                      <a:endParaRPr lang="vi-VN" sz="2800" dirty="0"/>
                    </a:p>
                  </a:txBody>
                  <a:tcPr anchor="ctr"/>
                </a:tc>
                <a:tc>
                  <a:txBody>
                    <a:bodyPr/>
                    <a:lstStyle/>
                    <a:p>
                      <a:pPr algn="ctr"/>
                      <a:r>
                        <a:rPr lang="en-US" sz="2800" dirty="0"/>
                        <a:t>Damage</a:t>
                      </a:r>
                      <a:r>
                        <a:rPr lang="en-US" sz="2800" baseline="0" dirty="0"/>
                        <a:t> containment</a:t>
                      </a:r>
                      <a:endParaRPr lang="vi-VN" sz="2800" dirty="0"/>
                    </a:p>
                  </a:txBody>
                  <a:tcPr anchor="ctr"/>
                </a:tc>
                <a:tc rowSpan="2">
                  <a:txBody>
                    <a:bodyPr/>
                    <a:lstStyle/>
                    <a:p>
                      <a:pPr algn="ctr"/>
                      <a:r>
                        <a:rPr lang="en-US" sz="2800" dirty="0"/>
                        <a:t>Crisis</a:t>
                      </a:r>
                      <a:endParaRPr lang="vi-VN" sz="2800" dirty="0"/>
                    </a:p>
                  </a:txBody>
                  <a:tcPr anchor="ctr"/>
                </a:tc>
                <a:extLst>
                  <a:ext uri="{0D108BD9-81ED-4DB2-BD59-A6C34878D82A}">
                    <a16:rowId xmlns:a16="http://schemas.microsoft.com/office/drawing/2014/main" val="10002"/>
                  </a:ext>
                </a:extLst>
              </a:tr>
              <a:tr h="562315">
                <a:tc>
                  <a:txBody>
                    <a:bodyPr/>
                    <a:lstStyle/>
                    <a:p>
                      <a:pPr algn="ctr"/>
                      <a:r>
                        <a:rPr lang="en-US" sz="2800" dirty="0"/>
                        <a:t>Chronic</a:t>
                      </a:r>
                      <a:endParaRPr lang="vi-VN" sz="2800" dirty="0"/>
                    </a:p>
                  </a:txBody>
                  <a:tcPr anchor="ctr"/>
                </a:tc>
                <a:tc>
                  <a:txBody>
                    <a:bodyPr/>
                    <a:lstStyle/>
                    <a:p>
                      <a:pPr algn="ctr"/>
                      <a:r>
                        <a:rPr lang="en-US" sz="2800" dirty="0"/>
                        <a:t>Recovery</a:t>
                      </a:r>
                      <a:endParaRPr lang="vi-VN" sz="2800" dirty="0"/>
                    </a:p>
                  </a:txBody>
                  <a:tcPr anchor="ctr"/>
                </a:tc>
                <a:tc vMerge="1">
                  <a:txBody>
                    <a:bodyPr/>
                    <a:lstStyle/>
                    <a:p>
                      <a:endParaRPr lang="vi-VN" dirty="0"/>
                    </a:p>
                  </a:txBody>
                  <a:tcPr/>
                </a:tc>
                <a:extLst>
                  <a:ext uri="{0D108BD9-81ED-4DB2-BD59-A6C34878D82A}">
                    <a16:rowId xmlns:a16="http://schemas.microsoft.com/office/drawing/2014/main" val="10003"/>
                  </a:ext>
                </a:extLst>
              </a:tr>
              <a:tr h="582671">
                <a:tc>
                  <a:txBody>
                    <a:bodyPr/>
                    <a:lstStyle/>
                    <a:p>
                      <a:pPr algn="ctr"/>
                      <a:r>
                        <a:rPr lang="en-US" sz="2800" dirty="0"/>
                        <a:t>Resolution</a:t>
                      </a:r>
                      <a:endParaRPr lang="vi-VN" sz="2800" dirty="0"/>
                    </a:p>
                  </a:txBody>
                  <a:tcPr anchor="ctr"/>
                </a:tc>
                <a:tc>
                  <a:txBody>
                    <a:bodyPr/>
                    <a:lstStyle/>
                    <a:p>
                      <a:pPr algn="ctr"/>
                      <a:r>
                        <a:rPr lang="en-US" sz="2800" dirty="0"/>
                        <a:t>Learning</a:t>
                      </a:r>
                      <a:endParaRPr lang="vi-VN" sz="2800" dirty="0"/>
                    </a:p>
                  </a:txBody>
                  <a:tcPr anchor="ctr"/>
                </a:tc>
                <a:tc>
                  <a:txBody>
                    <a:bodyPr/>
                    <a:lstStyle/>
                    <a:p>
                      <a:pPr algn="ctr"/>
                      <a:r>
                        <a:rPr lang="en-US" sz="2800" dirty="0"/>
                        <a:t>Post crisis</a:t>
                      </a:r>
                      <a:endParaRPr lang="vi-VN" sz="2800" dirty="0"/>
                    </a:p>
                  </a:txBody>
                  <a:tcPr anchor="ctr"/>
                </a:tc>
                <a:extLst>
                  <a:ext uri="{0D108BD9-81ED-4DB2-BD59-A6C34878D82A}">
                    <a16:rowId xmlns:a16="http://schemas.microsoft.com/office/drawing/2014/main" val="10004"/>
                  </a:ext>
                </a:extLst>
              </a:tr>
            </a:tbl>
          </a:graphicData>
        </a:graphic>
      </p:graphicFrame>
      <p:sp>
        <p:nvSpPr>
          <p:cNvPr id="8" name="TextBox 7">
            <a:extLst>
              <a:ext uri="{FF2B5EF4-FFF2-40B4-BE49-F238E27FC236}">
                <a16:creationId xmlns:a16="http://schemas.microsoft.com/office/drawing/2014/main" id="{DBE2D027-9EC0-5249-B905-F312FB2752C6}"/>
              </a:ext>
            </a:extLst>
          </p:cNvPr>
          <p:cNvSpPr txBox="1"/>
          <p:nvPr/>
        </p:nvSpPr>
        <p:spPr>
          <a:xfrm>
            <a:off x="1768041" y="5965148"/>
            <a:ext cx="5721331" cy="369332"/>
          </a:xfrm>
          <a:prstGeom prst="rect">
            <a:avLst/>
          </a:prstGeom>
          <a:noFill/>
        </p:spPr>
        <p:txBody>
          <a:bodyPr wrap="square" rtlCol="0">
            <a:spAutoFit/>
          </a:bodyPr>
          <a:lstStyle/>
          <a:p>
            <a:pPr algn="ctr"/>
            <a:r>
              <a:rPr lang="en-US" i="1" dirty="0" smtClean="0"/>
              <a:t>Comparison </a:t>
            </a:r>
            <a:r>
              <a:rPr lang="en-US" i="1" dirty="0"/>
              <a:t>of Staged Approaches to Crisis Management</a:t>
            </a:r>
            <a:endParaRPr lang="en-VN" sz="1500" i="1" dirty="0"/>
          </a:p>
        </p:txBody>
      </p:sp>
    </p:spTree>
    <p:extLst>
      <p:ext uri="{BB962C8B-B14F-4D97-AF65-F5344CB8AC3E}">
        <p14:creationId xmlns:p14="http://schemas.microsoft.com/office/powerpoint/2010/main" val="370800991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a:t>THREE-STAGE APPROACH</a:t>
            </a:r>
            <a:endParaRPr lang="vi-VN" dirty="0"/>
          </a:p>
        </p:txBody>
      </p:sp>
      <p:sp>
        <p:nvSpPr>
          <p:cNvPr id="6" name="Content Placeholder 2"/>
          <p:cNvSpPr>
            <a:spLocks noGrp="1"/>
          </p:cNvSpPr>
          <p:nvPr>
            <p:ph idx="1"/>
          </p:nvPr>
        </p:nvSpPr>
        <p:spPr>
          <a:xfrm>
            <a:off x="715659" y="2378746"/>
            <a:ext cx="3693055" cy="3416300"/>
          </a:xfrm>
        </p:spPr>
        <p:txBody>
          <a:bodyPr>
            <a:normAutofit/>
          </a:bodyPr>
          <a:lstStyle/>
          <a:p>
            <a:pPr marL="0" indent="0">
              <a:buNone/>
            </a:pPr>
            <a:r>
              <a:rPr lang="en-US" sz="2800" b="1" dirty="0" smtClean="0"/>
              <a:t>PRECRISIS:</a:t>
            </a:r>
            <a:endParaRPr lang="en-US" sz="2800" b="1" dirty="0"/>
          </a:p>
          <a:p>
            <a:pPr>
              <a:buFont typeface="Wingdings" panose="05000000000000000000" pitchFamily="2" charset="2"/>
              <a:buChar char="Ø"/>
            </a:pPr>
            <a:r>
              <a:rPr lang="en-US" sz="2800" dirty="0" smtClean="0"/>
              <a:t> Involves 3 </a:t>
            </a:r>
            <a:r>
              <a:rPr lang="en-US" sz="2800" dirty="0" err="1"/>
              <a:t>substages</a:t>
            </a:r>
            <a:r>
              <a:rPr lang="en-US" sz="2800" dirty="0"/>
              <a:t>: </a:t>
            </a:r>
          </a:p>
          <a:p>
            <a:pPr marL="0" indent="0">
              <a:buNone/>
            </a:pPr>
            <a:r>
              <a:rPr lang="en-US" sz="2800" dirty="0" smtClean="0"/>
              <a:t>    (</a:t>
            </a:r>
            <a:r>
              <a:rPr lang="en-US" sz="2800" dirty="0"/>
              <a:t>1) signal </a:t>
            </a:r>
            <a:r>
              <a:rPr lang="en-US" sz="2800" dirty="0" smtClean="0"/>
              <a:t>detection</a:t>
            </a:r>
          </a:p>
          <a:p>
            <a:pPr marL="0" indent="0">
              <a:buNone/>
            </a:pPr>
            <a:r>
              <a:rPr lang="en-US" sz="2800" dirty="0"/>
              <a:t> </a:t>
            </a:r>
            <a:r>
              <a:rPr lang="en-US" sz="2800" dirty="0" smtClean="0"/>
              <a:t>   (</a:t>
            </a:r>
            <a:r>
              <a:rPr lang="en-US" sz="2800" dirty="0"/>
              <a:t>2) </a:t>
            </a:r>
            <a:r>
              <a:rPr lang="en-US" sz="2800" dirty="0" smtClean="0"/>
              <a:t>prevention </a:t>
            </a:r>
          </a:p>
          <a:p>
            <a:pPr marL="0" indent="0">
              <a:buNone/>
            </a:pPr>
            <a:r>
              <a:rPr lang="en-US" sz="2800" dirty="0"/>
              <a:t> </a:t>
            </a:r>
            <a:r>
              <a:rPr lang="en-US" sz="2800" dirty="0" smtClean="0"/>
              <a:t>   (</a:t>
            </a:r>
            <a:r>
              <a:rPr lang="en-US" sz="2800" dirty="0"/>
              <a:t>3) crisis </a:t>
            </a:r>
            <a:r>
              <a:rPr lang="en-US" sz="2800" dirty="0" smtClean="0"/>
              <a:t>preparation </a:t>
            </a:r>
            <a:endParaRPr lang="en-US" sz="2800" dirty="0"/>
          </a:p>
        </p:txBody>
      </p:sp>
      <p:sp>
        <p:nvSpPr>
          <p:cNvPr id="5" name="Content Placeholder 2"/>
          <p:cNvSpPr txBox="1">
            <a:spLocks/>
          </p:cNvSpPr>
          <p:nvPr/>
        </p:nvSpPr>
        <p:spPr>
          <a:xfrm>
            <a:off x="5522726" y="2955689"/>
            <a:ext cx="5939931" cy="231299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Wingdings" panose="05000000000000000000" pitchFamily="2" charset="2"/>
              <a:buChar char="Ø"/>
            </a:pPr>
            <a:r>
              <a:rPr lang="en-US" sz="2800" dirty="0" smtClean="0"/>
              <a:t> Organization </a:t>
            </a:r>
            <a:r>
              <a:rPr lang="en-US" sz="2800" dirty="0"/>
              <a:t>members </a:t>
            </a:r>
            <a:r>
              <a:rPr lang="en-US" sz="2800" dirty="0" smtClean="0"/>
              <a:t>must</a:t>
            </a:r>
          </a:p>
          <a:p>
            <a:pPr marL="576263" indent="-228600">
              <a:buFont typeface="Wingdings" panose="05000000000000000000" pitchFamily="2" charset="2"/>
              <a:buChar char="§"/>
            </a:pPr>
            <a:r>
              <a:rPr lang="en-US" sz="2800" dirty="0" smtClean="0"/>
              <a:t>be proactive: take </a:t>
            </a:r>
            <a:r>
              <a:rPr lang="en-US" sz="2800" dirty="0"/>
              <a:t>all possible actions to prevent </a:t>
            </a:r>
            <a:r>
              <a:rPr lang="en-US" sz="2800" dirty="0" smtClean="0"/>
              <a:t>crises</a:t>
            </a:r>
          </a:p>
          <a:p>
            <a:pPr marL="576263" indent="-228600">
              <a:buFont typeface="Wingdings" panose="05000000000000000000" pitchFamily="2" charset="2"/>
              <a:buChar char="§"/>
            </a:pPr>
            <a:r>
              <a:rPr lang="en-US" sz="2800" dirty="0" smtClean="0"/>
              <a:t>prepare </a:t>
            </a:r>
            <a:r>
              <a:rPr lang="en-US" sz="2800" dirty="0"/>
              <a:t>for crises </a:t>
            </a:r>
            <a:r>
              <a:rPr lang="en-US" sz="2800" dirty="0" smtClean="0"/>
              <a:t>as well</a:t>
            </a:r>
            <a:endParaRPr lang="en-US" sz="2800" dirty="0"/>
          </a:p>
        </p:txBody>
      </p:sp>
    </p:spTree>
    <p:extLst>
      <p:ext uri="{BB962C8B-B14F-4D97-AF65-F5344CB8AC3E}">
        <p14:creationId xmlns:p14="http://schemas.microsoft.com/office/powerpoint/2010/main" val="281004052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a:t>THREE-STAGE APPROACH</a:t>
            </a:r>
            <a:endParaRPr lang="vi-VN" dirty="0"/>
          </a:p>
        </p:txBody>
      </p:sp>
      <p:sp>
        <p:nvSpPr>
          <p:cNvPr id="6" name="Content Placeholder 2"/>
          <p:cNvSpPr>
            <a:spLocks noGrp="1"/>
          </p:cNvSpPr>
          <p:nvPr>
            <p:ph idx="1"/>
          </p:nvPr>
        </p:nvSpPr>
        <p:spPr>
          <a:xfrm>
            <a:off x="802745" y="2215461"/>
            <a:ext cx="8134427" cy="3416300"/>
          </a:xfrm>
        </p:spPr>
        <p:txBody>
          <a:bodyPr>
            <a:normAutofit/>
          </a:bodyPr>
          <a:lstStyle/>
          <a:p>
            <a:pPr marL="0" indent="0">
              <a:buNone/>
            </a:pPr>
            <a:r>
              <a:rPr lang="en-US" sz="2800" b="1" dirty="0" smtClean="0"/>
              <a:t>CRISIS:</a:t>
            </a:r>
            <a:endParaRPr lang="en-US" sz="2800" b="1" dirty="0"/>
          </a:p>
          <a:p>
            <a:pPr>
              <a:buFont typeface="Wingdings" panose="05000000000000000000" pitchFamily="2" charset="2"/>
              <a:buChar char="Ø"/>
            </a:pPr>
            <a:r>
              <a:rPr lang="en-US" sz="2800" dirty="0"/>
              <a:t> </a:t>
            </a:r>
            <a:r>
              <a:rPr lang="en-US" sz="2800" dirty="0" smtClean="0"/>
              <a:t>Begins with a </a:t>
            </a:r>
            <a:r>
              <a:rPr lang="en-US" sz="2800" i="1" dirty="0"/>
              <a:t>trigger </a:t>
            </a:r>
            <a:r>
              <a:rPr lang="en-US" sz="2800" i="1" dirty="0" smtClean="0"/>
              <a:t>event</a:t>
            </a:r>
            <a:r>
              <a:rPr lang="en-US" sz="2800" dirty="0" smtClean="0"/>
              <a:t> </a:t>
            </a:r>
          </a:p>
          <a:p>
            <a:pPr>
              <a:buFont typeface="Wingdings" panose="05000000000000000000" pitchFamily="2" charset="2"/>
              <a:buChar char="Ø"/>
            </a:pPr>
            <a:r>
              <a:rPr lang="en-US" sz="2800" dirty="0" smtClean="0"/>
              <a:t> Crisis </a:t>
            </a:r>
            <a:r>
              <a:rPr lang="en-US" sz="2800" dirty="0"/>
              <a:t>managers must </a:t>
            </a:r>
            <a:endParaRPr lang="en-US" sz="2800" dirty="0" smtClean="0"/>
          </a:p>
          <a:p>
            <a:pPr marL="860425" indent="-284163">
              <a:buFont typeface="Wingdings" panose="05000000000000000000" pitchFamily="2" charset="2"/>
              <a:buChar char="§"/>
            </a:pPr>
            <a:r>
              <a:rPr lang="en-US" sz="2800" dirty="0"/>
              <a:t> </a:t>
            </a:r>
            <a:r>
              <a:rPr lang="en-US" sz="2800" dirty="0" smtClean="0"/>
              <a:t>realize </a:t>
            </a:r>
            <a:r>
              <a:rPr lang="en-US" sz="2800" dirty="0"/>
              <a:t>that the organization is in </a:t>
            </a:r>
            <a:r>
              <a:rPr lang="en-US" sz="2800" dirty="0" smtClean="0"/>
              <a:t>crisis</a:t>
            </a:r>
          </a:p>
          <a:p>
            <a:pPr marL="860425" indent="-284163">
              <a:buFont typeface="Wingdings" panose="05000000000000000000" pitchFamily="2" charset="2"/>
              <a:buChar char="§"/>
            </a:pPr>
            <a:r>
              <a:rPr lang="en-US" sz="2800" dirty="0" smtClean="0"/>
              <a:t> </a:t>
            </a:r>
            <a:r>
              <a:rPr lang="en-US" sz="2800" dirty="0"/>
              <a:t>take appropriate actions </a:t>
            </a:r>
            <a:endParaRPr lang="en-US" sz="2800" dirty="0" smtClean="0"/>
          </a:p>
          <a:p>
            <a:pPr>
              <a:buFont typeface="Wingdings" panose="05000000000000000000" pitchFamily="2" charset="2"/>
              <a:buChar char="Ø"/>
            </a:pPr>
            <a:r>
              <a:rPr lang="en-US" sz="2800" dirty="0" smtClean="0"/>
              <a:t> Ends </a:t>
            </a:r>
            <a:r>
              <a:rPr lang="en-US" sz="2800" dirty="0"/>
              <a:t>when the crisis is considered to be </a:t>
            </a:r>
            <a:r>
              <a:rPr lang="en-US" sz="2800" dirty="0" smtClean="0"/>
              <a:t>resolved</a:t>
            </a:r>
            <a:endParaRPr lang="en-US" sz="2800" dirty="0"/>
          </a:p>
        </p:txBody>
      </p:sp>
    </p:spTree>
    <p:extLst>
      <p:ext uri="{BB962C8B-B14F-4D97-AF65-F5344CB8AC3E}">
        <p14:creationId xmlns:p14="http://schemas.microsoft.com/office/powerpoint/2010/main" val="72962071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a:t>THREE-STAGE APPROACH</a:t>
            </a:r>
            <a:endParaRPr lang="vi-VN" dirty="0"/>
          </a:p>
        </p:txBody>
      </p:sp>
      <p:sp>
        <p:nvSpPr>
          <p:cNvPr id="6" name="Content Placeholder 2"/>
          <p:cNvSpPr>
            <a:spLocks noGrp="1"/>
          </p:cNvSpPr>
          <p:nvPr>
            <p:ph idx="1"/>
          </p:nvPr>
        </p:nvSpPr>
        <p:spPr>
          <a:xfrm>
            <a:off x="802745" y="2166257"/>
            <a:ext cx="10344226" cy="4234543"/>
          </a:xfrm>
        </p:spPr>
        <p:txBody>
          <a:bodyPr>
            <a:normAutofit/>
          </a:bodyPr>
          <a:lstStyle/>
          <a:p>
            <a:pPr marL="0" indent="0">
              <a:buNone/>
            </a:pPr>
            <a:r>
              <a:rPr lang="en-US" sz="2800" b="1" dirty="0" smtClean="0"/>
              <a:t>CRISIS:</a:t>
            </a:r>
          </a:p>
          <a:p>
            <a:pPr marL="0" indent="0">
              <a:buNone/>
            </a:pPr>
            <a:endParaRPr lang="en-US" sz="2800" b="1" dirty="0" smtClean="0"/>
          </a:p>
          <a:p>
            <a:pPr marL="0" indent="0">
              <a:buNone/>
            </a:pPr>
            <a:endParaRPr lang="en-US" sz="2800" b="1" dirty="0"/>
          </a:p>
          <a:p>
            <a:pPr marL="0" indent="0">
              <a:buNone/>
            </a:pPr>
            <a:endParaRPr lang="en-US" sz="2800" b="1" dirty="0" smtClean="0"/>
          </a:p>
          <a:p>
            <a:pPr marL="0" indent="0">
              <a:buNone/>
            </a:pPr>
            <a:endParaRPr lang="en-US" sz="2800" b="1" dirty="0"/>
          </a:p>
          <a:p>
            <a:pPr marL="0" indent="0">
              <a:buNone/>
            </a:pPr>
            <a:r>
              <a:rPr lang="en-US" sz="2800" dirty="0" smtClean="0"/>
              <a:t>Communication </a:t>
            </a:r>
            <a:r>
              <a:rPr lang="en-US" sz="2800" dirty="0"/>
              <a:t>with </a:t>
            </a:r>
            <a:r>
              <a:rPr lang="en-US" sz="2800" dirty="0" smtClean="0"/>
              <a:t>stakeholders (</a:t>
            </a:r>
            <a:r>
              <a:rPr lang="en-US" sz="2800" dirty="0"/>
              <a:t>through </a:t>
            </a:r>
            <a:r>
              <a:rPr lang="en-US" sz="2800" dirty="0" smtClean="0"/>
              <a:t>the organization’s </a:t>
            </a:r>
            <a:r>
              <a:rPr lang="en-US" sz="2800" dirty="0"/>
              <a:t>words and </a:t>
            </a:r>
            <a:r>
              <a:rPr lang="en-US" sz="2800" dirty="0" smtClean="0"/>
              <a:t>actions) </a:t>
            </a:r>
            <a:r>
              <a:rPr lang="en-US" sz="2800" dirty="0"/>
              <a:t>is </a:t>
            </a:r>
            <a:r>
              <a:rPr lang="en-US" sz="2800" dirty="0" smtClean="0"/>
              <a:t>critical</a:t>
            </a:r>
            <a:endParaRPr lang="en-US" sz="2800" dirty="0"/>
          </a:p>
        </p:txBody>
      </p:sp>
      <p:graphicFrame>
        <p:nvGraphicFramePr>
          <p:cNvPr id="4" name="Diagram 3">
            <a:extLst>
              <a:ext uri="{FF2B5EF4-FFF2-40B4-BE49-F238E27FC236}">
                <a16:creationId xmlns:a16="http://schemas.microsoft.com/office/drawing/2014/main" id="{8D11730A-9B42-664A-A697-982B0AAAA154}"/>
              </a:ext>
            </a:extLst>
          </p:cNvPr>
          <p:cNvGraphicFramePr/>
          <p:nvPr>
            <p:extLst>
              <p:ext uri="{D42A27DB-BD31-4B8C-83A1-F6EECF244321}">
                <p14:modId xmlns:p14="http://schemas.microsoft.com/office/powerpoint/2010/main" val="4110692666"/>
              </p:ext>
            </p:extLst>
          </p:nvPr>
        </p:nvGraphicFramePr>
        <p:xfrm>
          <a:off x="2848708" y="2070801"/>
          <a:ext cx="6883121" cy="26904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2989730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a:t>THREE-STAGE APPROACH</a:t>
            </a:r>
            <a:endParaRPr lang="vi-VN" dirty="0"/>
          </a:p>
        </p:txBody>
      </p:sp>
      <p:sp>
        <p:nvSpPr>
          <p:cNvPr id="6" name="Content Placeholder 2"/>
          <p:cNvSpPr>
            <a:spLocks noGrp="1"/>
          </p:cNvSpPr>
          <p:nvPr>
            <p:ph idx="1"/>
          </p:nvPr>
        </p:nvSpPr>
        <p:spPr>
          <a:xfrm>
            <a:off x="802745" y="2215461"/>
            <a:ext cx="10997369" cy="3416300"/>
          </a:xfrm>
        </p:spPr>
        <p:txBody>
          <a:bodyPr>
            <a:normAutofit/>
          </a:bodyPr>
          <a:lstStyle/>
          <a:p>
            <a:pPr marL="0" indent="0">
              <a:buNone/>
            </a:pPr>
            <a:r>
              <a:rPr lang="en-US" sz="2800" b="1" dirty="0" smtClean="0"/>
              <a:t>POSTCRISIS:</a:t>
            </a:r>
            <a:endParaRPr lang="en-US" sz="2800" b="1" dirty="0"/>
          </a:p>
          <a:p>
            <a:pPr marL="0" indent="0">
              <a:buNone/>
            </a:pPr>
            <a:r>
              <a:rPr lang="en-US" sz="2800" dirty="0" err="1" smtClean="0"/>
              <a:t>Postcrisis</a:t>
            </a:r>
            <a:r>
              <a:rPr lang="en-US" sz="2800" dirty="0" smtClean="0"/>
              <a:t> </a:t>
            </a:r>
            <a:r>
              <a:rPr lang="en-US" sz="2800" dirty="0"/>
              <a:t>actions help to  </a:t>
            </a:r>
            <a:endParaRPr lang="en-US" sz="2800" dirty="0" smtClean="0"/>
          </a:p>
          <a:p>
            <a:pPr>
              <a:buFont typeface="Wingdings" panose="05000000000000000000" pitchFamily="2" charset="2"/>
              <a:buChar char="Ø"/>
            </a:pPr>
            <a:r>
              <a:rPr lang="en-US" sz="2800" dirty="0"/>
              <a:t> make the organization </a:t>
            </a:r>
            <a:r>
              <a:rPr lang="en-US" sz="2800" i="1" dirty="0"/>
              <a:t>better prepared</a:t>
            </a:r>
            <a:r>
              <a:rPr lang="en-US" sz="2800" dirty="0"/>
              <a:t> for the next </a:t>
            </a:r>
            <a:r>
              <a:rPr lang="en-US" sz="2800" dirty="0" smtClean="0"/>
              <a:t>crisis</a:t>
            </a:r>
          </a:p>
          <a:p>
            <a:pPr>
              <a:buFont typeface="Wingdings" panose="05000000000000000000" pitchFamily="2" charset="2"/>
              <a:buChar char="Ø"/>
            </a:pPr>
            <a:r>
              <a:rPr lang="en-US" sz="2800" dirty="0" smtClean="0"/>
              <a:t> make </a:t>
            </a:r>
            <a:r>
              <a:rPr lang="en-US" sz="2800" dirty="0"/>
              <a:t>sure stakeholders are </a:t>
            </a:r>
            <a:r>
              <a:rPr lang="en-US" sz="2800" dirty="0" smtClean="0"/>
              <a:t>left with </a:t>
            </a:r>
            <a:r>
              <a:rPr lang="en-US" sz="2800" dirty="0"/>
              <a:t>a </a:t>
            </a:r>
            <a:r>
              <a:rPr lang="en-US" sz="2800" i="1" dirty="0"/>
              <a:t>positive impression</a:t>
            </a:r>
            <a:r>
              <a:rPr lang="en-US" sz="2800" dirty="0"/>
              <a:t> of the organization’s crisis management </a:t>
            </a:r>
            <a:r>
              <a:rPr lang="en-US" sz="2800" dirty="0" smtClean="0"/>
              <a:t>efforts</a:t>
            </a:r>
          </a:p>
          <a:p>
            <a:pPr>
              <a:buFont typeface="Wingdings" panose="05000000000000000000" pitchFamily="2" charset="2"/>
              <a:buChar char="Ø"/>
            </a:pPr>
            <a:r>
              <a:rPr lang="en-US" sz="2800" dirty="0" smtClean="0"/>
              <a:t> check </a:t>
            </a:r>
            <a:r>
              <a:rPr lang="en-US" sz="2800" dirty="0"/>
              <a:t>to make sure that </a:t>
            </a:r>
            <a:r>
              <a:rPr lang="en-US" sz="2800" dirty="0" smtClean="0"/>
              <a:t>the </a:t>
            </a:r>
            <a:r>
              <a:rPr lang="en-US" sz="2800" i="1" dirty="0" smtClean="0"/>
              <a:t>crisis </a:t>
            </a:r>
            <a:r>
              <a:rPr lang="en-US" sz="2800" i="1" dirty="0"/>
              <a:t>is truly </a:t>
            </a:r>
            <a:r>
              <a:rPr lang="en-US" sz="2800" i="1" dirty="0" smtClean="0"/>
              <a:t>over</a:t>
            </a:r>
            <a:endParaRPr lang="en-US" sz="2800" i="1" dirty="0"/>
          </a:p>
        </p:txBody>
      </p:sp>
    </p:spTree>
    <p:extLst>
      <p:ext uri="{BB962C8B-B14F-4D97-AF65-F5344CB8AC3E}">
        <p14:creationId xmlns:p14="http://schemas.microsoft.com/office/powerpoint/2010/main" val="287408486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382875" y="2980905"/>
            <a:ext cx="3426249" cy="896190"/>
          </a:xfrm>
          <a:prstGeom prst="rect">
            <a:avLst/>
          </a:prstGeom>
        </p:spPr>
      </p:pic>
      <p:pic>
        <p:nvPicPr>
          <p:cNvPr id="2050" name="Picture 2" descr="Grand Challenges for HR in terms of Crisis Management Figure 1 illustrates the suggested actions that have to be implemented, by the HR department, in terms of crisis management, and how may they interact together, in the three stages of crisis. It can be perceived as a basis or as a useful tool of the contribution and of the action planning of the HR as an integrated part of the Crisis Management PlanCMP and of the Crisis Management Team-CM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456" y="666141"/>
            <a:ext cx="10711543" cy="5478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607372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Discussion</a:t>
            </a:r>
            <a:endParaRPr lang="vi-VN" dirty="0"/>
          </a:p>
        </p:txBody>
      </p:sp>
      <p:sp>
        <p:nvSpPr>
          <p:cNvPr id="3" name="Content Placeholder 2"/>
          <p:cNvSpPr>
            <a:spLocks noGrp="1"/>
          </p:cNvSpPr>
          <p:nvPr>
            <p:ph idx="1"/>
          </p:nvPr>
        </p:nvSpPr>
        <p:spPr/>
        <p:txBody>
          <a:bodyPr>
            <a:normAutofit/>
          </a:bodyPr>
          <a:lstStyle/>
          <a:p>
            <a:pPr lvl="0"/>
            <a:r>
              <a:rPr lang="en-US" sz="2800" dirty="0" smtClean="0"/>
              <a:t>Some </a:t>
            </a:r>
            <a:r>
              <a:rPr lang="en-US" sz="2800" dirty="0"/>
              <a:t>people question the value of </a:t>
            </a:r>
            <a:r>
              <a:rPr lang="en-US" sz="2800" dirty="0" err="1"/>
              <a:t>precrisis</a:t>
            </a:r>
            <a:r>
              <a:rPr lang="en-US" sz="2800" dirty="0"/>
              <a:t> activities. What reasons do you see that argue for and against </a:t>
            </a:r>
            <a:r>
              <a:rPr lang="en-US" sz="2800" dirty="0" err="1"/>
              <a:t>precrisis</a:t>
            </a:r>
            <a:r>
              <a:rPr lang="en-US" sz="2800" dirty="0"/>
              <a:t> activities?</a:t>
            </a:r>
          </a:p>
        </p:txBody>
      </p:sp>
    </p:spTree>
    <p:extLst>
      <p:ext uri="{BB962C8B-B14F-4D97-AF65-F5344CB8AC3E}">
        <p14:creationId xmlns:p14="http://schemas.microsoft.com/office/powerpoint/2010/main" val="146378130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231" y="921116"/>
            <a:ext cx="9962939" cy="706964"/>
          </a:xfrm>
        </p:spPr>
        <p:txBody>
          <a:bodyPr>
            <a:normAutofit fontScale="90000"/>
          </a:bodyPr>
          <a:lstStyle/>
          <a:p>
            <a:r>
              <a:rPr lang="en-US" dirty="0" smtClean="0"/>
              <a:t>IMPORTANCE OF CRISIS MANAGEMENT</a:t>
            </a:r>
            <a:endParaRPr lang="en-US" dirty="0"/>
          </a:p>
        </p:txBody>
      </p:sp>
      <p:sp>
        <p:nvSpPr>
          <p:cNvPr id="3" name="Content Placeholder 2"/>
          <p:cNvSpPr>
            <a:spLocks noGrp="1"/>
          </p:cNvSpPr>
          <p:nvPr>
            <p:ph idx="1"/>
          </p:nvPr>
        </p:nvSpPr>
        <p:spPr>
          <a:xfrm>
            <a:off x="1013243" y="2362201"/>
            <a:ext cx="10144615" cy="1850571"/>
          </a:xfrm>
        </p:spPr>
        <p:txBody>
          <a:bodyPr>
            <a:normAutofit/>
          </a:bodyPr>
          <a:lstStyle/>
          <a:p>
            <a:pPr>
              <a:buFont typeface="Wingdings" panose="05000000000000000000" pitchFamily="2" charset="2"/>
              <a:buChar char="Ø"/>
            </a:pPr>
            <a:r>
              <a:rPr lang="en-US" sz="2800" dirty="0" smtClean="0"/>
              <a:t> Crises </a:t>
            </a:r>
            <a:r>
              <a:rPr lang="en-US" sz="2800" dirty="0"/>
              <a:t>are ubiquitous: all types of organizations </a:t>
            </a:r>
            <a:r>
              <a:rPr lang="en-US" sz="2800" dirty="0" smtClean="0"/>
              <a:t>are more </a:t>
            </a:r>
            <a:r>
              <a:rPr lang="en-US" sz="2800" dirty="0"/>
              <a:t>susceptible to crises</a:t>
            </a:r>
            <a:endParaRPr lang="en-US" sz="2800" dirty="0" smtClean="0"/>
          </a:p>
          <a:p>
            <a:pPr>
              <a:buFont typeface="Wingdings" panose="05000000000000000000" pitchFamily="2" charset="2"/>
              <a:buChar char="Ø"/>
            </a:pPr>
            <a:r>
              <a:rPr lang="en-US" sz="2800" dirty="0" smtClean="0"/>
              <a:t> Higher premiums </a:t>
            </a:r>
            <a:r>
              <a:rPr lang="en-US" sz="2800" dirty="0"/>
              <a:t>on crisis </a:t>
            </a:r>
            <a:r>
              <a:rPr lang="en-US" sz="2800" dirty="0" smtClean="0"/>
              <a:t>management</a:t>
            </a:r>
            <a:r>
              <a:rPr lang="en-US" sz="2800" dirty="0"/>
              <a:t>: unprepared organizations have more to lose today </a:t>
            </a:r>
            <a:r>
              <a:rPr lang="en-US" sz="2800" dirty="0" smtClean="0"/>
              <a:t>than ever </a:t>
            </a:r>
            <a:r>
              <a:rPr lang="en-US" sz="2800" dirty="0"/>
              <a:t>before</a:t>
            </a:r>
            <a:endParaRPr lang="vi-VN" sz="2800" dirty="0"/>
          </a:p>
        </p:txBody>
      </p:sp>
    </p:spTree>
    <p:extLst>
      <p:ext uri="{BB962C8B-B14F-4D97-AF65-F5344CB8AC3E}">
        <p14:creationId xmlns:p14="http://schemas.microsoft.com/office/powerpoint/2010/main" val="379589997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231" y="921116"/>
            <a:ext cx="9962939" cy="706964"/>
          </a:xfrm>
        </p:spPr>
        <p:txBody>
          <a:bodyPr>
            <a:normAutofit fontScale="90000"/>
          </a:bodyPr>
          <a:lstStyle/>
          <a:p>
            <a:r>
              <a:rPr lang="en-US" dirty="0" smtClean="0"/>
              <a:t>IMPORTANCE OF CRISIS MANAGEMENT</a:t>
            </a:r>
            <a:endParaRPr lang="en-US" dirty="0"/>
          </a:p>
        </p:txBody>
      </p:sp>
      <p:sp>
        <p:nvSpPr>
          <p:cNvPr id="3" name="Content Placeholder 2"/>
          <p:cNvSpPr>
            <a:spLocks noGrp="1"/>
          </p:cNvSpPr>
          <p:nvPr>
            <p:ph idx="1"/>
          </p:nvPr>
        </p:nvSpPr>
        <p:spPr>
          <a:xfrm>
            <a:off x="958814" y="2438403"/>
            <a:ext cx="6073357" cy="1850571"/>
          </a:xfrm>
        </p:spPr>
        <p:txBody>
          <a:bodyPr>
            <a:noAutofit/>
          </a:bodyPr>
          <a:lstStyle/>
          <a:p>
            <a:pPr marL="0" indent="0">
              <a:buNone/>
            </a:pPr>
            <a:r>
              <a:rPr lang="en-US" sz="2800" b="1" dirty="0" smtClean="0"/>
              <a:t>Common </a:t>
            </a:r>
            <a:r>
              <a:rPr lang="en-US" sz="2800" b="1" dirty="0"/>
              <a:t>negative effects from </a:t>
            </a:r>
            <a:r>
              <a:rPr lang="en-US" sz="2800" b="1" dirty="0" smtClean="0"/>
              <a:t>crises:</a:t>
            </a:r>
          </a:p>
          <a:p>
            <a:pPr>
              <a:buFont typeface="Wingdings" panose="05000000000000000000" pitchFamily="2" charset="2"/>
              <a:buChar char="Ø"/>
            </a:pPr>
            <a:r>
              <a:rPr lang="en-US" sz="2800" dirty="0"/>
              <a:t> decrease in </a:t>
            </a:r>
            <a:r>
              <a:rPr lang="en-US" sz="2800" dirty="0" smtClean="0"/>
              <a:t>revenue</a:t>
            </a:r>
          </a:p>
          <a:p>
            <a:pPr>
              <a:buFont typeface="Wingdings" panose="05000000000000000000" pitchFamily="2" charset="2"/>
              <a:buChar char="Ø"/>
            </a:pPr>
            <a:r>
              <a:rPr lang="en-US" sz="2800" dirty="0" smtClean="0"/>
              <a:t> cutbacks and/or layoffs</a:t>
            </a:r>
          </a:p>
          <a:p>
            <a:pPr>
              <a:buFont typeface="Wingdings" panose="05000000000000000000" pitchFamily="2" charset="2"/>
              <a:buChar char="Ø"/>
            </a:pPr>
            <a:r>
              <a:rPr lang="en-US" sz="2800" dirty="0" smtClean="0"/>
              <a:t> loss </a:t>
            </a:r>
            <a:r>
              <a:rPr lang="en-US" sz="2800" dirty="0"/>
              <a:t>of corporate </a:t>
            </a:r>
            <a:r>
              <a:rPr lang="en-US" sz="2800" dirty="0" smtClean="0"/>
              <a:t>reputation</a:t>
            </a:r>
          </a:p>
          <a:p>
            <a:pPr>
              <a:buFont typeface="Wingdings" panose="05000000000000000000" pitchFamily="2" charset="2"/>
              <a:buChar char="Ø"/>
            </a:pPr>
            <a:r>
              <a:rPr lang="en-US" sz="2800" dirty="0"/>
              <a:t> </a:t>
            </a:r>
            <a:r>
              <a:rPr lang="en-US" sz="2800" dirty="0" smtClean="0"/>
              <a:t>increased </a:t>
            </a:r>
            <a:r>
              <a:rPr lang="en-US" sz="2800" dirty="0"/>
              <a:t>media </a:t>
            </a:r>
            <a:r>
              <a:rPr lang="en-US" sz="2800" dirty="0" smtClean="0"/>
              <a:t>scrutiny</a:t>
            </a:r>
            <a:endParaRPr lang="vi-VN" sz="2800" dirty="0"/>
          </a:p>
        </p:txBody>
      </p:sp>
      <p:sp>
        <p:nvSpPr>
          <p:cNvPr id="4" name="Content Placeholder 2"/>
          <p:cNvSpPr txBox="1">
            <a:spLocks/>
          </p:cNvSpPr>
          <p:nvPr/>
        </p:nvSpPr>
        <p:spPr>
          <a:xfrm>
            <a:off x="6307013" y="3031009"/>
            <a:ext cx="5514872" cy="1850571"/>
          </a:xfrm>
          <a:prstGeom prst="rect">
            <a:avLst/>
          </a:prstGeom>
        </p:spPr>
        <p:txBody>
          <a:bodyPr vert="horz" lIns="45720" tIns="45720" rIns="4572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Wingdings" panose="05000000000000000000" pitchFamily="2" charset="2"/>
              <a:buChar char="Ø"/>
            </a:pPr>
            <a:r>
              <a:rPr lang="en-US" sz="2800" dirty="0" smtClean="0"/>
              <a:t> increased government scrutiny</a:t>
            </a:r>
          </a:p>
          <a:p>
            <a:pPr>
              <a:buFont typeface="Wingdings" panose="05000000000000000000" pitchFamily="2" charset="2"/>
              <a:buChar char="Ø"/>
            </a:pPr>
            <a:r>
              <a:rPr lang="en-US" sz="2800" dirty="0"/>
              <a:t> </a:t>
            </a:r>
            <a:r>
              <a:rPr lang="en-US" sz="2800" dirty="0" smtClean="0"/>
              <a:t>decreased share price</a:t>
            </a:r>
          </a:p>
          <a:p>
            <a:pPr marL="347663" indent="-347663">
              <a:buFont typeface="Wingdings" panose="05000000000000000000" pitchFamily="2" charset="2"/>
              <a:buChar char="Ø"/>
            </a:pPr>
            <a:r>
              <a:rPr lang="en-US" sz="2800" dirty="0" smtClean="0"/>
              <a:t>increased social media discussions </a:t>
            </a:r>
            <a:endParaRPr lang="vi-VN" sz="2800" dirty="0"/>
          </a:p>
        </p:txBody>
      </p:sp>
    </p:spTree>
    <p:extLst>
      <p:ext uri="{BB962C8B-B14F-4D97-AF65-F5344CB8AC3E}">
        <p14:creationId xmlns:p14="http://schemas.microsoft.com/office/powerpoint/2010/main" val="341995856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231" y="921116"/>
            <a:ext cx="9962939" cy="706964"/>
          </a:xfrm>
        </p:spPr>
        <p:txBody>
          <a:bodyPr>
            <a:normAutofit fontScale="90000"/>
          </a:bodyPr>
          <a:lstStyle/>
          <a:p>
            <a:r>
              <a:rPr lang="en-US" dirty="0" smtClean="0"/>
              <a:t>IMPORTANCE OF CRISIS MANAGEMENT</a:t>
            </a:r>
            <a:endParaRPr lang="en-US" dirty="0"/>
          </a:p>
        </p:txBody>
      </p:sp>
      <p:sp>
        <p:nvSpPr>
          <p:cNvPr id="3" name="Content Placeholder 2"/>
          <p:cNvSpPr>
            <a:spLocks noGrp="1"/>
          </p:cNvSpPr>
          <p:nvPr>
            <p:ph idx="1"/>
          </p:nvPr>
        </p:nvSpPr>
        <p:spPr>
          <a:xfrm>
            <a:off x="957942" y="2166259"/>
            <a:ext cx="9339943" cy="3505198"/>
          </a:xfrm>
        </p:spPr>
        <p:txBody>
          <a:bodyPr>
            <a:noAutofit/>
          </a:bodyPr>
          <a:lstStyle/>
          <a:p>
            <a:pPr marL="0" indent="0">
              <a:buNone/>
            </a:pPr>
            <a:r>
              <a:rPr lang="en-US" sz="2800" b="1" dirty="0"/>
              <a:t>The developments that increase the need for effective crisis </a:t>
            </a:r>
            <a:r>
              <a:rPr lang="en-US" sz="2800" b="1" dirty="0" smtClean="0"/>
              <a:t>management:</a:t>
            </a:r>
          </a:p>
          <a:p>
            <a:pPr>
              <a:buFont typeface="Wingdings" panose="05000000000000000000" pitchFamily="2" charset="2"/>
              <a:buChar char="Ø"/>
            </a:pPr>
            <a:r>
              <a:rPr lang="en-US" sz="2800" dirty="0"/>
              <a:t> </a:t>
            </a:r>
            <a:r>
              <a:rPr lang="en-US" sz="2800" dirty="0" smtClean="0"/>
              <a:t>increased </a:t>
            </a:r>
            <a:r>
              <a:rPr lang="en-US" sz="2800" dirty="0"/>
              <a:t>value of </a:t>
            </a:r>
            <a:r>
              <a:rPr lang="en-US" sz="2800" dirty="0" smtClean="0"/>
              <a:t>reputation</a:t>
            </a:r>
          </a:p>
          <a:p>
            <a:pPr>
              <a:buFont typeface="Wingdings" panose="05000000000000000000" pitchFamily="2" charset="2"/>
              <a:buChar char="Ø"/>
            </a:pPr>
            <a:r>
              <a:rPr lang="en-US" sz="2800" dirty="0"/>
              <a:t> </a:t>
            </a:r>
            <a:r>
              <a:rPr lang="en-US" sz="2800" dirty="0" smtClean="0"/>
              <a:t>stakeholder </a:t>
            </a:r>
            <a:r>
              <a:rPr lang="en-US" sz="2800" dirty="0"/>
              <a:t>activism through communication </a:t>
            </a:r>
            <a:r>
              <a:rPr lang="en-US" sz="2800" dirty="0" smtClean="0"/>
              <a:t>technologies</a:t>
            </a:r>
          </a:p>
          <a:p>
            <a:pPr>
              <a:buFont typeface="Wingdings" panose="05000000000000000000" pitchFamily="2" charset="2"/>
              <a:buChar char="Ø"/>
            </a:pPr>
            <a:r>
              <a:rPr lang="en-US" sz="2800" dirty="0"/>
              <a:t> </a:t>
            </a:r>
            <a:r>
              <a:rPr lang="en-US" sz="2800" dirty="0" smtClean="0"/>
              <a:t>broader </a:t>
            </a:r>
            <a:r>
              <a:rPr lang="en-US" sz="2800" dirty="0"/>
              <a:t>views of </a:t>
            </a:r>
            <a:r>
              <a:rPr lang="en-US" sz="2800" dirty="0" smtClean="0"/>
              <a:t>crises</a:t>
            </a:r>
            <a:endParaRPr lang="en-US" sz="2800" dirty="0"/>
          </a:p>
          <a:p>
            <a:pPr>
              <a:buFont typeface="Wingdings" panose="05000000000000000000" pitchFamily="2" charset="2"/>
              <a:buChar char="Ø"/>
            </a:pPr>
            <a:r>
              <a:rPr lang="en-US" sz="2800" dirty="0" smtClean="0"/>
              <a:t> negligent </a:t>
            </a:r>
            <a:r>
              <a:rPr lang="en-US" sz="2800" dirty="0"/>
              <a:t>failure to </a:t>
            </a:r>
            <a:r>
              <a:rPr lang="en-US" sz="2800" dirty="0" smtClean="0"/>
              <a:t>plan</a:t>
            </a:r>
            <a:endParaRPr lang="en-US" sz="2800" dirty="0"/>
          </a:p>
        </p:txBody>
      </p:sp>
    </p:spTree>
    <p:extLst>
      <p:ext uri="{BB962C8B-B14F-4D97-AF65-F5344CB8AC3E}">
        <p14:creationId xmlns:p14="http://schemas.microsoft.com/office/powerpoint/2010/main" val="90197450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231" y="921116"/>
            <a:ext cx="9962939" cy="706964"/>
          </a:xfrm>
        </p:spPr>
        <p:txBody>
          <a:bodyPr>
            <a:normAutofit fontScale="90000"/>
          </a:bodyPr>
          <a:lstStyle/>
          <a:p>
            <a:r>
              <a:rPr lang="en-US" dirty="0" smtClean="0"/>
              <a:t>IMPORTANCE OF CRISIS MANAGEMENT</a:t>
            </a:r>
            <a:endParaRPr lang="en-US" dirty="0"/>
          </a:p>
        </p:txBody>
      </p:sp>
      <p:sp>
        <p:nvSpPr>
          <p:cNvPr id="3" name="Content Placeholder 2"/>
          <p:cNvSpPr>
            <a:spLocks noGrp="1"/>
          </p:cNvSpPr>
          <p:nvPr>
            <p:ph idx="1"/>
          </p:nvPr>
        </p:nvSpPr>
        <p:spPr>
          <a:xfrm>
            <a:off x="957942" y="1970317"/>
            <a:ext cx="10461172" cy="1611083"/>
          </a:xfrm>
        </p:spPr>
        <p:txBody>
          <a:bodyPr>
            <a:noAutofit/>
          </a:bodyPr>
          <a:lstStyle/>
          <a:p>
            <a:pPr marL="0" indent="0">
              <a:buNone/>
            </a:pPr>
            <a:r>
              <a:rPr lang="en-US" sz="2800" b="1" dirty="0" smtClean="0"/>
              <a:t>Value </a:t>
            </a:r>
            <a:r>
              <a:rPr lang="en-US" sz="2800" b="1" dirty="0"/>
              <a:t>of Reputations</a:t>
            </a:r>
            <a:endParaRPr lang="en-US" sz="2800" b="1" dirty="0" smtClean="0"/>
          </a:p>
          <a:p>
            <a:pPr>
              <a:buFont typeface="Wingdings" panose="05000000000000000000" pitchFamily="2" charset="2"/>
              <a:buChar char="Ø"/>
            </a:pPr>
            <a:r>
              <a:rPr lang="en-US" sz="2800" dirty="0"/>
              <a:t> </a:t>
            </a:r>
            <a:r>
              <a:rPr lang="en-US" sz="2800" dirty="0" smtClean="0"/>
              <a:t>Reputation: </a:t>
            </a:r>
            <a:r>
              <a:rPr lang="en-US" sz="2800" dirty="0"/>
              <a:t>extremely valuable </a:t>
            </a:r>
            <a:r>
              <a:rPr lang="en-US" sz="2800" dirty="0" smtClean="0"/>
              <a:t>intangible organizational resource</a:t>
            </a:r>
          </a:p>
          <a:p>
            <a:pPr>
              <a:buFont typeface="Wingdings" panose="05000000000000000000" pitchFamily="2" charset="2"/>
              <a:buChar char="Ø"/>
            </a:pPr>
            <a:r>
              <a:rPr lang="en-US" sz="2800" dirty="0"/>
              <a:t> Favorable </a:t>
            </a:r>
            <a:r>
              <a:rPr lang="en-US" sz="2800" dirty="0" smtClean="0"/>
              <a:t>reputations: </a:t>
            </a:r>
          </a:p>
          <a:p>
            <a:pPr marL="0" indent="0">
              <a:buNone/>
            </a:pPr>
            <a:endParaRPr lang="en-US" sz="2800" dirty="0"/>
          </a:p>
        </p:txBody>
      </p:sp>
      <p:sp>
        <p:nvSpPr>
          <p:cNvPr id="4" name="Content Placeholder 2"/>
          <p:cNvSpPr txBox="1">
            <a:spLocks/>
          </p:cNvSpPr>
          <p:nvPr/>
        </p:nvSpPr>
        <p:spPr>
          <a:xfrm>
            <a:off x="957943" y="3674146"/>
            <a:ext cx="5225144" cy="231299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576263" indent="-228600">
              <a:buFont typeface="Wingdings" panose="05000000000000000000" pitchFamily="2" charset="2"/>
              <a:buChar char="§"/>
            </a:pPr>
            <a:r>
              <a:rPr lang="en-US" sz="2800" dirty="0" smtClean="0"/>
              <a:t> attract customers</a:t>
            </a:r>
          </a:p>
          <a:p>
            <a:pPr marL="576263" indent="-228600">
              <a:buFont typeface="Wingdings" panose="05000000000000000000" pitchFamily="2" charset="2"/>
              <a:buChar char="§"/>
            </a:pPr>
            <a:r>
              <a:rPr lang="en-US" sz="2800" dirty="0" smtClean="0"/>
              <a:t> generate investment interest</a:t>
            </a:r>
          </a:p>
          <a:p>
            <a:pPr marL="576263" indent="-228600">
              <a:buFont typeface="Wingdings" panose="05000000000000000000" pitchFamily="2" charset="2"/>
              <a:buChar char="§"/>
            </a:pPr>
            <a:r>
              <a:rPr lang="en-US" sz="2800" dirty="0" smtClean="0"/>
              <a:t> attract </a:t>
            </a:r>
            <a:r>
              <a:rPr lang="en-US" sz="2800" dirty="0"/>
              <a:t>top employee </a:t>
            </a:r>
            <a:r>
              <a:rPr lang="en-US" sz="2800" dirty="0" smtClean="0"/>
              <a:t>talent</a:t>
            </a:r>
          </a:p>
          <a:p>
            <a:pPr marL="576263" indent="-228600">
              <a:buFont typeface="Wingdings" panose="05000000000000000000" pitchFamily="2" charset="2"/>
              <a:buChar char="§"/>
            </a:pPr>
            <a:r>
              <a:rPr lang="en-US" sz="2800" dirty="0" smtClean="0"/>
              <a:t> motivate workers</a:t>
            </a:r>
            <a:endParaRPr lang="en-US" sz="2800" dirty="0"/>
          </a:p>
        </p:txBody>
      </p:sp>
      <p:sp>
        <p:nvSpPr>
          <p:cNvPr id="5" name="Content Placeholder 2"/>
          <p:cNvSpPr txBox="1">
            <a:spLocks/>
          </p:cNvSpPr>
          <p:nvPr/>
        </p:nvSpPr>
        <p:spPr>
          <a:xfrm>
            <a:off x="6183087" y="3701578"/>
            <a:ext cx="5225144" cy="2312997"/>
          </a:xfrm>
          <a:prstGeom prst="rect">
            <a:avLst/>
          </a:prstGeom>
        </p:spPr>
        <p:txBody>
          <a:bodyPr vert="horz" lIns="45720" tIns="45720" rIns="45720" bIns="4572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631825" indent="-349250">
              <a:buFont typeface="Wingdings" panose="05000000000000000000" pitchFamily="2" charset="2"/>
              <a:buChar char="§"/>
            </a:pPr>
            <a:r>
              <a:rPr lang="en-US" sz="2800" dirty="0" smtClean="0"/>
              <a:t>increase </a:t>
            </a:r>
            <a:r>
              <a:rPr lang="en-US" sz="2800" dirty="0"/>
              <a:t>job </a:t>
            </a:r>
            <a:r>
              <a:rPr lang="en-US" sz="2800" dirty="0" smtClean="0"/>
              <a:t>satisfaction</a:t>
            </a:r>
          </a:p>
          <a:p>
            <a:pPr marL="631825" indent="-349250">
              <a:buFont typeface="Wingdings" panose="05000000000000000000" pitchFamily="2" charset="2"/>
              <a:buChar char="§"/>
            </a:pPr>
            <a:r>
              <a:rPr lang="en-US" sz="2800" dirty="0" smtClean="0"/>
              <a:t>generate </a:t>
            </a:r>
            <a:r>
              <a:rPr lang="en-US" sz="2800" dirty="0"/>
              <a:t>more </a:t>
            </a:r>
            <a:r>
              <a:rPr lang="en-US" sz="2800" dirty="0" smtClean="0"/>
              <a:t>positive media coverage</a:t>
            </a:r>
          </a:p>
          <a:p>
            <a:pPr marL="631825" indent="-349250">
              <a:buFont typeface="Wingdings" panose="05000000000000000000" pitchFamily="2" charset="2"/>
              <a:buChar char="§"/>
            </a:pPr>
            <a:r>
              <a:rPr lang="en-US" sz="2800" dirty="0" smtClean="0"/>
              <a:t>garner </a:t>
            </a:r>
            <a:r>
              <a:rPr lang="en-US" sz="2800" dirty="0"/>
              <a:t>positive comments from financial analysts</a:t>
            </a:r>
          </a:p>
        </p:txBody>
      </p:sp>
    </p:spTree>
    <p:extLst>
      <p:ext uri="{BB962C8B-B14F-4D97-AF65-F5344CB8AC3E}">
        <p14:creationId xmlns:p14="http://schemas.microsoft.com/office/powerpoint/2010/main" val="358741052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231" y="921116"/>
            <a:ext cx="9962939" cy="706964"/>
          </a:xfrm>
        </p:spPr>
        <p:txBody>
          <a:bodyPr>
            <a:normAutofit fontScale="90000"/>
          </a:bodyPr>
          <a:lstStyle/>
          <a:p>
            <a:r>
              <a:rPr lang="en-US" dirty="0" smtClean="0"/>
              <a:t>IMPORTANCE OF CRISIS MANAGEMENT</a:t>
            </a:r>
            <a:endParaRPr lang="en-US" dirty="0"/>
          </a:p>
        </p:txBody>
      </p:sp>
      <p:sp>
        <p:nvSpPr>
          <p:cNvPr id="3" name="Content Placeholder 2"/>
          <p:cNvSpPr>
            <a:spLocks noGrp="1"/>
          </p:cNvSpPr>
          <p:nvPr>
            <p:ph idx="1"/>
          </p:nvPr>
        </p:nvSpPr>
        <p:spPr>
          <a:xfrm>
            <a:off x="957942" y="1970317"/>
            <a:ext cx="10461172" cy="4463140"/>
          </a:xfrm>
        </p:spPr>
        <p:txBody>
          <a:bodyPr>
            <a:noAutofit/>
          </a:bodyPr>
          <a:lstStyle/>
          <a:p>
            <a:pPr marL="0" indent="0">
              <a:buNone/>
            </a:pPr>
            <a:r>
              <a:rPr lang="en-US" sz="2800" b="1" dirty="0" smtClean="0"/>
              <a:t>Value </a:t>
            </a:r>
            <a:r>
              <a:rPr lang="en-US" sz="2800" b="1" dirty="0"/>
              <a:t>of Reputations</a:t>
            </a:r>
            <a:endParaRPr lang="en-US" sz="2800" b="1" dirty="0" smtClean="0"/>
          </a:p>
          <a:p>
            <a:pPr>
              <a:buFont typeface="Wingdings" panose="05000000000000000000" pitchFamily="2" charset="2"/>
              <a:buChar char="Ø"/>
            </a:pPr>
            <a:r>
              <a:rPr lang="en-US" sz="2800" dirty="0"/>
              <a:t> A reputation is built through the </a:t>
            </a:r>
            <a:r>
              <a:rPr lang="en-US" sz="2800" i="1" dirty="0"/>
              <a:t>direct</a:t>
            </a:r>
            <a:r>
              <a:rPr lang="en-US" sz="2800" dirty="0"/>
              <a:t> and </a:t>
            </a:r>
            <a:r>
              <a:rPr lang="en-US" sz="2800" i="1" dirty="0"/>
              <a:t>indirect experiences</a:t>
            </a:r>
            <a:r>
              <a:rPr lang="en-US" sz="2800" dirty="0"/>
              <a:t> stakeholders have with the </a:t>
            </a:r>
            <a:r>
              <a:rPr lang="en-US" sz="2800" dirty="0" smtClean="0"/>
              <a:t>organization</a:t>
            </a:r>
            <a:endParaRPr lang="en-US" sz="2800" dirty="0"/>
          </a:p>
          <a:p>
            <a:pPr marL="511175" indent="-228600">
              <a:buFont typeface="Wingdings" panose="05000000000000000000" pitchFamily="2" charset="2"/>
              <a:buChar char="§"/>
            </a:pPr>
            <a:r>
              <a:rPr lang="en-US" sz="2800" dirty="0" smtClean="0"/>
              <a:t>Positive </a:t>
            </a:r>
            <a:r>
              <a:rPr lang="en-US" sz="2800" dirty="0"/>
              <a:t>interactions and information about the organization build </a:t>
            </a:r>
            <a:r>
              <a:rPr lang="en-US" sz="2800" i="1" dirty="0"/>
              <a:t>favorable </a:t>
            </a:r>
            <a:r>
              <a:rPr lang="en-US" sz="2800" i="1" dirty="0" smtClean="0"/>
              <a:t>reputations</a:t>
            </a:r>
          </a:p>
          <a:p>
            <a:pPr marL="511175" indent="-228600">
              <a:buFont typeface="Wingdings" panose="05000000000000000000" pitchFamily="2" charset="2"/>
              <a:buChar char="§"/>
            </a:pPr>
            <a:r>
              <a:rPr lang="en-US" sz="2800" dirty="0" smtClean="0"/>
              <a:t>Unpleasant </a:t>
            </a:r>
            <a:r>
              <a:rPr lang="en-US" sz="2800" dirty="0"/>
              <a:t>interactions and negative information lead to </a:t>
            </a:r>
            <a:r>
              <a:rPr lang="en-US" sz="2800" i="1" dirty="0"/>
              <a:t>unfavorable </a:t>
            </a:r>
            <a:r>
              <a:rPr lang="en-US" sz="2800" i="1" dirty="0" smtClean="0"/>
              <a:t>reputations</a:t>
            </a:r>
          </a:p>
          <a:p>
            <a:pPr>
              <a:buFont typeface="Wingdings" panose="05000000000000000000" pitchFamily="2" charset="2"/>
              <a:buChar char="Ø"/>
            </a:pPr>
            <a:r>
              <a:rPr lang="en-US" sz="2800" dirty="0" smtClean="0"/>
              <a:t>A </a:t>
            </a:r>
            <a:r>
              <a:rPr lang="en-US" sz="2800" dirty="0"/>
              <a:t>crisis poses a threat to reputational </a:t>
            </a:r>
            <a:r>
              <a:rPr lang="en-US" sz="2800" dirty="0" smtClean="0"/>
              <a:t>assets</a:t>
            </a:r>
            <a:endParaRPr lang="en-US" sz="2800" dirty="0"/>
          </a:p>
        </p:txBody>
      </p:sp>
    </p:spTree>
    <p:extLst>
      <p:ext uri="{BB962C8B-B14F-4D97-AF65-F5344CB8AC3E}">
        <p14:creationId xmlns:p14="http://schemas.microsoft.com/office/powerpoint/2010/main" val="343265703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231" y="921116"/>
            <a:ext cx="9962939" cy="706964"/>
          </a:xfrm>
        </p:spPr>
        <p:txBody>
          <a:bodyPr>
            <a:normAutofit fontScale="90000"/>
          </a:bodyPr>
          <a:lstStyle/>
          <a:p>
            <a:r>
              <a:rPr lang="en-US" dirty="0" smtClean="0"/>
              <a:t>IMPORTANCE OF CRISIS MANAGEMENT</a:t>
            </a:r>
            <a:endParaRPr lang="en-US" dirty="0"/>
          </a:p>
        </p:txBody>
      </p:sp>
      <p:sp>
        <p:nvSpPr>
          <p:cNvPr id="3" name="Content Placeholder 2"/>
          <p:cNvSpPr>
            <a:spLocks noGrp="1"/>
          </p:cNvSpPr>
          <p:nvPr>
            <p:ph idx="1"/>
          </p:nvPr>
        </p:nvSpPr>
        <p:spPr>
          <a:xfrm>
            <a:off x="957942" y="2100949"/>
            <a:ext cx="10167258" cy="4463140"/>
          </a:xfrm>
        </p:spPr>
        <p:txBody>
          <a:bodyPr>
            <a:noAutofit/>
          </a:bodyPr>
          <a:lstStyle/>
          <a:p>
            <a:pPr marL="0" indent="0">
              <a:buNone/>
            </a:pPr>
            <a:r>
              <a:rPr lang="en-US" sz="2800" b="1" dirty="0"/>
              <a:t>Stakeholder Activism</a:t>
            </a:r>
            <a:endParaRPr lang="en-US" sz="2800" b="1" dirty="0" smtClean="0"/>
          </a:p>
          <a:p>
            <a:pPr>
              <a:buFont typeface="Wingdings" panose="05000000000000000000" pitchFamily="2" charset="2"/>
              <a:buChar char="Ø"/>
            </a:pPr>
            <a:r>
              <a:rPr lang="en-US" sz="2800" dirty="0"/>
              <a:t> Angry stakeholders are more likely to generate crises</a:t>
            </a:r>
          </a:p>
          <a:p>
            <a:pPr>
              <a:buFont typeface="Wingdings" panose="05000000000000000000" pitchFamily="2" charset="2"/>
              <a:buChar char="Ø"/>
            </a:pPr>
            <a:r>
              <a:rPr lang="en-US" sz="2800" dirty="0" smtClean="0"/>
              <a:t> Internet </a:t>
            </a:r>
            <a:r>
              <a:rPr lang="en-US" sz="2800" dirty="0"/>
              <a:t>provides various </a:t>
            </a:r>
            <a:r>
              <a:rPr lang="en-US" sz="2800" dirty="0" smtClean="0"/>
              <a:t>means of </a:t>
            </a:r>
            <a:r>
              <a:rPr lang="en-US" sz="2800" dirty="0"/>
              <a:t>stakeholder </a:t>
            </a:r>
            <a:r>
              <a:rPr lang="en-US" sz="2800" dirty="0" smtClean="0"/>
              <a:t>expression</a:t>
            </a:r>
          </a:p>
          <a:p>
            <a:pPr marL="576263" indent="-228600">
              <a:buFont typeface="Wingdings" panose="05000000000000000000" pitchFamily="2" charset="2"/>
              <a:buChar char="§"/>
            </a:pPr>
            <a:r>
              <a:rPr lang="en-US" sz="2800" dirty="0" smtClean="0"/>
              <a:t>Key feature: users’ ability </a:t>
            </a:r>
            <a:r>
              <a:rPr lang="en-US" sz="2800" dirty="0"/>
              <a:t>to </a:t>
            </a:r>
            <a:r>
              <a:rPr lang="en-US" sz="2800" i="1" dirty="0"/>
              <a:t>create </a:t>
            </a:r>
            <a:r>
              <a:rPr lang="en-US" sz="2800" i="1" dirty="0" smtClean="0"/>
              <a:t>the content</a:t>
            </a:r>
            <a:r>
              <a:rPr lang="en-US" sz="2800" dirty="0" smtClean="0"/>
              <a:t> </a:t>
            </a:r>
            <a:r>
              <a:rPr lang="en-US" sz="2800" dirty="0"/>
              <a:t>rather than just the </a:t>
            </a:r>
            <a:r>
              <a:rPr lang="en-US" sz="2800" dirty="0" smtClean="0"/>
              <a:t>organizations</a:t>
            </a:r>
          </a:p>
          <a:p>
            <a:pPr marL="576263" indent="-228600">
              <a:buFont typeface="Wingdings" panose="05000000000000000000" pitchFamily="2" charset="2"/>
              <a:buChar char="§"/>
            </a:pPr>
            <a:r>
              <a:rPr lang="en-US" sz="2800" i="1" dirty="0"/>
              <a:t>Social media</a:t>
            </a:r>
            <a:r>
              <a:rPr lang="en-US" sz="2800" dirty="0"/>
              <a:t>: Internet platforms where stakeholders create </a:t>
            </a:r>
            <a:r>
              <a:rPr lang="en-US" sz="2800" dirty="0" smtClean="0"/>
              <a:t>the content </a:t>
            </a:r>
            <a:endParaRPr lang="en-US" sz="2800" dirty="0"/>
          </a:p>
        </p:txBody>
      </p:sp>
    </p:spTree>
    <p:extLst>
      <p:ext uri="{BB962C8B-B14F-4D97-AF65-F5344CB8AC3E}">
        <p14:creationId xmlns:p14="http://schemas.microsoft.com/office/powerpoint/2010/main" val="267618852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231" y="921116"/>
            <a:ext cx="9962939" cy="706964"/>
          </a:xfrm>
        </p:spPr>
        <p:txBody>
          <a:bodyPr>
            <a:normAutofit fontScale="90000"/>
          </a:bodyPr>
          <a:lstStyle/>
          <a:p>
            <a:r>
              <a:rPr lang="en-US" dirty="0" smtClean="0"/>
              <a:t>IMPORTANCE OF CRISIS MANAGEMENT</a:t>
            </a:r>
            <a:endParaRPr lang="en-US" dirty="0"/>
          </a:p>
        </p:txBody>
      </p:sp>
      <p:sp>
        <p:nvSpPr>
          <p:cNvPr id="3" name="Content Placeholder 2"/>
          <p:cNvSpPr>
            <a:spLocks noGrp="1"/>
          </p:cNvSpPr>
          <p:nvPr>
            <p:ph idx="1"/>
          </p:nvPr>
        </p:nvSpPr>
        <p:spPr>
          <a:xfrm>
            <a:off x="5704114" y="2046519"/>
            <a:ext cx="6487886" cy="4463140"/>
          </a:xfrm>
        </p:spPr>
        <p:txBody>
          <a:bodyPr>
            <a:noAutofit/>
          </a:bodyPr>
          <a:lstStyle/>
          <a:p>
            <a:pPr marL="0" indent="0">
              <a:buNone/>
            </a:pPr>
            <a:r>
              <a:rPr lang="en-US" sz="2800" b="1" dirty="0"/>
              <a:t>Stakeholder Activism</a:t>
            </a:r>
            <a:endParaRPr lang="en-US" sz="2800" b="1" dirty="0" smtClean="0"/>
          </a:p>
          <a:p>
            <a:pPr>
              <a:buFont typeface="Wingdings" panose="05000000000000000000" pitchFamily="2" charset="2"/>
              <a:buChar char="Ø"/>
            </a:pPr>
            <a:r>
              <a:rPr lang="en-US" sz="2800" dirty="0"/>
              <a:t> </a:t>
            </a:r>
            <a:r>
              <a:rPr lang="en-US" sz="2800" dirty="0" smtClean="0"/>
              <a:t>Crisis </a:t>
            </a:r>
            <a:r>
              <a:rPr lang="en-US" sz="2800" dirty="0"/>
              <a:t>can occur when </a:t>
            </a:r>
            <a:r>
              <a:rPr lang="en-US" sz="2800" i="1" dirty="0"/>
              <a:t>disgruntled stakeholders</a:t>
            </a:r>
            <a:r>
              <a:rPr lang="en-US" sz="2800" dirty="0"/>
              <a:t> strike a responsive chord and </a:t>
            </a:r>
            <a:r>
              <a:rPr lang="en-US" sz="2800" i="1" dirty="0"/>
              <a:t>connect with other stakeholders online</a:t>
            </a:r>
          </a:p>
          <a:p>
            <a:pPr>
              <a:buFont typeface="Wingdings" panose="05000000000000000000" pitchFamily="2" charset="2"/>
              <a:buChar char="Ø"/>
            </a:pPr>
            <a:r>
              <a:rPr lang="en-US" sz="2800" dirty="0"/>
              <a:t> </a:t>
            </a:r>
            <a:r>
              <a:rPr lang="en-US" sz="2800" i="1" dirty="0"/>
              <a:t>Legitimate criticism</a:t>
            </a:r>
            <a:r>
              <a:rPr lang="en-US" sz="2800" dirty="0"/>
              <a:t> </a:t>
            </a:r>
            <a:r>
              <a:rPr lang="en-US" sz="2800" dirty="0" smtClean="0"/>
              <a:t>spreading among </a:t>
            </a:r>
            <a:r>
              <a:rPr lang="en-US" sz="2800" dirty="0"/>
              <a:t>stakeholders poses a </a:t>
            </a:r>
            <a:r>
              <a:rPr lang="en-US" sz="2800" i="1" dirty="0"/>
              <a:t>direct threat</a:t>
            </a:r>
            <a:r>
              <a:rPr lang="en-US" sz="2800" dirty="0"/>
              <a:t> to the organization’s </a:t>
            </a:r>
            <a:r>
              <a:rPr lang="en-US" sz="2800" dirty="0" smtClean="0"/>
              <a:t>reputation</a:t>
            </a:r>
            <a:endParaRPr lang="en-US" sz="2800" dirty="0"/>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b="42612"/>
          <a:stretch/>
        </p:blipFill>
        <p:spPr>
          <a:xfrm>
            <a:off x="1111704" y="1719945"/>
            <a:ext cx="3819525" cy="3826329"/>
          </a:xfrm>
          <a:prstGeom prst="rect">
            <a:avLst/>
          </a:prstGeom>
        </p:spPr>
      </p:pic>
      <p:sp>
        <p:nvSpPr>
          <p:cNvPr id="5" name="TextBox 4">
            <a:extLst>
              <a:ext uri="{FF2B5EF4-FFF2-40B4-BE49-F238E27FC236}">
                <a16:creationId xmlns:a16="http://schemas.microsoft.com/office/drawing/2014/main" id="{DBE2D027-9EC0-5249-B905-F312FB2752C6}"/>
              </a:ext>
            </a:extLst>
          </p:cNvPr>
          <p:cNvSpPr txBox="1"/>
          <p:nvPr/>
        </p:nvSpPr>
        <p:spPr>
          <a:xfrm>
            <a:off x="329529" y="5780090"/>
            <a:ext cx="5383874" cy="600164"/>
          </a:xfrm>
          <a:prstGeom prst="rect">
            <a:avLst/>
          </a:prstGeom>
          <a:noFill/>
        </p:spPr>
        <p:txBody>
          <a:bodyPr wrap="square" rtlCol="0">
            <a:spAutoFit/>
          </a:bodyPr>
          <a:lstStyle/>
          <a:p>
            <a:pPr algn="ctr"/>
            <a:r>
              <a:rPr lang="en-US" i="1" dirty="0" smtClean="0"/>
              <a:t>Brands Boycott following Ho Ngoc Ha’s scandal (2016)</a:t>
            </a:r>
          </a:p>
          <a:p>
            <a:pPr algn="ctr"/>
            <a:r>
              <a:rPr lang="en-US" sz="1500" i="1" dirty="0" smtClean="0"/>
              <a:t>Source</a:t>
            </a:r>
            <a:r>
              <a:rPr lang="en-US" sz="1500" i="1" dirty="0"/>
              <a:t>: petrotimes.vn</a:t>
            </a:r>
            <a:endParaRPr lang="en-VN" sz="1500" i="1" dirty="0"/>
          </a:p>
        </p:txBody>
      </p:sp>
    </p:spTree>
    <p:extLst>
      <p:ext uri="{BB962C8B-B14F-4D97-AF65-F5344CB8AC3E}">
        <p14:creationId xmlns:p14="http://schemas.microsoft.com/office/powerpoint/2010/main" val="159465793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231" y="921116"/>
            <a:ext cx="9962939" cy="706964"/>
          </a:xfrm>
        </p:spPr>
        <p:txBody>
          <a:bodyPr>
            <a:normAutofit fontScale="90000"/>
          </a:bodyPr>
          <a:lstStyle/>
          <a:p>
            <a:r>
              <a:rPr lang="en-US" dirty="0" smtClean="0"/>
              <a:t>IMPORTANCE OF CRISIS MANAGEMENT</a:t>
            </a:r>
            <a:endParaRPr lang="en-US" dirty="0"/>
          </a:p>
        </p:txBody>
      </p:sp>
      <p:sp>
        <p:nvSpPr>
          <p:cNvPr id="3" name="Content Placeholder 2"/>
          <p:cNvSpPr>
            <a:spLocks noGrp="1"/>
          </p:cNvSpPr>
          <p:nvPr>
            <p:ph idx="1"/>
          </p:nvPr>
        </p:nvSpPr>
        <p:spPr>
          <a:xfrm>
            <a:off x="6008914" y="1828805"/>
            <a:ext cx="5998028" cy="4332510"/>
          </a:xfrm>
        </p:spPr>
        <p:txBody>
          <a:bodyPr>
            <a:noAutofit/>
          </a:bodyPr>
          <a:lstStyle/>
          <a:p>
            <a:pPr marL="0" indent="0">
              <a:buNone/>
            </a:pPr>
            <a:r>
              <a:rPr lang="en-US" sz="2800" b="1" dirty="0"/>
              <a:t>Stakeholder Activism</a:t>
            </a:r>
            <a:endParaRPr lang="en-US" sz="2800" b="1" dirty="0" smtClean="0"/>
          </a:p>
          <a:p>
            <a:pPr>
              <a:buFont typeface="Wingdings" panose="05000000000000000000" pitchFamily="2" charset="2"/>
              <a:buChar char="Ø"/>
            </a:pPr>
            <a:r>
              <a:rPr lang="en-US" sz="2800" dirty="0"/>
              <a:t> </a:t>
            </a:r>
            <a:r>
              <a:rPr lang="en-US" sz="2800" dirty="0" smtClean="0"/>
              <a:t>Activist groups use the Internet to </a:t>
            </a:r>
            <a:r>
              <a:rPr lang="en-US" sz="2800" i="1" dirty="0" smtClean="0"/>
              <a:t>organize</a:t>
            </a:r>
            <a:r>
              <a:rPr lang="en-US" sz="2800" dirty="0" smtClean="0"/>
              <a:t> and to </a:t>
            </a:r>
            <a:r>
              <a:rPr lang="en-US" sz="2800" i="1" dirty="0" smtClean="0"/>
              <a:t>pressure</a:t>
            </a:r>
            <a:r>
              <a:rPr lang="en-US" sz="2800" dirty="0" smtClean="0"/>
              <a:t> organizations to change their behaviors</a:t>
            </a:r>
          </a:p>
          <a:p>
            <a:pPr>
              <a:buFont typeface="Wingdings" panose="05000000000000000000" pitchFamily="2" charset="2"/>
              <a:buChar char="Ø"/>
            </a:pPr>
            <a:r>
              <a:rPr lang="en-US" sz="2800" dirty="0"/>
              <a:t> </a:t>
            </a:r>
            <a:r>
              <a:rPr lang="en-US" sz="2800" dirty="0" smtClean="0"/>
              <a:t>Internet: </a:t>
            </a:r>
            <a:r>
              <a:rPr lang="en-US" sz="2800" dirty="0"/>
              <a:t>increase the </a:t>
            </a:r>
            <a:r>
              <a:rPr lang="en-US" sz="2800" dirty="0" smtClean="0"/>
              <a:t>power of </a:t>
            </a:r>
            <a:r>
              <a:rPr lang="en-US" sz="2800" dirty="0"/>
              <a:t>activist </a:t>
            </a:r>
            <a:r>
              <a:rPr lang="en-US" sz="2800" dirty="0" smtClean="0"/>
              <a:t>groups</a:t>
            </a:r>
          </a:p>
          <a:p>
            <a:pPr marL="576263" indent="-228600">
              <a:buFont typeface="Wingdings" panose="05000000000000000000" pitchFamily="2" charset="2"/>
              <a:buChar char="§"/>
            </a:pPr>
            <a:r>
              <a:rPr lang="en-US" sz="2800" dirty="0" smtClean="0"/>
              <a:t> make </a:t>
            </a:r>
            <a:r>
              <a:rPr lang="en-US" sz="2800" dirty="0"/>
              <a:t>them audible to </a:t>
            </a:r>
            <a:r>
              <a:rPr lang="en-US" sz="2800" dirty="0" smtClean="0"/>
              <a:t>managers</a:t>
            </a:r>
          </a:p>
          <a:p>
            <a:pPr marL="576263" indent="-228600">
              <a:buFont typeface="Wingdings" panose="05000000000000000000" pitchFamily="2" charset="2"/>
              <a:buChar char="§"/>
            </a:pPr>
            <a:r>
              <a:rPr lang="en-US" sz="2800" dirty="0" smtClean="0"/>
              <a:t>put </a:t>
            </a:r>
            <a:r>
              <a:rPr lang="en-US" sz="2800" dirty="0"/>
              <a:t>them on an organization’s agenda </a:t>
            </a:r>
            <a:r>
              <a:rPr lang="en-US" sz="2800" dirty="0" smtClean="0"/>
              <a:t>for consideration </a:t>
            </a:r>
            <a:endParaRPr lang="en-US" sz="28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2198233"/>
            <a:ext cx="4883604" cy="3278991"/>
          </a:xfrm>
          <a:prstGeom prst="rect">
            <a:avLst/>
          </a:prstGeom>
        </p:spPr>
      </p:pic>
      <p:sp>
        <p:nvSpPr>
          <p:cNvPr id="6" name="TextBox 5">
            <a:extLst>
              <a:ext uri="{FF2B5EF4-FFF2-40B4-BE49-F238E27FC236}">
                <a16:creationId xmlns:a16="http://schemas.microsoft.com/office/drawing/2014/main" id="{DBE2D027-9EC0-5249-B905-F312FB2752C6}"/>
              </a:ext>
            </a:extLst>
          </p:cNvPr>
          <p:cNvSpPr txBox="1"/>
          <p:nvPr/>
        </p:nvSpPr>
        <p:spPr>
          <a:xfrm>
            <a:off x="511865" y="5660347"/>
            <a:ext cx="5383874" cy="600164"/>
          </a:xfrm>
          <a:prstGeom prst="rect">
            <a:avLst/>
          </a:prstGeom>
          <a:noFill/>
        </p:spPr>
        <p:txBody>
          <a:bodyPr wrap="square" rtlCol="0">
            <a:spAutoFit/>
          </a:bodyPr>
          <a:lstStyle/>
          <a:p>
            <a:pPr algn="ctr"/>
            <a:r>
              <a:rPr lang="en-US" i="1" dirty="0" smtClean="0"/>
              <a:t>Greenpeace’s campaign against KitKat (2010)</a:t>
            </a:r>
          </a:p>
          <a:p>
            <a:pPr algn="ctr"/>
            <a:r>
              <a:rPr lang="en-US" sz="1500" i="1" dirty="0" smtClean="0"/>
              <a:t>Source</a:t>
            </a:r>
            <a:r>
              <a:rPr lang="en-US" sz="1500" i="1" dirty="0"/>
              <a:t>: Greenpeace International’s </a:t>
            </a:r>
            <a:r>
              <a:rPr lang="en-US" sz="1500" i="1" dirty="0" smtClean="0"/>
              <a:t>Flickr</a:t>
            </a:r>
            <a:endParaRPr lang="en-VN" sz="1500" i="1" dirty="0"/>
          </a:p>
        </p:txBody>
      </p:sp>
    </p:spTree>
    <p:extLst>
      <p:ext uri="{BB962C8B-B14F-4D97-AF65-F5344CB8AC3E}">
        <p14:creationId xmlns:p14="http://schemas.microsoft.com/office/powerpoint/2010/main" val="81806244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231" y="921116"/>
            <a:ext cx="9962939" cy="706964"/>
          </a:xfrm>
        </p:spPr>
        <p:txBody>
          <a:bodyPr>
            <a:normAutofit fontScale="90000"/>
          </a:bodyPr>
          <a:lstStyle/>
          <a:p>
            <a:r>
              <a:rPr lang="en-US" dirty="0" smtClean="0"/>
              <a:t>IMPORTANCE OF CRISIS MANAGEMENT</a:t>
            </a:r>
            <a:endParaRPr lang="en-US" dirty="0"/>
          </a:p>
        </p:txBody>
      </p:sp>
      <p:sp>
        <p:nvSpPr>
          <p:cNvPr id="3" name="Content Placeholder 2"/>
          <p:cNvSpPr>
            <a:spLocks noGrp="1"/>
          </p:cNvSpPr>
          <p:nvPr>
            <p:ph idx="1"/>
          </p:nvPr>
        </p:nvSpPr>
        <p:spPr>
          <a:xfrm>
            <a:off x="957942" y="1872348"/>
            <a:ext cx="10167258" cy="4463140"/>
          </a:xfrm>
        </p:spPr>
        <p:txBody>
          <a:bodyPr>
            <a:noAutofit/>
          </a:bodyPr>
          <a:lstStyle/>
          <a:p>
            <a:pPr marL="0" indent="0">
              <a:buNone/>
            </a:pPr>
            <a:r>
              <a:rPr lang="en-US" sz="2800" b="1" dirty="0"/>
              <a:t>Digital Naturals</a:t>
            </a:r>
            <a:endParaRPr lang="en-US" sz="2800" b="1" dirty="0" smtClean="0"/>
          </a:p>
          <a:p>
            <a:pPr>
              <a:buFont typeface="Wingdings" panose="05000000000000000000" pitchFamily="2" charset="2"/>
              <a:buChar char="Ø"/>
            </a:pPr>
            <a:r>
              <a:rPr lang="en-US" sz="2800" dirty="0"/>
              <a:t> </a:t>
            </a:r>
            <a:r>
              <a:rPr lang="en-US" sz="2800" dirty="0" smtClean="0"/>
              <a:t>Have </a:t>
            </a:r>
            <a:r>
              <a:rPr lang="en-US" sz="2800" dirty="0"/>
              <a:t>the skills and motivation to use digital communication channels and platforms such as </a:t>
            </a:r>
            <a:r>
              <a:rPr lang="en-US" sz="2800" dirty="0" smtClean="0"/>
              <a:t>social media </a:t>
            </a:r>
          </a:p>
          <a:p>
            <a:pPr>
              <a:buFont typeface="Wingdings" panose="05000000000000000000" pitchFamily="2" charset="2"/>
              <a:buChar char="Ø"/>
            </a:pPr>
            <a:r>
              <a:rPr lang="en-US" sz="2800" dirty="0" smtClean="0"/>
              <a:t> Use </a:t>
            </a:r>
            <a:r>
              <a:rPr lang="en-US" sz="2800" dirty="0"/>
              <a:t>digital channels and platforms to make the world more visible to others</a:t>
            </a:r>
            <a:r>
              <a:rPr lang="en-US" sz="2800" dirty="0" smtClean="0"/>
              <a:t> </a:t>
            </a:r>
          </a:p>
          <a:p>
            <a:pPr>
              <a:buFont typeface="Wingdings" panose="05000000000000000000" pitchFamily="2" charset="2"/>
              <a:buChar char="Ø"/>
            </a:pPr>
            <a:r>
              <a:rPr lang="en-US" sz="2800" dirty="0" smtClean="0"/>
              <a:t> Instrumental </a:t>
            </a:r>
            <a:r>
              <a:rPr lang="en-US" sz="2800" dirty="0"/>
              <a:t>to the earlier notion of stakeholder </a:t>
            </a:r>
            <a:r>
              <a:rPr lang="en-US" sz="2800" dirty="0" smtClean="0"/>
              <a:t>activism</a:t>
            </a:r>
          </a:p>
          <a:p>
            <a:pPr marL="0" indent="0">
              <a:buNone/>
            </a:pPr>
            <a:r>
              <a:rPr lang="en-US" sz="2800" dirty="0" smtClean="0">
                <a:sym typeface="Wingdings" panose="05000000000000000000" pitchFamily="2" charset="2"/>
              </a:rPr>
              <a:t> </a:t>
            </a:r>
            <a:r>
              <a:rPr lang="en-US" sz="2800" dirty="0" smtClean="0"/>
              <a:t>As </a:t>
            </a:r>
            <a:r>
              <a:rPr lang="en-US" sz="2800" dirty="0"/>
              <a:t>stakeholders are increasingly digital naturals, crisis managers must integrate digital </a:t>
            </a:r>
            <a:r>
              <a:rPr lang="en-US" sz="2800" dirty="0" smtClean="0"/>
              <a:t>communication channels </a:t>
            </a:r>
            <a:r>
              <a:rPr lang="en-US" sz="2800" dirty="0"/>
              <a:t>and platforms into the entire crisis management </a:t>
            </a:r>
            <a:r>
              <a:rPr lang="en-US" sz="2800" dirty="0" smtClean="0"/>
              <a:t>process.</a:t>
            </a:r>
            <a:endParaRPr lang="en-US" sz="2800" dirty="0"/>
          </a:p>
        </p:txBody>
      </p:sp>
    </p:spTree>
    <p:extLst>
      <p:ext uri="{BB962C8B-B14F-4D97-AF65-F5344CB8AC3E}">
        <p14:creationId xmlns:p14="http://schemas.microsoft.com/office/powerpoint/2010/main" val="402693730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231" y="921116"/>
            <a:ext cx="9962939" cy="706964"/>
          </a:xfrm>
        </p:spPr>
        <p:txBody>
          <a:bodyPr>
            <a:normAutofit fontScale="90000"/>
          </a:bodyPr>
          <a:lstStyle/>
          <a:p>
            <a:r>
              <a:rPr lang="en-US" dirty="0" smtClean="0"/>
              <a:t>IMPORTANCE OF CRISIS MANAGEMENT</a:t>
            </a:r>
            <a:endParaRPr lang="en-US" dirty="0"/>
          </a:p>
        </p:txBody>
      </p:sp>
      <p:sp>
        <p:nvSpPr>
          <p:cNvPr id="3" name="Content Placeholder 2"/>
          <p:cNvSpPr>
            <a:spLocks noGrp="1"/>
          </p:cNvSpPr>
          <p:nvPr>
            <p:ph idx="1"/>
          </p:nvPr>
        </p:nvSpPr>
        <p:spPr>
          <a:xfrm>
            <a:off x="729338" y="1915892"/>
            <a:ext cx="6313715" cy="4626422"/>
          </a:xfrm>
        </p:spPr>
        <p:txBody>
          <a:bodyPr>
            <a:noAutofit/>
          </a:bodyPr>
          <a:lstStyle/>
          <a:p>
            <a:pPr marL="0" indent="0">
              <a:buNone/>
            </a:pPr>
            <a:r>
              <a:rPr lang="en-US" sz="2800" b="1" dirty="0"/>
              <a:t>Broader View of Crises</a:t>
            </a:r>
            <a:endParaRPr lang="en-US" sz="2800" b="1" dirty="0" smtClean="0"/>
          </a:p>
          <a:p>
            <a:pPr>
              <a:buFont typeface="Wingdings" panose="05000000000000000000" pitchFamily="2" charset="2"/>
              <a:buChar char="Ø"/>
            </a:pPr>
            <a:r>
              <a:rPr lang="en-US" sz="2800" dirty="0"/>
              <a:t> </a:t>
            </a:r>
            <a:r>
              <a:rPr lang="en-US" sz="2800" dirty="0" smtClean="0"/>
              <a:t>Before Sep-11 </a:t>
            </a:r>
            <a:r>
              <a:rPr lang="en-US" sz="2800" dirty="0"/>
              <a:t>event: </a:t>
            </a:r>
            <a:r>
              <a:rPr lang="en-US" sz="2800" dirty="0" smtClean="0"/>
              <a:t>crisis management </a:t>
            </a:r>
            <a:r>
              <a:rPr lang="en-US" sz="2800" dirty="0"/>
              <a:t>was driven by what might happen to organizations on their </a:t>
            </a:r>
            <a:r>
              <a:rPr lang="en-US" sz="2800" dirty="0" smtClean="0"/>
              <a:t>sites</a:t>
            </a:r>
          </a:p>
          <a:p>
            <a:pPr>
              <a:buFont typeface="Wingdings" panose="05000000000000000000" pitchFamily="2" charset="2"/>
              <a:buChar char="Ø"/>
            </a:pPr>
            <a:r>
              <a:rPr lang="en-US" sz="2800" i="1" dirty="0"/>
              <a:t> </a:t>
            </a:r>
            <a:r>
              <a:rPr lang="en-US" sz="2800" dirty="0" smtClean="0"/>
              <a:t>After</a:t>
            </a:r>
            <a:r>
              <a:rPr lang="en-US" sz="2800" i="1" dirty="0" smtClean="0"/>
              <a:t> </a:t>
            </a:r>
            <a:r>
              <a:rPr lang="en-US" sz="2800" dirty="0"/>
              <a:t>Sep-11 event: organizations </a:t>
            </a:r>
            <a:r>
              <a:rPr lang="en-US" sz="2800" dirty="0" smtClean="0"/>
              <a:t>are </a:t>
            </a:r>
            <a:r>
              <a:rPr lang="en-US" sz="2800" dirty="0"/>
              <a:t>broadening their view of </a:t>
            </a:r>
            <a:r>
              <a:rPr lang="en-US" sz="2800" dirty="0" smtClean="0"/>
              <a:t>crises:</a:t>
            </a:r>
          </a:p>
          <a:p>
            <a:pPr marL="631825" indent="-284163">
              <a:buFont typeface="Wingdings" panose="05000000000000000000" pitchFamily="2" charset="2"/>
              <a:buChar char="§"/>
            </a:pPr>
            <a:r>
              <a:rPr lang="en-US" sz="2800" dirty="0"/>
              <a:t> </a:t>
            </a:r>
            <a:r>
              <a:rPr lang="en-US" sz="2800" dirty="0" smtClean="0"/>
              <a:t>include </a:t>
            </a:r>
            <a:r>
              <a:rPr lang="en-US" sz="2800" dirty="0"/>
              <a:t>nearby facilities that could </a:t>
            </a:r>
            <a:r>
              <a:rPr lang="en-US" sz="2800" dirty="0" smtClean="0"/>
              <a:t>create crises </a:t>
            </a:r>
            <a:r>
              <a:rPr lang="en-US" sz="2800" dirty="0"/>
              <a:t>for </a:t>
            </a:r>
            <a:r>
              <a:rPr lang="en-US" sz="2800" dirty="0" smtClean="0"/>
              <a:t>them</a:t>
            </a:r>
          </a:p>
          <a:p>
            <a:pPr marL="631825" indent="-284163">
              <a:buFont typeface="Wingdings" panose="05000000000000000000" pitchFamily="2" charset="2"/>
              <a:buChar char="§"/>
            </a:pPr>
            <a:r>
              <a:rPr lang="en-US" sz="2800" dirty="0" smtClean="0"/>
              <a:t>increase </a:t>
            </a:r>
            <a:r>
              <a:rPr lang="en-US" sz="2800" dirty="0"/>
              <a:t>emphasis on security and emergency </a:t>
            </a:r>
            <a:r>
              <a:rPr lang="en-US" sz="2800" dirty="0" smtClean="0"/>
              <a:t>preparedness</a:t>
            </a:r>
            <a:endParaRPr lang="en-US" sz="2800" dirty="0"/>
          </a:p>
        </p:txBody>
      </p:sp>
      <p:pic>
        <p:nvPicPr>
          <p:cNvPr id="4" name="Picture 3">
            <a:extLst>
              <a:ext uri="{FF2B5EF4-FFF2-40B4-BE49-F238E27FC236}">
                <a16:creationId xmlns:a16="http://schemas.microsoft.com/office/drawing/2014/main" id="{42A91998-9749-364C-ABE1-C746C3FA7F91}"/>
              </a:ext>
            </a:extLst>
          </p:cNvPr>
          <p:cNvPicPr>
            <a:picLocks noChangeAspect="1"/>
          </p:cNvPicPr>
          <p:nvPr/>
        </p:nvPicPr>
        <p:blipFill>
          <a:blip r:embed="rId3">
            <a:extLst>
              <a:ext uri="{837473B0-CC2E-450A-ABE3-18F120FF3D39}">
                <a1611:picAttrSrcUrl xmlns="" xmlns:a1611="http://schemas.microsoft.com/office/drawing/2016/11/main" r:id="rId4"/>
              </a:ext>
            </a:extLst>
          </a:blip>
          <a:stretch>
            <a:fillRect/>
          </a:stretch>
        </p:blipFill>
        <p:spPr>
          <a:xfrm>
            <a:off x="7271657" y="2393987"/>
            <a:ext cx="4469566" cy="2983176"/>
          </a:xfrm>
          <a:prstGeom prst="rect">
            <a:avLst/>
          </a:prstGeom>
        </p:spPr>
      </p:pic>
      <p:sp>
        <p:nvSpPr>
          <p:cNvPr id="5" name="TextBox 4">
            <a:extLst>
              <a:ext uri="{FF2B5EF4-FFF2-40B4-BE49-F238E27FC236}">
                <a16:creationId xmlns:a16="http://schemas.microsoft.com/office/drawing/2014/main" id="{16C50F44-8E58-3E40-AF56-E033476A23F7}"/>
              </a:ext>
            </a:extLst>
          </p:cNvPr>
          <p:cNvSpPr txBox="1"/>
          <p:nvPr/>
        </p:nvSpPr>
        <p:spPr>
          <a:xfrm>
            <a:off x="7174524" y="5531238"/>
            <a:ext cx="4663831" cy="230832"/>
          </a:xfrm>
          <a:prstGeom prst="rect">
            <a:avLst/>
          </a:prstGeom>
          <a:noFill/>
        </p:spPr>
        <p:txBody>
          <a:bodyPr wrap="square" rtlCol="0">
            <a:spAutoFit/>
          </a:bodyPr>
          <a:lstStyle/>
          <a:p>
            <a:pPr algn="ctr"/>
            <a:r>
              <a:rPr lang="en-VN" sz="900" dirty="0">
                <a:hlinkClick r:id="rId4" tooltip="http://www.sacerdotus.com/2012/09/september-11-2001-11-years.html"/>
              </a:rPr>
              <a:t>This Photo</a:t>
            </a:r>
            <a:r>
              <a:rPr lang="en-VN" sz="900" dirty="0"/>
              <a:t> by Unknown Author is licensed under </a:t>
            </a:r>
            <a:r>
              <a:rPr lang="en-VN" sz="900" dirty="0">
                <a:hlinkClick r:id="rId5" tooltip="https://creativecommons.org/licenses/by-nc-nd/3.0/"/>
              </a:rPr>
              <a:t>CC BY-NC-ND</a:t>
            </a:r>
            <a:endParaRPr lang="en-VN" sz="900" dirty="0"/>
          </a:p>
        </p:txBody>
      </p:sp>
    </p:spTree>
    <p:extLst>
      <p:ext uri="{BB962C8B-B14F-4D97-AF65-F5344CB8AC3E}">
        <p14:creationId xmlns:p14="http://schemas.microsoft.com/office/powerpoint/2010/main" val="245077449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231" y="921116"/>
            <a:ext cx="9962939" cy="706964"/>
          </a:xfrm>
        </p:spPr>
        <p:txBody>
          <a:bodyPr>
            <a:normAutofit fontScale="90000"/>
          </a:bodyPr>
          <a:lstStyle/>
          <a:p>
            <a:r>
              <a:rPr lang="en-US" dirty="0" smtClean="0"/>
              <a:t>IMPORTANCE OF CRISIS MANAGEMENT</a:t>
            </a:r>
            <a:endParaRPr lang="en-US" dirty="0"/>
          </a:p>
        </p:txBody>
      </p:sp>
      <p:sp>
        <p:nvSpPr>
          <p:cNvPr id="3" name="Content Placeholder 2"/>
          <p:cNvSpPr>
            <a:spLocks noGrp="1"/>
          </p:cNvSpPr>
          <p:nvPr>
            <p:ph idx="1"/>
          </p:nvPr>
        </p:nvSpPr>
        <p:spPr>
          <a:xfrm>
            <a:off x="879230" y="1915892"/>
            <a:ext cx="10300399" cy="4626422"/>
          </a:xfrm>
        </p:spPr>
        <p:txBody>
          <a:bodyPr>
            <a:noAutofit/>
          </a:bodyPr>
          <a:lstStyle/>
          <a:p>
            <a:pPr marL="0" indent="0">
              <a:buNone/>
            </a:pPr>
            <a:r>
              <a:rPr lang="en-US" sz="2800" b="1" dirty="0"/>
              <a:t>Broader View of Crises</a:t>
            </a:r>
            <a:endParaRPr lang="en-US" sz="2800" b="1" dirty="0" smtClean="0"/>
          </a:p>
          <a:p>
            <a:pPr>
              <a:buFont typeface="Wingdings" panose="05000000000000000000" pitchFamily="2" charset="2"/>
              <a:buChar char="Ø"/>
            </a:pPr>
            <a:r>
              <a:rPr lang="en-US" sz="2800" dirty="0"/>
              <a:t> Social </a:t>
            </a:r>
            <a:r>
              <a:rPr lang="en-US" sz="2800" dirty="0" smtClean="0"/>
              <a:t>media: add </a:t>
            </a:r>
            <a:r>
              <a:rPr lang="en-US" sz="2800" dirty="0"/>
              <a:t>another layer to broadening the view of crises</a:t>
            </a:r>
            <a:endParaRPr lang="en-US" sz="2800" dirty="0" smtClean="0"/>
          </a:p>
          <a:p>
            <a:pPr>
              <a:buFont typeface="Wingdings" panose="05000000000000000000" pitchFamily="2" charset="2"/>
              <a:buChar char="Ø"/>
            </a:pPr>
            <a:r>
              <a:rPr lang="en-US" sz="2800" i="1" dirty="0"/>
              <a:t> </a:t>
            </a:r>
            <a:r>
              <a:rPr lang="en-US" sz="2800" dirty="0" smtClean="0"/>
              <a:t>Crisis threats (especially </a:t>
            </a:r>
            <a:r>
              <a:rPr lang="en-US" sz="2800" dirty="0"/>
              <a:t>those that damage </a:t>
            </a:r>
            <a:r>
              <a:rPr lang="en-US" sz="2800" dirty="0" smtClean="0"/>
              <a:t>reputations) </a:t>
            </a:r>
            <a:r>
              <a:rPr lang="en-US" sz="2800" dirty="0"/>
              <a:t>can </a:t>
            </a:r>
            <a:r>
              <a:rPr lang="en-US" sz="2800" i="1" dirty="0"/>
              <a:t>emerge and grow rapidly </a:t>
            </a:r>
            <a:r>
              <a:rPr lang="en-US" sz="2800" i="1" dirty="0" smtClean="0"/>
              <a:t>online</a:t>
            </a:r>
          </a:p>
          <a:p>
            <a:pPr>
              <a:buFont typeface="Wingdings" panose="05000000000000000000" pitchFamily="2" charset="2"/>
              <a:buChar char="Ø"/>
            </a:pPr>
            <a:r>
              <a:rPr lang="en-US" sz="2800" dirty="0" smtClean="0"/>
              <a:t> </a:t>
            </a:r>
            <a:r>
              <a:rPr lang="en-US" sz="2800" dirty="0" err="1" smtClean="0"/>
              <a:t>Burson-Marsteller</a:t>
            </a:r>
            <a:r>
              <a:rPr lang="en-US" sz="2800" dirty="0" smtClean="0"/>
              <a:t> </a:t>
            </a:r>
            <a:r>
              <a:rPr lang="en-US" sz="2800" dirty="0"/>
              <a:t>and Penn Schoen </a:t>
            </a:r>
            <a:r>
              <a:rPr lang="en-US" sz="2800" dirty="0" err="1" smtClean="0"/>
              <a:t>Berland’s</a:t>
            </a:r>
            <a:r>
              <a:rPr lang="en-US" sz="2800" dirty="0" smtClean="0"/>
              <a:t> study: </a:t>
            </a:r>
            <a:r>
              <a:rPr lang="en-US" sz="2800" i="1" dirty="0"/>
              <a:t>55% of managers</a:t>
            </a:r>
            <a:r>
              <a:rPr lang="en-US" sz="2800" dirty="0"/>
              <a:t> felt social media had increased their </a:t>
            </a:r>
            <a:r>
              <a:rPr lang="en-US" sz="2800" i="1" dirty="0"/>
              <a:t>vulnerability</a:t>
            </a:r>
            <a:br>
              <a:rPr lang="en-US" sz="2800" i="1" dirty="0"/>
            </a:br>
            <a:r>
              <a:rPr lang="en-US" sz="2800" i="1" dirty="0"/>
              <a:t>to </a:t>
            </a:r>
            <a:r>
              <a:rPr lang="en-US" sz="2800" i="1" dirty="0" smtClean="0"/>
              <a:t>crises</a:t>
            </a:r>
          </a:p>
          <a:p>
            <a:pPr marL="0" indent="0">
              <a:buNone/>
            </a:pPr>
            <a:r>
              <a:rPr lang="en-US" sz="2800" dirty="0" smtClean="0">
                <a:sym typeface="Wingdings" panose="05000000000000000000" pitchFamily="2" charset="2"/>
              </a:rPr>
              <a:t> </a:t>
            </a:r>
            <a:r>
              <a:rPr lang="en-US" sz="2800" dirty="0" smtClean="0"/>
              <a:t>Increasing </a:t>
            </a:r>
            <a:r>
              <a:rPr lang="en-US" sz="2800" dirty="0"/>
              <a:t>need to </a:t>
            </a:r>
            <a:r>
              <a:rPr lang="en-US" sz="2800" i="1" dirty="0"/>
              <a:t>monitor social </a:t>
            </a:r>
            <a:r>
              <a:rPr lang="en-US" sz="2800" i="1" dirty="0" smtClean="0"/>
              <a:t>media</a:t>
            </a:r>
            <a:r>
              <a:rPr lang="en-US" sz="2800" dirty="0" smtClean="0"/>
              <a:t> and </a:t>
            </a:r>
            <a:r>
              <a:rPr lang="en-US" sz="2800" dirty="0"/>
              <a:t>to decide how to </a:t>
            </a:r>
            <a:r>
              <a:rPr lang="en-US" sz="2800" i="1" dirty="0"/>
              <a:t>integrate it into the crisis </a:t>
            </a:r>
            <a:r>
              <a:rPr lang="en-US" sz="2800" i="1" dirty="0" smtClean="0"/>
              <a:t>response</a:t>
            </a:r>
            <a:endParaRPr lang="en-US" sz="2800" dirty="0"/>
          </a:p>
        </p:txBody>
      </p:sp>
    </p:spTree>
    <p:extLst>
      <p:ext uri="{BB962C8B-B14F-4D97-AF65-F5344CB8AC3E}">
        <p14:creationId xmlns:p14="http://schemas.microsoft.com/office/powerpoint/2010/main" val="325089852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231" y="921116"/>
            <a:ext cx="9962939" cy="706964"/>
          </a:xfrm>
        </p:spPr>
        <p:txBody>
          <a:bodyPr>
            <a:normAutofit fontScale="90000"/>
          </a:bodyPr>
          <a:lstStyle/>
          <a:p>
            <a:r>
              <a:rPr lang="en-US" dirty="0" smtClean="0"/>
              <a:t>IMPORTANCE OF CRISIS MANAGEMENT</a:t>
            </a:r>
            <a:endParaRPr lang="en-US" dirty="0"/>
          </a:p>
        </p:txBody>
      </p:sp>
      <p:sp>
        <p:nvSpPr>
          <p:cNvPr id="3" name="Content Placeholder 2"/>
          <p:cNvSpPr>
            <a:spLocks noGrp="1"/>
          </p:cNvSpPr>
          <p:nvPr>
            <p:ph idx="1"/>
          </p:nvPr>
        </p:nvSpPr>
        <p:spPr>
          <a:xfrm>
            <a:off x="879230" y="1861462"/>
            <a:ext cx="10300399" cy="4626422"/>
          </a:xfrm>
        </p:spPr>
        <p:txBody>
          <a:bodyPr>
            <a:noAutofit/>
          </a:bodyPr>
          <a:lstStyle/>
          <a:p>
            <a:pPr marL="0" indent="0">
              <a:buNone/>
            </a:pPr>
            <a:r>
              <a:rPr lang="en-US" sz="2800" b="1" dirty="0"/>
              <a:t>Negligent Failure to Plan</a:t>
            </a:r>
            <a:endParaRPr lang="en-US" sz="2800" b="1" dirty="0" smtClean="0"/>
          </a:p>
          <a:p>
            <a:pPr>
              <a:buFont typeface="Wingdings" panose="05000000000000000000" pitchFamily="2" charset="2"/>
              <a:buChar char="Ø"/>
            </a:pPr>
            <a:r>
              <a:rPr lang="en-US" sz="2800" dirty="0"/>
              <a:t> N</a:t>
            </a:r>
            <a:r>
              <a:rPr lang="en-US" sz="2800" dirty="0" smtClean="0"/>
              <a:t>egligent organizations: not </a:t>
            </a:r>
            <a:r>
              <a:rPr lang="en-US" sz="2800" dirty="0"/>
              <a:t>take </a:t>
            </a:r>
            <a:r>
              <a:rPr lang="en-US" sz="2800" i="1" dirty="0"/>
              <a:t>reasonable action</a:t>
            </a:r>
            <a:r>
              <a:rPr lang="en-US" sz="2800" dirty="0"/>
              <a:t> to </a:t>
            </a:r>
            <a:r>
              <a:rPr lang="en-US" sz="2800" i="1" dirty="0"/>
              <a:t>reduce or eliminate</a:t>
            </a:r>
            <a:r>
              <a:rPr lang="en-US" sz="2800" dirty="0"/>
              <a:t> known or reasonably </a:t>
            </a:r>
            <a:r>
              <a:rPr lang="en-US" sz="2800" i="1" dirty="0"/>
              <a:t>foreseeable risks</a:t>
            </a:r>
            <a:r>
              <a:rPr lang="en-US" sz="2800" dirty="0"/>
              <a:t> that could </a:t>
            </a:r>
            <a:r>
              <a:rPr lang="en-US" sz="2800" i="1" dirty="0"/>
              <a:t>result in </a:t>
            </a:r>
            <a:r>
              <a:rPr lang="en-US" sz="2800" i="1" dirty="0" smtClean="0"/>
              <a:t>harm</a:t>
            </a:r>
          </a:p>
          <a:p>
            <a:pPr marL="0" indent="0">
              <a:buNone/>
            </a:pPr>
            <a:endParaRPr lang="en-US" sz="2800" i="1" dirty="0"/>
          </a:p>
          <a:p>
            <a:pPr marL="0" indent="0">
              <a:buNone/>
            </a:pPr>
            <a:endParaRPr lang="en-US" sz="2800" i="1" dirty="0" smtClean="0"/>
          </a:p>
          <a:p>
            <a:pPr>
              <a:buFont typeface="Wingdings" panose="05000000000000000000" pitchFamily="2" charset="2"/>
              <a:buChar char="Ø"/>
            </a:pPr>
            <a:r>
              <a:rPr lang="en-US" sz="2800" dirty="0"/>
              <a:t> </a:t>
            </a:r>
            <a:r>
              <a:rPr lang="en-US" sz="2800" dirty="0" smtClean="0"/>
              <a:t>Crisis prevention and preparation: </a:t>
            </a:r>
            <a:r>
              <a:rPr lang="en-US" sz="2800" dirty="0"/>
              <a:t>defenses against </a:t>
            </a:r>
            <a:r>
              <a:rPr lang="en-US" sz="2800" dirty="0" smtClean="0"/>
              <a:t>this liability</a:t>
            </a:r>
          </a:p>
          <a:p>
            <a:pPr>
              <a:buFont typeface="Wingdings" panose="05000000000000000000" pitchFamily="2" charset="2"/>
              <a:buChar char="Ø"/>
            </a:pPr>
            <a:r>
              <a:rPr lang="en-US" sz="2800" i="1" dirty="0"/>
              <a:t> </a:t>
            </a:r>
            <a:r>
              <a:rPr lang="en-US" sz="2800" dirty="0"/>
              <a:t>Crisis </a:t>
            </a:r>
            <a:r>
              <a:rPr lang="en-US" sz="2800" dirty="0" smtClean="0"/>
              <a:t>management: </a:t>
            </a:r>
            <a:r>
              <a:rPr lang="en-US" sz="2800" dirty="0"/>
              <a:t>a form of due diligence (efforts to avoid harm to others or to the organization</a:t>
            </a:r>
            <a:r>
              <a:rPr lang="en-US" sz="2800" dirty="0" smtClean="0"/>
              <a:t>)</a:t>
            </a:r>
            <a:endParaRPr lang="en-US" sz="2800" dirty="0"/>
          </a:p>
        </p:txBody>
      </p:sp>
      <p:sp>
        <p:nvSpPr>
          <p:cNvPr id="4" name="Content Placeholder 2"/>
          <p:cNvSpPr txBox="1">
            <a:spLocks/>
          </p:cNvSpPr>
          <p:nvPr/>
        </p:nvSpPr>
        <p:spPr>
          <a:xfrm>
            <a:off x="879230" y="3725749"/>
            <a:ext cx="5225144" cy="1115568"/>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576263" indent="-228600">
              <a:buFont typeface="Wingdings" panose="05000000000000000000" pitchFamily="2" charset="2"/>
              <a:buChar char="§"/>
            </a:pPr>
            <a:r>
              <a:rPr lang="en-US" sz="2800" dirty="0"/>
              <a:t> w</a:t>
            </a:r>
            <a:r>
              <a:rPr lang="en-US" sz="2800" dirty="0" smtClean="0"/>
              <a:t>orkplace violence</a:t>
            </a:r>
          </a:p>
          <a:p>
            <a:pPr marL="576263" indent="-228600">
              <a:buFont typeface="Wingdings" panose="05000000000000000000" pitchFamily="2" charset="2"/>
              <a:buChar char="§"/>
            </a:pPr>
            <a:r>
              <a:rPr lang="en-US" sz="2800" dirty="0"/>
              <a:t> </a:t>
            </a:r>
            <a:r>
              <a:rPr lang="en-US" sz="2800" dirty="0" smtClean="0"/>
              <a:t>industrial accidents</a:t>
            </a:r>
          </a:p>
        </p:txBody>
      </p:sp>
      <p:sp>
        <p:nvSpPr>
          <p:cNvPr id="5" name="Content Placeholder 2"/>
          <p:cNvSpPr txBox="1">
            <a:spLocks/>
          </p:cNvSpPr>
          <p:nvPr/>
        </p:nvSpPr>
        <p:spPr>
          <a:xfrm>
            <a:off x="5860700" y="3725749"/>
            <a:ext cx="5225144" cy="1115568"/>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576263" indent="-228600">
              <a:buFont typeface="Wingdings" panose="05000000000000000000" pitchFamily="2" charset="2"/>
              <a:buChar char="§"/>
            </a:pPr>
            <a:r>
              <a:rPr lang="en-US" sz="2800" dirty="0"/>
              <a:t> product </a:t>
            </a:r>
            <a:r>
              <a:rPr lang="en-US" sz="2800" dirty="0" smtClean="0"/>
              <a:t>tampering</a:t>
            </a:r>
          </a:p>
          <a:p>
            <a:pPr marL="576263" indent="-228600">
              <a:buFont typeface="Wingdings" panose="05000000000000000000" pitchFamily="2" charset="2"/>
              <a:buChar char="§"/>
            </a:pPr>
            <a:r>
              <a:rPr lang="en-US" sz="2800" dirty="0"/>
              <a:t> </a:t>
            </a:r>
            <a:r>
              <a:rPr lang="en-US" sz="2800" dirty="0" smtClean="0"/>
              <a:t>terrorist </a:t>
            </a:r>
            <a:r>
              <a:rPr lang="en-US" sz="2800" dirty="0"/>
              <a:t>attacks</a:t>
            </a:r>
            <a:endParaRPr lang="en-US" sz="2800" dirty="0" smtClean="0"/>
          </a:p>
        </p:txBody>
      </p:sp>
    </p:spTree>
    <p:extLst>
      <p:ext uri="{BB962C8B-B14F-4D97-AF65-F5344CB8AC3E}">
        <p14:creationId xmlns:p14="http://schemas.microsoft.com/office/powerpoint/2010/main" val="70993247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10471186" cy="1499616"/>
          </a:xfrm>
        </p:spPr>
        <p:txBody>
          <a:bodyPr/>
          <a:lstStyle/>
          <a:p>
            <a:r>
              <a:rPr lang="en-US" dirty="0"/>
              <a:t>CRISIS LEADERSHIP: </a:t>
            </a:r>
            <a:r>
              <a:rPr lang="en-US" dirty="0" smtClean="0"/>
              <a:t/>
            </a:r>
            <a:br>
              <a:rPr lang="en-US" dirty="0" smtClean="0"/>
            </a:br>
            <a:r>
              <a:rPr lang="en-US" dirty="0" smtClean="0"/>
              <a:t>AN </a:t>
            </a:r>
            <a:r>
              <a:rPr lang="en-US" dirty="0"/>
              <a:t>OVERLOOKED RESOURCE</a:t>
            </a:r>
            <a:endParaRPr lang="vi-VN" dirty="0"/>
          </a:p>
        </p:txBody>
      </p:sp>
      <p:sp>
        <p:nvSpPr>
          <p:cNvPr id="3" name="Content Placeholder 2"/>
          <p:cNvSpPr>
            <a:spLocks noGrp="1"/>
          </p:cNvSpPr>
          <p:nvPr>
            <p:ph idx="1"/>
          </p:nvPr>
        </p:nvSpPr>
        <p:spPr/>
        <p:txBody>
          <a:bodyPr>
            <a:normAutofit/>
          </a:bodyPr>
          <a:lstStyle/>
          <a:p>
            <a:r>
              <a:rPr lang="en-US" sz="2800" b="1" dirty="0" smtClean="0"/>
              <a:t>Leadership:</a:t>
            </a:r>
          </a:p>
          <a:p>
            <a:pPr>
              <a:buFont typeface="Wingdings" panose="05000000000000000000" pitchFamily="2" charset="2"/>
              <a:buChar char="Ø"/>
            </a:pPr>
            <a:r>
              <a:rPr lang="en-US" sz="2800" dirty="0"/>
              <a:t> </a:t>
            </a:r>
            <a:r>
              <a:rPr lang="en-US" sz="2800" dirty="0" smtClean="0"/>
              <a:t>a </a:t>
            </a:r>
            <a:r>
              <a:rPr lang="en-US" sz="2800" dirty="0"/>
              <a:t>process whereby an individual influences a group of individuals to achieve a common </a:t>
            </a:r>
            <a:r>
              <a:rPr lang="en-US" sz="2800" dirty="0" smtClean="0"/>
              <a:t>goal</a:t>
            </a:r>
            <a:endParaRPr lang="en-US" sz="2800" i="1" dirty="0" smtClean="0"/>
          </a:p>
          <a:p>
            <a:pPr>
              <a:buFont typeface="Wingdings" panose="05000000000000000000" pitchFamily="2" charset="2"/>
              <a:buChar char="Ø"/>
            </a:pPr>
            <a:r>
              <a:rPr lang="en-US" sz="2800" i="1" dirty="0"/>
              <a:t> </a:t>
            </a:r>
            <a:r>
              <a:rPr lang="en-US" sz="2800" dirty="0" smtClean="0"/>
              <a:t>often </a:t>
            </a:r>
            <a:r>
              <a:rPr lang="en-US" sz="2800" dirty="0"/>
              <a:t>overlooked in discussions of crisis management and crisis </a:t>
            </a:r>
            <a:r>
              <a:rPr lang="en-US" sz="2800" dirty="0" smtClean="0"/>
              <a:t>communication</a:t>
            </a:r>
          </a:p>
          <a:p>
            <a:pPr>
              <a:buFont typeface="Wingdings" panose="05000000000000000000" pitchFamily="2" charset="2"/>
              <a:buChar char="Ø"/>
            </a:pPr>
            <a:r>
              <a:rPr lang="en-US" sz="2800" dirty="0" smtClean="0"/>
              <a:t> can </a:t>
            </a:r>
            <a:r>
              <a:rPr lang="en-US" sz="2800" dirty="0"/>
              <a:t>have a major impact on the </a:t>
            </a:r>
            <a:r>
              <a:rPr lang="en-US" sz="2800" dirty="0" smtClean="0"/>
              <a:t>effectiveness of </a:t>
            </a:r>
            <a:r>
              <a:rPr lang="en-US" sz="2800" dirty="0"/>
              <a:t>the crisis management </a:t>
            </a:r>
            <a:r>
              <a:rPr lang="en-US" sz="2800" dirty="0" smtClean="0"/>
              <a:t>effort during </a:t>
            </a:r>
            <a:r>
              <a:rPr lang="en-US" sz="2800" dirty="0"/>
              <a:t>a </a:t>
            </a:r>
            <a:r>
              <a:rPr lang="en-US" sz="2800" dirty="0" smtClean="0"/>
              <a:t>crisis</a:t>
            </a:r>
          </a:p>
        </p:txBody>
      </p:sp>
    </p:spTree>
    <p:extLst>
      <p:ext uri="{BB962C8B-B14F-4D97-AF65-F5344CB8AC3E}">
        <p14:creationId xmlns:p14="http://schemas.microsoft.com/office/powerpoint/2010/main" val="338954194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10471186" cy="1499616"/>
          </a:xfrm>
        </p:spPr>
        <p:txBody>
          <a:bodyPr/>
          <a:lstStyle/>
          <a:p>
            <a:r>
              <a:rPr lang="en-US" dirty="0"/>
              <a:t>CRISIS LEADERSHIP: </a:t>
            </a:r>
            <a:r>
              <a:rPr lang="en-US" dirty="0" smtClean="0"/>
              <a:t/>
            </a:r>
            <a:br>
              <a:rPr lang="en-US" dirty="0" smtClean="0"/>
            </a:br>
            <a:r>
              <a:rPr lang="en-US" dirty="0" smtClean="0"/>
              <a:t>AN </a:t>
            </a:r>
            <a:r>
              <a:rPr lang="en-US" dirty="0"/>
              <a:t>OVERLOOKED RESOURCE</a:t>
            </a:r>
            <a:endParaRPr lang="vi-VN" dirty="0"/>
          </a:p>
        </p:txBody>
      </p:sp>
      <p:sp>
        <p:nvSpPr>
          <p:cNvPr id="3" name="Content Placeholder 2"/>
          <p:cNvSpPr>
            <a:spLocks noGrp="1"/>
          </p:cNvSpPr>
          <p:nvPr>
            <p:ph idx="1"/>
          </p:nvPr>
        </p:nvSpPr>
        <p:spPr/>
        <p:txBody>
          <a:bodyPr>
            <a:noAutofit/>
          </a:bodyPr>
          <a:lstStyle/>
          <a:p>
            <a:r>
              <a:rPr lang="en-US" sz="2800" b="1" dirty="0"/>
              <a:t>Crisis leadership</a:t>
            </a:r>
            <a:r>
              <a:rPr lang="en-US" sz="2800" b="1" dirty="0" smtClean="0"/>
              <a:t>:</a:t>
            </a:r>
          </a:p>
          <a:p>
            <a:pPr>
              <a:buFont typeface="Wingdings" panose="05000000000000000000" pitchFamily="2" charset="2"/>
              <a:buChar char="Ø"/>
            </a:pPr>
            <a:r>
              <a:rPr lang="en-US" sz="2800" dirty="0" smtClean="0"/>
              <a:t> Unique because the leaders are </a:t>
            </a:r>
          </a:p>
          <a:p>
            <a:pPr marL="631825" indent="-284163">
              <a:buFont typeface="Wingdings" panose="05000000000000000000" pitchFamily="2" charset="2"/>
              <a:buChar char="§"/>
            </a:pPr>
            <a:r>
              <a:rPr lang="en-US" sz="2800" dirty="0" smtClean="0"/>
              <a:t> being </a:t>
            </a:r>
            <a:r>
              <a:rPr lang="en-US" sz="2800" dirty="0"/>
              <a:t>watched by stakeholders (in public view) </a:t>
            </a:r>
            <a:endParaRPr lang="en-US" sz="2800" dirty="0" smtClean="0"/>
          </a:p>
          <a:p>
            <a:pPr marL="631825" indent="-284163">
              <a:buFont typeface="Wingdings" panose="05000000000000000000" pitchFamily="2" charset="2"/>
              <a:buChar char="§"/>
            </a:pPr>
            <a:r>
              <a:rPr lang="en-US" sz="2800" dirty="0"/>
              <a:t> </a:t>
            </a:r>
            <a:r>
              <a:rPr lang="en-US" sz="2800" dirty="0" smtClean="0"/>
              <a:t>under </a:t>
            </a:r>
            <a:r>
              <a:rPr lang="en-US" sz="2800" dirty="0"/>
              <a:t>pressure to utilize shortcuts that </a:t>
            </a:r>
            <a:r>
              <a:rPr lang="en-US" sz="2800" dirty="0" smtClean="0"/>
              <a:t>will make </a:t>
            </a:r>
            <a:r>
              <a:rPr lang="en-US" sz="2800" dirty="0"/>
              <a:t>the crisis disappear but could be ineffective in the long </a:t>
            </a:r>
            <a:r>
              <a:rPr lang="en-US" sz="2800" dirty="0" smtClean="0"/>
              <a:t>run</a:t>
            </a:r>
          </a:p>
          <a:p>
            <a:pPr>
              <a:buFont typeface="Wingdings" panose="05000000000000000000" pitchFamily="2" charset="2"/>
              <a:buChar char="Ø"/>
            </a:pPr>
            <a:r>
              <a:rPr lang="en-US" sz="2800" dirty="0" smtClean="0"/>
              <a:t> Good </a:t>
            </a:r>
            <a:r>
              <a:rPr lang="en-US" sz="2800" dirty="0"/>
              <a:t>crisis </a:t>
            </a:r>
            <a:r>
              <a:rPr lang="en-US" sz="2800" dirty="0" smtClean="0"/>
              <a:t>leaders: </a:t>
            </a:r>
            <a:r>
              <a:rPr lang="en-US" sz="2800" dirty="0"/>
              <a:t>willing to learn, </a:t>
            </a:r>
            <a:r>
              <a:rPr lang="en-US" sz="2800" dirty="0" smtClean="0"/>
              <a:t>open to new </a:t>
            </a:r>
            <a:r>
              <a:rPr lang="en-US" sz="2800" dirty="0"/>
              <a:t>ideas, and believe the organization will emerge stronger after the </a:t>
            </a:r>
            <a:r>
              <a:rPr lang="en-US" sz="2800" dirty="0" smtClean="0"/>
              <a:t>crisis </a:t>
            </a:r>
            <a:endParaRPr lang="en-US" sz="2800" dirty="0"/>
          </a:p>
        </p:txBody>
      </p:sp>
    </p:spTree>
    <p:extLst>
      <p:ext uri="{BB962C8B-B14F-4D97-AF65-F5344CB8AC3E}">
        <p14:creationId xmlns:p14="http://schemas.microsoft.com/office/powerpoint/2010/main" val="32056441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endParaRPr lang="vi-VN" dirty="0"/>
          </a:p>
        </p:txBody>
      </p:sp>
      <p:sp>
        <p:nvSpPr>
          <p:cNvPr id="3" name="Content Placeholder 2"/>
          <p:cNvSpPr>
            <a:spLocks noGrp="1"/>
          </p:cNvSpPr>
          <p:nvPr>
            <p:ph idx="1"/>
          </p:nvPr>
        </p:nvSpPr>
        <p:spPr>
          <a:xfrm>
            <a:off x="1132985" y="2353492"/>
            <a:ext cx="10144417" cy="3806952"/>
          </a:xfrm>
        </p:spPr>
        <p:txBody>
          <a:bodyPr>
            <a:normAutofit/>
          </a:bodyPr>
          <a:lstStyle/>
          <a:p>
            <a:pPr>
              <a:buFont typeface="Wingdings" panose="05000000000000000000" pitchFamily="2" charset="2"/>
              <a:buChar char="Ø"/>
            </a:pPr>
            <a:r>
              <a:rPr lang="en-US" sz="2800" dirty="0" smtClean="0"/>
              <a:t> The </a:t>
            </a:r>
            <a:r>
              <a:rPr lang="en-US" sz="2800" dirty="0"/>
              <a:t>need for </a:t>
            </a:r>
            <a:r>
              <a:rPr lang="en-US" sz="2800" dirty="0" smtClean="0"/>
              <a:t>crisis management </a:t>
            </a:r>
            <a:r>
              <a:rPr lang="en-US" sz="2800" dirty="0"/>
              <a:t>is </a:t>
            </a:r>
            <a:r>
              <a:rPr lang="en-US" sz="2800" dirty="0" smtClean="0"/>
              <a:t>increasing. </a:t>
            </a:r>
            <a:r>
              <a:rPr lang="en-US" sz="2800" dirty="0"/>
              <a:t>The value of crisis management is greater </a:t>
            </a:r>
            <a:r>
              <a:rPr lang="en-US" sz="2800" dirty="0" smtClean="0"/>
              <a:t>now</a:t>
            </a:r>
          </a:p>
          <a:p>
            <a:pPr>
              <a:buFont typeface="Wingdings" panose="05000000000000000000" pitchFamily="2" charset="2"/>
              <a:buChar char="Ø"/>
            </a:pPr>
            <a:r>
              <a:rPr lang="en-US" sz="2800" dirty="0"/>
              <a:t> </a:t>
            </a:r>
            <a:r>
              <a:rPr lang="en-US" sz="2800" dirty="0" smtClean="0"/>
              <a:t>Crisis management </a:t>
            </a:r>
            <a:r>
              <a:rPr lang="en-US" sz="2800" dirty="0"/>
              <a:t>acts as a hedge against the negative outcomes of </a:t>
            </a:r>
            <a:r>
              <a:rPr lang="en-US" sz="2800" dirty="0" smtClean="0"/>
              <a:t>crises</a:t>
            </a:r>
            <a:endParaRPr lang="en-US" sz="2800" dirty="0"/>
          </a:p>
          <a:p>
            <a:pPr>
              <a:buFont typeface="Wingdings" panose="05000000000000000000" pitchFamily="2" charset="2"/>
              <a:buChar char="Ø"/>
            </a:pPr>
            <a:r>
              <a:rPr lang="en-US" sz="2800" dirty="0" smtClean="0"/>
              <a:t> Today’s </a:t>
            </a:r>
            <a:r>
              <a:rPr lang="en-US" sz="2800" dirty="0"/>
              <a:t>operating environment demands that organizations be prepared to manage </a:t>
            </a:r>
            <a:r>
              <a:rPr lang="en-US" sz="2800" dirty="0" smtClean="0"/>
              <a:t>crises</a:t>
            </a:r>
            <a:endParaRPr lang="vi-VN" sz="2800" dirty="0"/>
          </a:p>
        </p:txBody>
      </p:sp>
    </p:spTree>
    <p:extLst>
      <p:ext uri="{BB962C8B-B14F-4D97-AF65-F5344CB8AC3E}">
        <p14:creationId xmlns:p14="http://schemas.microsoft.com/office/powerpoint/2010/main" val="418369262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endParaRPr lang="vi-VN" dirty="0"/>
          </a:p>
        </p:txBody>
      </p:sp>
      <p:sp>
        <p:nvSpPr>
          <p:cNvPr id="3" name="Content Placeholder 2"/>
          <p:cNvSpPr>
            <a:spLocks noGrp="1"/>
          </p:cNvSpPr>
          <p:nvPr>
            <p:ph idx="1"/>
          </p:nvPr>
        </p:nvSpPr>
        <p:spPr>
          <a:xfrm>
            <a:off x="1100524" y="2190204"/>
            <a:ext cx="9763417" cy="3806952"/>
          </a:xfrm>
        </p:spPr>
        <p:txBody>
          <a:bodyPr>
            <a:normAutofit/>
          </a:bodyPr>
          <a:lstStyle/>
          <a:p>
            <a:pPr>
              <a:buFont typeface="Wingdings" panose="05000000000000000000" pitchFamily="2" charset="2"/>
              <a:buChar char="Ø"/>
            </a:pPr>
            <a:r>
              <a:rPr lang="en-US" sz="2800" dirty="0" smtClean="0"/>
              <a:t> We </a:t>
            </a:r>
            <a:r>
              <a:rPr lang="en-US" sz="2800" dirty="0"/>
              <a:t>experience crises through the news media and the </a:t>
            </a:r>
            <a:r>
              <a:rPr lang="en-US" sz="2800" dirty="0" smtClean="0"/>
              <a:t>Internet.</a:t>
            </a:r>
          </a:p>
          <a:p>
            <a:pPr>
              <a:buFont typeface="Wingdings" panose="05000000000000000000" pitchFamily="2" charset="2"/>
              <a:buChar char="Ø"/>
            </a:pPr>
            <a:r>
              <a:rPr lang="en-US" sz="2800" dirty="0"/>
              <a:t> </a:t>
            </a:r>
            <a:r>
              <a:rPr lang="en-US" sz="2800" dirty="0" smtClean="0"/>
              <a:t>What the </a:t>
            </a:r>
            <a:r>
              <a:rPr lang="en-US" sz="2800" dirty="0"/>
              <a:t>public sees of the response to a crisis is a small part of crisis management. Effective crisis management </a:t>
            </a:r>
            <a:r>
              <a:rPr lang="en-US" sz="2800" dirty="0" smtClean="0"/>
              <a:t>is ongoing</a:t>
            </a:r>
            <a:r>
              <a:rPr lang="en-US" sz="2800" dirty="0"/>
              <a:t>. </a:t>
            </a:r>
          </a:p>
          <a:p>
            <a:pPr>
              <a:buFont typeface="Wingdings" panose="05000000000000000000" pitchFamily="2" charset="2"/>
              <a:buChar char="Ø"/>
            </a:pPr>
            <a:r>
              <a:rPr lang="en-US" sz="2800" dirty="0" smtClean="0"/>
              <a:t> Crisis </a:t>
            </a:r>
            <a:r>
              <a:rPr lang="en-US" sz="2800" dirty="0"/>
              <a:t>managers carefully dissect each crisis in </a:t>
            </a:r>
            <a:r>
              <a:rPr lang="en-US" sz="2800" dirty="0" smtClean="0"/>
              <a:t>order to </a:t>
            </a:r>
            <a:r>
              <a:rPr lang="en-US" sz="2800" dirty="0"/>
              <a:t>improve prevention, preparation, and response. </a:t>
            </a:r>
          </a:p>
          <a:p>
            <a:pPr>
              <a:buFont typeface="Wingdings" panose="05000000000000000000" pitchFamily="2" charset="2"/>
              <a:buChar char="Ø"/>
            </a:pPr>
            <a:r>
              <a:rPr lang="en-US" sz="2800" dirty="0" smtClean="0"/>
              <a:t> An </a:t>
            </a:r>
            <a:r>
              <a:rPr lang="en-US" sz="2800" dirty="0"/>
              <a:t>appreciation of the phases of crisis management </a:t>
            </a:r>
            <a:r>
              <a:rPr lang="en-US" sz="2800" dirty="0" smtClean="0"/>
              <a:t>helps people </a:t>
            </a:r>
            <a:r>
              <a:rPr lang="en-US" sz="2800" dirty="0"/>
              <a:t>better appreciate the complexity and ongoing nature of crisis management and communication.</a:t>
            </a:r>
            <a:endParaRPr lang="vi-VN" sz="2800" dirty="0"/>
          </a:p>
        </p:txBody>
      </p:sp>
    </p:spTree>
    <p:extLst>
      <p:ext uri="{BB962C8B-B14F-4D97-AF65-F5344CB8AC3E}">
        <p14:creationId xmlns:p14="http://schemas.microsoft.com/office/powerpoint/2010/main" val="143008419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Discussion</a:t>
            </a:r>
            <a:endParaRPr lang="vi-VN" dirty="0"/>
          </a:p>
        </p:txBody>
      </p:sp>
      <p:sp>
        <p:nvSpPr>
          <p:cNvPr id="3" name="Content Placeholder 2"/>
          <p:cNvSpPr>
            <a:spLocks noGrp="1"/>
          </p:cNvSpPr>
          <p:nvPr>
            <p:ph idx="1"/>
          </p:nvPr>
        </p:nvSpPr>
        <p:spPr/>
        <p:txBody>
          <a:bodyPr>
            <a:normAutofit/>
          </a:bodyPr>
          <a:lstStyle/>
          <a:p>
            <a:pPr lvl="0"/>
            <a:r>
              <a:rPr lang="en-US" sz="2800" dirty="0"/>
              <a:t>What are some arguments managers would use </a:t>
            </a:r>
            <a:r>
              <a:rPr lang="en-US" sz="2800" dirty="0" smtClean="0"/>
              <a:t>against implementing </a:t>
            </a:r>
            <a:r>
              <a:rPr lang="en-US" sz="2800" dirty="0"/>
              <a:t>a crisis management system?</a:t>
            </a:r>
          </a:p>
        </p:txBody>
      </p:sp>
    </p:spTree>
    <p:extLst>
      <p:ext uri="{BB962C8B-B14F-4D97-AF65-F5344CB8AC3E}">
        <p14:creationId xmlns:p14="http://schemas.microsoft.com/office/powerpoint/2010/main" val="159474726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10547386" cy="1499616"/>
          </a:xfrm>
        </p:spPr>
        <p:txBody>
          <a:bodyPr/>
          <a:lstStyle/>
          <a:p>
            <a:r>
              <a:rPr lang="en-US" smtClean="0"/>
              <a:t>Individual</a:t>
            </a:r>
            <a:r>
              <a:rPr lang="en-US" smtClean="0"/>
              <a:t> </a:t>
            </a:r>
            <a:r>
              <a:rPr lang="en-US"/>
              <a:t>Assessment </a:t>
            </a:r>
            <a:r>
              <a:rPr lang="en-US" dirty="0"/>
              <a:t>(At home)</a:t>
            </a:r>
            <a:endParaRPr lang="vi-VN" dirty="0"/>
          </a:p>
        </p:txBody>
      </p:sp>
      <p:sp>
        <p:nvSpPr>
          <p:cNvPr id="5" name="Content Placeholder 2"/>
          <p:cNvSpPr txBox="1">
            <a:spLocks/>
          </p:cNvSpPr>
          <p:nvPr/>
        </p:nvSpPr>
        <p:spPr>
          <a:xfrm>
            <a:off x="1024128" y="2297324"/>
            <a:ext cx="9344951" cy="374425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en-US" sz="2800" b="1" dirty="0" smtClean="0"/>
              <a:t>CASE STUDY ESSAY</a:t>
            </a:r>
          </a:p>
          <a:p>
            <a:pPr marL="347663" indent="-347663">
              <a:buFont typeface="Wingdings" panose="05000000000000000000" pitchFamily="2" charset="2"/>
              <a:buChar char="Ø"/>
            </a:pPr>
            <a:r>
              <a:rPr lang="en-US" sz="2800" dirty="0" smtClean="0"/>
              <a:t>Topic</a:t>
            </a:r>
            <a:r>
              <a:rPr lang="en-US" sz="2800" dirty="0"/>
              <a:t>: </a:t>
            </a:r>
            <a:r>
              <a:rPr lang="en-US" sz="2800" i="1" dirty="0"/>
              <a:t>Choose from the list of crisis case studies provided by the lecturer, or select your own (approved by your lecturer), and </a:t>
            </a:r>
            <a:r>
              <a:rPr lang="en-US" sz="2800" i="1" dirty="0" err="1"/>
              <a:t>analyse</a:t>
            </a:r>
            <a:r>
              <a:rPr lang="en-US" sz="2800" i="1" dirty="0"/>
              <a:t> an </a:t>
            </a:r>
            <a:r>
              <a:rPr lang="en-US" sz="2800" i="1" dirty="0" err="1"/>
              <a:t>organisational</a:t>
            </a:r>
            <a:r>
              <a:rPr lang="en-US" sz="2800" i="1" dirty="0"/>
              <a:t> </a:t>
            </a:r>
            <a:r>
              <a:rPr lang="en-US" sz="2800" i="1" dirty="0" smtClean="0"/>
              <a:t>crisis.</a:t>
            </a:r>
            <a:endParaRPr lang="en-US" sz="2800" i="1" dirty="0"/>
          </a:p>
          <a:p>
            <a:pPr marL="347663" indent="-347663">
              <a:buFont typeface="Wingdings" panose="05000000000000000000" pitchFamily="2" charset="2"/>
              <a:buChar char="Ø"/>
            </a:pPr>
            <a:r>
              <a:rPr lang="en-US" sz="2800" dirty="0"/>
              <a:t>Type: Essay</a:t>
            </a:r>
          </a:p>
          <a:p>
            <a:pPr marL="347663" indent="-347663">
              <a:buFont typeface="Wingdings" panose="05000000000000000000" pitchFamily="2" charset="2"/>
              <a:buChar char="Ø"/>
            </a:pPr>
            <a:r>
              <a:rPr lang="en-US" sz="2800" dirty="0"/>
              <a:t>Weight</a:t>
            </a:r>
            <a:r>
              <a:rPr lang="en-US" sz="2800"/>
              <a:t>: </a:t>
            </a:r>
            <a:r>
              <a:rPr lang="en-US" sz="2800" smtClean="0"/>
              <a:t>15%</a:t>
            </a:r>
            <a:endParaRPr lang="en-US" sz="2800" dirty="0"/>
          </a:p>
          <a:p>
            <a:pPr marL="347663" indent="-347663">
              <a:buFont typeface="Wingdings" panose="05000000000000000000" pitchFamily="2" charset="2"/>
              <a:buChar char="Ø"/>
            </a:pPr>
            <a:r>
              <a:rPr lang="en-US" sz="2800" dirty="0"/>
              <a:t>Length</a:t>
            </a:r>
            <a:r>
              <a:rPr lang="en-US" sz="2800"/>
              <a:t>: </a:t>
            </a:r>
            <a:r>
              <a:rPr lang="en-US" sz="2800" smtClean="0"/>
              <a:t>2,000 </a:t>
            </a:r>
            <a:r>
              <a:rPr lang="en-US" sz="2800" dirty="0"/>
              <a:t>words</a:t>
            </a:r>
            <a:endParaRPr lang="en-US" sz="2800" dirty="0" smtClean="0"/>
          </a:p>
        </p:txBody>
      </p:sp>
    </p:spTree>
    <p:extLst>
      <p:ext uri="{BB962C8B-B14F-4D97-AF65-F5344CB8AC3E}">
        <p14:creationId xmlns:p14="http://schemas.microsoft.com/office/powerpoint/2010/main" val="235325106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10427643" cy="1499616"/>
          </a:xfrm>
        </p:spPr>
        <p:txBody>
          <a:bodyPr/>
          <a:lstStyle/>
          <a:p>
            <a:r>
              <a:rPr lang="en-US"/>
              <a:t>Individual </a:t>
            </a:r>
            <a:r>
              <a:rPr lang="en-US"/>
              <a:t>Assessment </a:t>
            </a:r>
            <a:r>
              <a:rPr lang="en-US" dirty="0"/>
              <a:t>(At home)</a:t>
            </a:r>
            <a:endParaRPr lang="vi-VN" dirty="0"/>
          </a:p>
        </p:txBody>
      </p:sp>
      <p:sp>
        <p:nvSpPr>
          <p:cNvPr id="5" name="Content Placeholder 2"/>
          <p:cNvSpPr txBox="1">
            <a:spLocks/>
          </p:cNvSpPr>
          <p:nvPr/>
        </p:nvSpPr>
        <p:spPr>
          <a:xfrm>
            <a:off x="1024128" y="1875391"/>
            <a:ext cx="10254343" cy="418882"/>
          </a:xfrm>
          <a:prstGeom prst="rect">
            <a:avLst/>
          </a:prstGeom>
        </p:spPr>
        <p:txBody>
          <a:bodyPr vert="horz" lIns="45720" tIns="45720" rIns="4572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en-US" sz="2800" b="1" dirty="0" smtClean="0"/>
              <a:t>Instruction</a:t>
            </a:r>
          </a:p>
        </p:txBody>
      </p:sp>
      <p:graphicFrame>
        <p:nvGraphicFramePr>
          <p:cNvPr id="3" name="Table 2"/>
          <p:cNvGraphicFramePr>
            <a:graphicFrameLocks noGrp="1"/>
          </p:cNvGraphicFramePr>
          <p:nvPr>
            <p:extLst>
              <p:ext uri="{D42A27DB-BD31-4B8C-83A1-F6EECF244321}">
                <p14:modId xmlns:p14="http://schemas.microsoft.com/office/powerpoint/2010/main" val="169187479"/>
              </p:ext>
            </p:extLst>
          </p:nvPr>
        </p:nvGraphicFramePr>
        <p:xfrm>
          <a:off x="1024128" y="2707930"/>
          <a:ext cx="9861586" cy="3048000"/>
        </p:xfrm>
        <a:graphic>
          <a:graphicData uri="http://schemas.openxmlformats.org/drawingml/2006/table">
            <a:tbl>
              <a:tblPr firstRow="1" bandRow="1">
                <a:tableStyleId>{BC89EF96-8CEA-46FF-86C4-4CE0E7609802}</a:tableStyleId>
              </a:tblPr>
              <a:tblGrid>
                <a:gridCol w="9861586">
                  <a:extLst>
                    <a:ext uri="{9D8B030D-6E8A-4147-A177-3AD203B41FA5}">
                      <a16:colId xmlns:a16="http://schemas.microsoft.com/office/drawing/2014/main" val="4069987612"/>
                    </a:ext>
                  </a:extLst>
                </a:gridCol>
              </a:tblGrid>
              <a:tr h="370840">
                <a:tc>
                  <a:txBody>
                    <a:bodyPr/>
                    <a:lstStyle/>
                    <a:p>
                      <a:pPr algn="ctr"/>
                      <a:r>
                        <a:rPr lang="en-US" sz="2200" dirty="0" smtClean="0"/>
                        <a:t>Task</a:t>
                      </a:r>
                      <a:endParaRPr lang="en-US" sz="2200" dirty="0"/>
                    </a:p>
                  </a:txBody>
                  <a:tcPr anchor="ctr"/>
                </a:tc>
                <a:extLst>
                  <a:ext uri="{0D108BD9-81ED-4DB2-BD59-A6C34878D82A}">
                    <a16:rowId xmlns:a16="http://schemas.microsoft.com/office/drawing/2014/main" val="4023951662"/>
                  </a:ext>
                </a:extLst>
              </a:tr>
              <a:tr h="370840">
                <a:tc>
                  <a:txBody>
                    <a:bodyPr/>
                    <a:lstStyle/>
                    <a:p>
                      <a:pPr algn="l"/>
                      <a:r>
                        <a:rPr lang="en-US" sz="2200" baseline="0" smtClean="0"/>
                        <a:t>Your essay will include an overview of the crisis, a description of the organisation, a crisis timeline, actions and responses taken, a media analysis, stakeholder impacts, lessons learned, recommendations, and use appropriate matrix/models.</a:t>
                      </a:r>
                      <a:endParaRPr lang="en-US" sz="2200" dirty="0"/>
                    </a:p>
                  </a:txBody>
                  <a:tcPr anchor="ctr"/>
                </a:tc>
                <a:extLst>
                  <a:ext uri="{0D108BD9-81ED-4DB2-BD59-A6C34878D82A}">
                    <a16:rowId xmlns:a16="http://schemas.microsoft.com/office/drawing/2014/main" val="3687652544"/>
                  </a:ext>
                </a:extLst>
              </a:tr>
              <a:tr h="370840">
                <a:tc>
                  <a:txBody>
                    <a:bodyPr/>
                    <a:lstStyle/>
                    <a:p>
                      <a:pPr algn="l"/>
                      <a:r>
                        <a:rPr lang="en-US" sz="2200" smtClean="0"/>
                        <a:t>The essay should address the criteria as outlined in the assessment task and rubric mentioned during the class.</a:t>
                      </a:r>
                      <a:endParaRPr lang="en-US" sz="2200" dirty="0" smtClean="0"/>
                    </a:p>
                  </a:txBody>
                  <a:tcPr anchor="ctr"/>
                </a:tc>
                <a:extLst>
                  <a:ext uri="{0D108BD9-81ED-4DB2-BD59-A6C34878D82A}">
                    <a16:rowId xmlns:a16="http://schemas.microsoft.com/office/drawing/2014/main" val="3726861657"/>
                  </a:ext>
                </a:extLst>
              </a:tr>
              <a:tr h="370840">
                <a:tc>
                  <a:txBody>
                    <a:bodyPr/>
                    <a:lstStyle/>
                    <a:p>
                      <a:pPr algn="l"/>
                      <a:r>
                        <a:rPr lang="en-US" sz="2200" smtClean="0"/>
                        <a:t>Studens should use a mix of scholarly references, media coverage and organisational materials.</a:t>
                      </a:r>
                      <a:endParaRPr lang="en-US" sz="2200" dirty="0"/>
                    </a:p>
                  </a:txBody>
                  <a:tcPr anchor="ctr"/>
                </a:tc>
                <a:extLst>
                  <a:ext uri="{0D108BD9-81ED-4DB2-BD59-A6C34878D82A}">
                    <a16:rowId xmlns:a16="http://schemas.microsoft.com/office/drawing/2014/main" val="4195174127"/>
                  </a:ext>
                </a:extLst>
              </a:tr>
            </a:tbl>
          </a:graphicData>
        </a:graphic>
      </p:graphicFrame>
    </p:spTree>
    <p:extLst>
      <p:ext uri="{BB962C8B-B14F-4D97-AF65-F5344CB8AC3E}">
        <p14:creationId xmlns:p14="http://schemas.microsoft.com/office/powerpoint/2010/main" val="244531330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Next chapter</a:t>
            </a:r>
            <a:endParaRPr lang="vi-VN" dirty="0"/>
          </a:p>
        </p:txBody>
      </p:sp>
      <p:sp>
        <p:nvSpPr>
          <p:cNvPr id="3" name="Content Placeholder 2"/>
          <p:cNvSpPr>
            <a:spLocks noGrp="1"/>
          </p:cNvSpPr>
          <p:nvPr>
            <p:ph idx="1"/>
          </p:nvPr>
        </p:nvSpPr>
        <p:spPr>
          <a:xfrm>
            <a:off x="680321" y="2630787"/>
            <a:ext cx="10205015" cy="3599316"/>
          </a:xfrm>
        </p:spPr>
        <p:txBody>
          <a:bodyPr>
            <a:normAutofit/>
          </a:bodyPr>
          <a:lstStyle/>
          <a:p>
            <a:pPr lvl="0" algn="ctr"/>
            <a:r>
              <a:rPr lang="en-US" sz="2800" b="1" dirty="0"/>
              <a:t>Chapter </a:t>
            </a:r>
            <a:r>
              <a:rPr lang="en-US" sz="2800" b="1" dirty="0" smtClean="0"/>
              <a:t>2</a:t>
            </a:r>
          </a:p>
          <a:p>
            <a:pPr lvl="0" algn="ctr"/>
            <a:r>
              <a:rPr lang="en-US" sz="2800" dirty="0" smtClean="0"/>
              <a:t>RISK </a:t>
            </a:r>
            <a:r>
              <a:rPr lang="en-US" sz="2800" dirty="0"/>
              <a:t>AS THE FOUNDATION FOR CRISIS </a:t>
            </a:r>
            <a:r>
              <a:rPr lang="en-US" sz="2800" dirty="0" smtClean="0"/>
              <a:t>MANAGEMENT </a:t>
            </a:r>
            <a:br>
              <a:rPr lang="en-US" sz="2800" dirty="0" smtClean="0"/>
            </a:br>
            <a:r>
              <a:rPr lang="en-US" sz="2800" dirty="0" smtClean="0"/>
              <a:t>AND </a:t>
            </a:r>
            <a:r>
              <a:rPr lang="en-US" sz="2800" dirty="0"/>
              <a:t>CRISIS COMMUNICATION</a:t>
            </a:r>
          </a:p>
        </p:txBody>
      </p:sp>
    </p:spTree>
    <p:extLst>
      <p:ext uri="{BB962C8B-B14F-4D97-AF65-F5344CB8AC3E}">
        <p14:creationId xmlns:p14="http://schemas.microsoft.com/office/powerpoint/2010/main" val="349749247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8120017"/>
          </a:xfrm>
        </p:spPr>
      </p:pic>
      <p:pic>
        <p:nvPicPr>
          <p:cNvPr id="5" name="Picture 4">
            <a:extLst>
              <a:ext uri="{FF2B5EF4-FFF2-40B4-BE49-F238E27FC236}">
                <a16:creationId xmlns:a16="http://schemas.microsoft.com/office/drawing/2014/main" id="{CBF4C11C-5D20-EE49-BF22-E27F0BD44C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32790" y="5564879"/>
            <a:ext cx="2563265" cy="1293121"/>
          </a:xfrm>
          <a:prstGeom prst="rect">
            <a:avLst/>
          </a:prstGeom>
        </p:spPr>
      </p:pic>
    </p:spTree>
    <p:extLst>
      <p:ext uri="{BB962C8B-B14F-4D97-AF65-F5344CB8AC3E}">
        <p14:creationId xmlns:p14="http://schemas.microsoft.com/office/powerpoint/2010/main" val="279613361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125000"/>
              </a:schemeClr>
              <a:schemeClr val="phClr">
                <a:tint val="92000"/>
                <a:shade val="70000"/>
                <a:satMod val="110000"/>
              </a:schemeClr>
            </a:duotone>
          </a:blip>
          <a:tile tx="0" ty="0" sx="22000" sy="2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E736489A-00C3-4E0A-AAA8-D4D3127BA5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2232</TotalTime>
  <Words>4113</Words>
  <Application>Microsoft Office PowerPoint</Application>
  <PresentationFormat>Widescreen</PresentationFormat>
  <Paragraphs>484</Paragraphs>
  <Slides>57</Slides>
  <Notes>45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Arial</vt:lpstr>
      <vt:lpstr>Calibri</vt:lpstr>
      <vt:lpstr>Tahoma</vt:lpstr>
      <vt:lpstr>Times New Roman</vt:lpstr>
      <vt:lpstr>Tw Cen MT</vt:lpstr>
      <vt:lpstr>Wingdings</vt:lpstr>
      <vt:lpstr>Wingdings 3</vt:lpstr>
      <vt:lpstr>Integral</vt:lpstr>
      <vt:lpstr>Crisis Communications Management</vt:lpstr>
      <vt:lpstr>Course Content</vt:lpstr>
      <vt:lpstr>Learning Outcomes</vt:lpstr>
      <vt:lpstr>Assessment Structure</vt:lpstr>
      <vt:lpstr>A Need for More Crisis Management Knowledge</vt:lpstr>
      <vt:lpstr>Main content</vt:lpstr>
      <vt:lpstr>Learning Outcome</vt:lpstr>
      <vt:lpstr>CRISIS MANAGEMENT DEFINED</vt:lpstr>
      <vt:lpstr>CRISIS MANAGEMENT DEFINED</vt:lpstr>
      <vt:lpstr>CRISIS MANAGEMENT DEFINED</vt:lpstr>
      <vt:lpstr>CRISIS MANAGEMENT DEFINED</vt:lpstr>
      <vt:lpstr>CRISIS MANAGEMENT DEFINED</vt:lpstr>
      <vt:lpstr>CRISIS MANAGEMENT DEFINED</vt:lpstr>
      <vt:lpstr>CRISIS MANAGEMENT DEFINED</vt:lpstr>
      <vt:lpstr>CRISIS MANAGEMENT DEFINED</vt:lpstr>
      <vt:lpstr>CRISIS MANAGEMENT DEFINED</vt:lpstr>
      <vt:lpstr>CRISIS MANAGEMENT DEFINED</vt:lpstr>
      <vt:lpstr>Discussion</vt:lpstr>
      <vt:lpstr>CRISIS MANAGEMENT DEFINED</vt:lpstr>
      <vt:lpstr>CRISIS MANAGEMENT DEFINED</vt:lpstr>
      <vt:lpstr>CRISIS MANAGEMENT DEFINED</vt:lpstr>
      <vt:lpstr>CRISIS MANAGEMENT DEFINED</vt:lpstr>
      <vt:lpstr>CRISIS MANAGEMENT DEFINED</vt:lpstr>
      <vt:lpstr>CRISIS MANAGEMENT DEFINED</vt:lpstr>
      <vt:lpstr>CRISIS MANAGEMENT DEFINED</vt:lpstr>
      <vt:lpstr>THE INITIAL CRISIS MANAGEMENT FRAMEWORK</vt:lpstr>
      <vt:lpstr>THE INITIAL CRISIS MANAGEMENT FRAMEWORK</vt:lpstr>
      <vt:lpstr>THE INITIAL CRISIS MANAGEMENT FRAMEWORK</vt:lpstr>
      <vt:lpstr>THE INITIAL CRISIS MANAGEMENT FRAMEWORK</vt:lpstr>
      <vt:lpstr>THE INITIAL CRISIS MANAGEMENT FRAMEWORK</vt:lpstr>
      <vt:lpstr>THE THREE-STAGE APPROACH</vt:lpstr>
      <vt:lpstr>THE THREE-STAGE APPROACH</vt:lpstr>
      <vt:lpstr>THE THREE-STAGE APPROACH</vt:lpstr>
      <vt:lpstr>THE THREE-STAGE APPROACH</vt:lpstr>
      <vt:lpstr>PowerPoint Presentation</vt:lpstr>
      <vt:lpstr>Discussion</vt:lpstr>
      <vt:lpstr>IMPORTANCE OF CRISIS MANAGEMENT</vt:lpstr>
      <vt:lpstr>IMPORTANCE OF CRISIS MANAGEMENT</vt:lpstr>
      <vt:lpstr>IMPORTANCE OF CRISIS MANAGEMENT</vt:lpstr>
      <vt:lpstr>IMPORTANCE OF CRISIS MANAGEMENT</vt:lpstr>
      <vt:lpstr>IMPORTANCE OF CRISIS MANAGEMENT</vt:lpstr>
      <vt:lpstr>IMPORTANCE OF CRISIS MANAGEMENT</vt:lpstr>
      <vt:lpstr>IMPORTANCE OF CRISIS MANAGEMENT</vt:lpstr>
      <vt:lpstr>IMPORTANCE OF CRISIS MANAGEMENT</vt:lpstr>
      <vt:lpstr>IMPORTANCE OF CRISIS MANAGEMENT</vt:lpstr>
      <vt:lpstr>IMPORTANCE OF CRISIS MANAGEMENT</vt:lpstr>
      <vt:lpstr>IMPORTANCE OF CRISIS MANAGEMENT</vt:lpstr>
      <vt:lpstr>IMPORTANCE OF CRISIS MANAGEMENT</vt:lpstr>
      <vt:lpstr>CRISIS LEADERSHIP:  AN OVERLOOKED RESOURCE</vt:lpstr>
      <vt:lpstr>CRISIS LEADERSHIP:  AN OVERLOOKED RESOURCE</vt:lpstr>
      <vt:lpstr>Conclusion</vt:lpstr>
      <vt:lpstr>Conclusion</vt:lpstr>
      <vt:lpstr>Discussion</vt:lpstr>
      <vt:lpstr>Individual Assessment (At home)</vt:lpstr>
      <vt:lpstr>Individual Assessment (At home)</vt:lpstr>
      <vt:lpstr>Next chapter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Crisis management</dc:title>
  <dc:creator>NQT Phương</dc:creator>
  <cp:lastModifiedBy>Admin</cp:lastModifiedBy>
  <cp:revision>254</cp:revision>
  <dcterms:created xsi:type="dcterms:W3CDTF">2020-01-08T17:08:19Z</dcterms:created>
  <dcterms:modified xsi:type="dcterms:W3CDTF">2024-11-14T11:55:06Z</dcterms:modified>
</cp:coreProperties>
</file>